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9cea0627fe4c73" /><Relationship Type="http://schemas.openxmlformats.org/officeDocument/2006/relationships/extended-properties" Target="/docProps/app.xml" Id="R795b2446f8a94a8f" /><Relationship Type="http://schemas.openxmlformats.org/officeDocument/2006/relationships/officeDocument" Target="/ppt/presentation.xml" Id="Rd35f6486186348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2247a6f794e7b"/>
  </p:sldMasterIdLst>
  <p:notesMasterIdLst>
    <p:notesMasterId xmlns:r="http://schemas.openxmlformats.org/officeDocument/2006/relationships" r:id="R0b99e202acad4941"/>
  </p:notesMasterIdLst>
  <p:sldIdLst>
    <p:sldId xmlns:r="http://schemas.openxmlformats.org/officeDocument/2006/relationships" id="256" r:id="R22f3107de0c24aa9"/>
    <p:sldId xmlns:r="http://schemas.openxmlformats.org/officeDocument/2006/relationships" id="257" r:id="R4d64522481124f5e"/>
    <p:sldId xmlns:r="http://schemas.openxmlformats.org/officeDocument/2006/relationships" id="258" r:id="R2af685c38b804091"/>
    <p:sldId xmlns:r="http://schemas.openxmlformats.org/officeDocument/2006/relationships" id="259" r:id="Ra68b6b6645fe4b80"/>
    <p:sldId xmlns:r="http://schemas.openxmlformats.org/officeDocument/2006/relationships" id="260" r:id="Re2df13daa1c746ea"/>
    <p:sldId xmlns:r="http://schemas.openxmlformats.org/officeDocument/2006/relationships" id="261" r:id="Ref12579322c14ffe"/>
    <p:sldId xmlns:r="http://schemas.openxmlformats.org/officeDocument/2006/relationships" id="262" r:id="Rb0d1d363f572435f"/>
    <p:sldId xmlns:r="http://schemas.openxmlformats.org/officeDocument/2006/relationships" id="263" r:id="R35ea03e6d9514c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2dc8f1e77d48d6" /><Relationship Type="http://schemas.openxmlformats.org/officeDocument/2006/relationships/slideMaster" Target="/ppt/slideMasters/slideMaster1.xml" Id="Rad02247a6f794e7b" /><Relationship Type="http://schemas.openxmlformats.org/officeDocument/2006/relationships/notesMaster" Target="/ppt/notesMasters/notesMaster1.xml" Id="R0b99e202acad4941" /><Relationship Type="http://schemas.openxmlformats.org/officeDocument/2006/relationships/presProps" Target="/ppt/presProps.xml" Id="R7f0856d96d8e402f" /><Relationship Type="http://schemas.openxmlformats.org/officeDocument/2006/relationships/tableStyles" Target="/ppt/tableStyles.xml" Id="Rd957693d27d044be" /><Relationship Type="http://schemas.openxmlformats.org/officeDocument/2006/relationships/slide" Target="/ppt/slides/slide1.xml" Id="R22f3107de0c24aa9" /><Relationship Type="http://schemas.openxmlformats.org/officeDocument/2006/relationships/slide" Target="/ppt/slides/slide2.xml" Id="R4d64522481124f5e" /><Relationship Type="http://schemas.openxmlformats.org/officeDocument/2006/relationships/slide" Target="/ppt/slides/slide3.xml" Id="R2af685c38b804091" /><Relationship Type="http://schemas.openxmlformats.org/officeDocument/2006/relationships/slide" Target="/ppt/slides/slide4.xml" Id="Ra68b6b6645fe4b80" /><Relationship Type="http://schemas.openxmlformats.org/officeDocument/2006/relationships/slide" Target="/ppt/slides/slide5.xml" Id="Re2df13daa1c746ea" /><Relationship Type="http://schemas.openxmlformats.org/officeDocument/2006/relationships/slide" Target="/ppt/slides/slide6.xml" Id="Ref12579322c14ffe" /><Relationship Type="http://schemas.openxmlformats.org/officeDocument/2006/relationships/slide" Target="/ppt/slides/slide7.xml" Id="Rb0d1d363f572435f" /><Relationship Type="http://schemas.openxmlformats.org/officeDocument/2006/relationships/slide" Target="/ppt/slides/slide8.xml" Id="R35ea03e6d951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30eb8f3df043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0f431030e4d4b" /><Relationship Type="http://schemas.openxmlformats.org/officeDocument/2006/relationships/notesMaster" Target="/ppt/notesMasters/notesMaster1.xml" Id="Radbf6256a21b44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15a993910484e" /><Relationship Type="http://schemas.openxmlformats.org/officeDocument/2006/relationships/notesMaster" Target="/ppt/notesMasters/notesMaster1.xml" Id="R55a8ec4bb93542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ec65db53c040ef" /><Relationship Type="http://schemas.openxmlformats.org/officeDocument/2006/relationships/notesMaster" Target="/ppt/notesMasters/notesMaster1.xml" Id="Raa37efdee61349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14e1efa09c446c" /><Relationship Type="http://schemas.openxmlformats.org/officeDocument/2006/relationships/notesMaster" Target="/ppt/notesMasters/notesMaster1.xml" Id="R6d9599e48a7948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a1c6aa075d4ef5" /><Relationship Type="http://schemas.openxmlformats.org/officeDocument/2006/relationships/notesMaster" Target="/ppt/notesMasters/notesMaster1.xml" Id="R9e2033e98836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aa64fa61c4daa" /><Relationship Type="http://schemas.openxmlformats.org/officeDocument/2006/relationships/notesMaster" Target="/ppt/notesMasters/notesMaster1.xml" Id="R79c84a37f43442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113ecd3904168" /><Relationship Type="http://schemas.openxmlformats.org/officeDocument/2006/relationships/notesMaster" Target="/ppt/notesMasters/notesMaster1.xml" Id="R220030039aa9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76ac867d1a4727" /><Relationship Type="http://schemas.openxmlformats.org/officeDocument/2006/relationships/notesMaster" Target="/ppt/notesMasters/notesMaster1.xml" Id="Ra0594ad597354e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本页为报告封面。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门槛来自 iq_dc_conjunction_plan_v1。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来源：实验计划和每次运行 manifest。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图表使用 summary_10db.csv 的 9-run mean；柱形图为可编辑 PowerPoint 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G_IQ、G_DC 与 interaction contrast 均来自 9-run summary_10db.csv。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门槛审计补充了原报告中未单独列出的 IQ sign-flip 3/9 失败情况。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失败次数来自 raw_10db.csv 中的 gate 列统计。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final_report.md and summary_10db.csv. 该结论严格限定在 SNR=10 dB 的 9-run validation 结果；未外推到多 SNR。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4867d7c2a47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5719e910f14947" /><Relationship Type="http://schemas.openxmlformats.org/officeDocument/2006/relationships/slideLayout" Target="/ppt/slideLayouts/slideLayout1.xml" Id="Rd95be5bd55c54d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be5bd55c54d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6863814ef44fb" /><Relationship Type="http://schemas.openxmlformats.org/officeDocument/2006/relationships/notesSlide" Target="/ppt/notesSlides/notesSlide1.xml" Id="R9b33715c4021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6a46977ee45e8" /><Relationship Type="http://schemas.openxmlformats.org/officeDocument/2006/relationships/notesSlide" Target="/ppt/notesSlides/notesSlide2.xml" Id="Ra9f179580df64e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b499cf0484c09" /><Relationship Type="http://schemas.openxmlformats.org/officeDocument/2006/relationships/notesSlide" Target="/ppt/notesSlides/notesSlide3.xml" Id="Rc033898a777e46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86c024d6e4f4f" /><Relationship Type="http://schemas.openxmlformats.org/officeDocument/2006/relationships/chart" Target="/ppt/slides/charts/chart1.xml" Id="Rac3eb75046ed474f" /><Relationship Type="http://schemas.openxmlformats.org/officeDocument/2006/relationships/notesSlide" Target="/ppt/notesSlides/notesSlide4.xml" Id="R32c2282509644e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a524b813d49df" /><Relationship Type="http://schemas.openxmlformats.org/officeDocument/2006/relationships/chart" Target="/ppt/slides/charts/chart2.xml" Id="R135c2a7fc3434cfb" /><Relationship Type="http://schemas.openxmlformats.org/officeDocument/2006/relationships/notesSlide" Target="/ppt/notesSlides/notesSlide5.xml" Id="R4a6de45c3f92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334722d60448b" /><Relationship Type="http://schemas.openxmlformats.org/officeDocument/2006/relationships/notesSlide" Target="/ppt/notesSlides/notesSlide6.xml" Id="R8e605da7f04540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ff9606194432e" /><Relationship Type="http://schemas.openxmlformats.org/officeDocument/2006/relationships/notesSlide" Target="/ppt/notesSlides/notesSlide7.xml" Id="Rf3623eb20c3342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f9867ace9433c" /><Relationship Type="http://schemas.openxmlformats.org/officeDocument/2006/relationships/notesSlide" Target="/ppt/notesSlides/notesSlide8.xml" Id="R117fe27328e949b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PSNR drop (dB)</c:v>
          </c:tx>
          <c:spPr>
            <a:solidFill xmlns:a="http://schemas.openxmlformats.org/drawingml/2006/main">
              <a:srgbClr val="2F6FB0"/>
            </a:solidFill>
          </c:spPr>
          <c:cat>
            <c:strLit>
              <c:ptCount val="7"/>
              <c:pt idx="0">
                <c:v>Full
IQ+DC</c:v>
              </c:pt>
              <c:pt idx="1">
                <c:v>IQ-only</c:v>
              </c:pt>
              <c:pt idx="2">
                <c:v>DC-only</c:v>
              </c:pt>
              <c:pt idx="3">
                <c:v>IQ flip</c:v>
              </c:pt>
              <c:pt idx="4">
                <c:v>DC flip</c:v>
              </c:pt>
              <c:pt idx="5">
                <c:v>Random</c:v>
              </c:pt>
              <c:pt idx="6">
                <c:v>Clean full</c:v>
              </c:pt>
            </c:strLit>
          </c:cat>
          <c:val>
            <c:numLit>
              <c:formatCode>0.0</c:formatCode>
              <c:ptCount val="7"/>
              <c:pt idx="0">
                <c:v>4.915507210625543</c:v>
              </c:pt>
              <c:pt idx="1">
                <c:v>0.13636139697498745</c:v>
              </c:pt>
              <c:pt idx="2">
                <c:v>2.350319253073798</c:v>
              </c:pt>
              <c:pt idx="3">
                <c:v>0.9509432315826416</c:v>
              </c:pt>
              <c:pt idx="4">
                <c:v>0.4330383307403988</c:v>
              </c:pt>
              <c:pt idx="5">
                <c:v>0.1915889779726664</c:v>
              </c:pt>
              <c:pt idx="6">
                <c:v>0.5957946711116366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4273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26273"/>
                    </a:solidFill>
                    <a:latin typeface="Arial"/>
                    <a:ea typeface="Arial"/>
                    <a:cs typeface="Arial"/>
                  </a:rPr>
                  <a:t>PSNR drop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2627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contrast (dB)</c:v>
          </c:tx>
          <c:spPr>
            <a:solidFill xmlns:a="http://schemas.openxmlformats.org/drawingml/2006/main">
              <a:srgbClr val="159AA8"/>
            </a:solidFill>
          </c:spPr>
          <c:cat>
            <c:strLit>
              <c:ptCount val="3"/>
              <c:pt idx="0">
                <c:v>G_IQ
full−DC</c:v>
              </c:pt>
              <c:pt idx="1">
                <c:v>G_DC
full−IQ</c:v>
              </c:pt>
              <c:pt idx="2">
                <c:v>Interaction</c:v>
              </c:pt>
            </c:strLit>
          </c:cat>
          <c:val>
            <c:numLit>
              <c:formatCode>General</c:formatCode>
              <c:ptCount val="3"/>
              <c:pt idx="0">
                <c:v>2.5651879575517444</c:v>
              </c:pt>
              <c:pt idx="1">
                <c:v>4.779145813650555</c:v>
              </c:pt>
              <c:pt idx="2">
                <c:v>2.428826560576757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73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E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26273"/>
                    </a:solidFill>
                    <a:latin typeface="Arial"/>
                    <a:ea typeface="Arial"/>
                    <a:cs typeface="Arial"/>
                  </a:rPr>
                  <a:t>Contrast (dB)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2627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87F8C-4DB3-4854-906D-DD06793B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C553B-7554-40C2-BB19-6A64D42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26054-EE3D-4764-9029-77B50AFF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819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DeepJSCC IQ+DC</a:t>
            </a:r>
          </a:p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组合特异性后门实验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0DD49-C168-4F64-9093-83508ECE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9DDE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9DDE2"/>
                </a:solidFill>
                <a:latin typeface="Arial"/>
                <a:ea typeface="Arial"/>
                <a:cs typeface="Arial"/>
              </a:rPr>
              <a:t>9-run confirmation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02F2D-9AEC-44E6-BA11-C0E51BFF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5E3E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E3EC"/>
                </a:solidFill>
                <a:latin typeface="Arial"/>
                <a:ea typeface="Arial"/>
                <a:cs typeface="Arial"/>
              </a:rPr>
              <a:t>target-free · c=16 · SNR=10 dB · variant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F39DD-791E-4A85-BAAB-49662187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17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A70D9-65C7-4DF2-AA74-403D8B5B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结论：部分支持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DC 分支仍然主导攻击，尚未证明 IQ+DC 的组合特异性。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521E2-FFA1-43F6-B90F-14268501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B9DDE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DDE2"/>
                </a:solidFill>
                <a:latin typeface="Arial"/>
                <a:ea typeface="Arial"/>
                <a:cs typeface="Arial"/>
              </a:rPr>
              <a:t>2026-09-06</a:t>
            </a:r>
          </a:p>
        </p:txBody>
      </p:sp>
    </p:spTree>
    <p:extLst>
      <p:ext uri="{BB962C8B-B14F-4D97-AF65-F5344CB8AC3E}">
        <p14:creationId xmlns:p14="http://schemas.microsoft.com/office/powerpoint/2010/main" val="471411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D4163-001F-4A09-A6EC-40D996B1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CED0A-6E5F-416E-8D36-E9ECFC7D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05B2C-6374-4D44-A678-09C7757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实验目标与验收门槛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719EA-8E8A-424D-9FEE-2A0804C5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75C4-899E-4517-8D34-20BED2F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攻击需要同时满足“组合触发强、单分量受控、物理约束成立”。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0F48F-6B8D-40DF-8436-9964877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B3B"/>
          </a:solidFill>
          <a:ln xmlns:a="http://schemas.openxmlformats.org/drawingml/2006/main" w="0">
            <a:solidFill>
              <a:srgbClr val="C83B3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87727-4FDD-4217-A71D-CF62EF5A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完整 IQ+DC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27097-C269-495D-8CAA-1D89755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28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PSNR drop ≥ 6 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CF533-F6CD-4979-A29D-B0F8B395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F2F85-DCCC-4EA5-BBD0-B025B83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72F"/>
          </a:solidFill>
          <a:ln xmlns:a="http://schemas.openxmlformats.org/drawingml/2006/main" w="0">
            <a:solidFill>
              <a:srgbClr val="D4772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12834-463F-498C-B7B5-4024831E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IQ-only / DC-only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44C20-F6D8-4FB7-B2DF-8E24E6E5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57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各自 1–3 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45991-A5B6-4DE7-867B-5536D7A9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1DEC5-6C7D-440B-87F0-7DB7906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BC007-038D-4267-AE3F-134F05B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符号翻转 / random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6CDCE-8B92-4B77-B7A9-92EA427F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≤ 1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A7570-6EB3-488C-99A9-3EB73630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5BA6E-857E-461E-838F-EA4884F8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0"/>
          </a:solidFill>
          <a:ln xmlns:a="http://schemas.openxmlformats.org/drawingml/2006/main" w="0">
            <a:solidFill>
              <a:srgbClr val="2F6FB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7AC70-2ACE-4FE8-B308-8B9291A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干净模型 / utility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20E69-17E5-48F2-A787-611BD6A5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147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≤ 0.8 / 0.5 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8BCBC-333E-490C-8D60-C28DEE96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BA785-3D99-494E-ADF5-9E6E3A06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61B7"/>
          </a:solidFill>
          <a:ln xmlns:a="http://schemas.openxmlformats.org/drawingml/2006/main" w="0">
            <a:solidFill>
              <a:srgbClr val="8661B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5BDEC-B9FE-4F66-BDEE-D849802F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物理约束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2112F-D9E0-46C1-AC45-2D242D30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434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EVM ≤ 0.10，|ΔP| ≤ 0.5 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CA2A4-4BC4-424D-89A4-F3CD072D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6F9A6-C1C1-46B9-BB41-F008AF7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57400"/>
            <a:ext cx="2333625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90831-E916-42EA-9A52-9AEB3B63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组合效应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31A49-8B22-43B9-8F1B-C399985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26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G_IQ ≥ 3 dB</a:t>
            </a:r>
          </a:p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G_DC ≥ 3 dB</a:t>
            </a:r>
          </a:p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Interaction ≥ 1 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373C37-F2AE-4AEF-87CA-E50D59B1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909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删除任一分量后，攻击应明显变弱。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A1B83-1694-4709-A0C3-C85F6BB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0DD0B4-34BC-419B-8FEC-A50C152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5351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DFFFB-54CE-4701-A6CF-75A45574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7068A-A705-483C-B130-35072DB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8D5ED-D657-4B3C-94C6-C0A40E34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实验协议与评估条件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4EA71-542D-4AC0-AF07-28372D9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CFF0F-91F4-4CF3-8482-D916FA69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固定触发器与编码器，只训练 decoder；验证集承担 checkpoint 选择。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FECC7-EC79-4E5C-9E77-25D9B5FF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训练矩阵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88D12-5412-4453-B783-13AA4D91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training seed 0/1/2 × poison seed 0/1/2 = 9 runs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2BA1A-904C-4589-B1C1-87CBE7A2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02FD3-8D25-4643-AA1C-773456AB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训练预算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80133-14D1-487E-853C-0AC9C147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432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80,000 steps；每 10,000 steps 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2CD00-397B-490F-8D6A-837B48E7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86087-0E74-4172-9584-2A0D8B2E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场景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C2EF2-FBDF-47DE-BE9B-9DE46C9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86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target-free reconstruction failure；不读取标签，不使用 failure 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12F59-ACFD-4AE4-B659-604E6422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4F664-1CDF-4C2A-9D32-F293C9FF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信道控制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5CAE9-1A69-47CD-B654-E5A1404E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291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每个条件共享同一组 channel noise，便于公平比较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C9EE4-D32C-4303-9FBC-C8B7259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76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CBD3D-B6C4-47B7-A3F4-3D052C7C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43100"/>
            <a:ext cx="2476500" cy="2857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039B2-2DF1-4A79-A347-518879D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7 个评估条件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C7ABB-8191-4F7D-AD6E-5C1CA995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zero</a:t>
            </a:r>
          </a:p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full IQ+DC</a:t>
            </a:r>
          </a:p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IQ-only</a:t>
            </a:r>
          </a:p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DC-only</a:t>
            </a:r>
          </a:p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IQ sign flip</a:t>
            </a:r>
          </a:p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DC sign flip</a:t>
            </a:r>
          </a:p>
          <a:p xmlns:a="http://schemas.openxmlformats.org/drawingml/2006/main"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equal-EVM random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5FA04-642B-4C82-BED2-CAAC2AEE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26273"/>
                </a:solidFill>
                <a:latin typeface="Arial"/>
                <a:ea typeface="Arial"/>
                <a:cs typeface="Arial"/>
              </a:rPr>
              <a:t>主结论只看 SNR=10 dB；多 SNR 需要先选出合法 checkpoint。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8A19F-8F88-4344-8C13-C07228C5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B387E3-59CA-48A3-B0E8-4F7B71FB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5013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AD8F9-3940-4938-9C32-D20FD091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EA017-C00F-4060-9FA7-AEE68A45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1E920-40A6-483B-835D-9EFB872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10 dB 下的 PSNR drop：DC 分支主导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3C586-0F82-45C4-A642-1E350F65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810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3eb75046ed47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EE8C8-8738-4323-B5C3-99299E7D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F2"/>
          </a:solidFill>
          <a:ln xmlns:a="http://schemas.openxmlformats.org/drawingml/2006/main" w="0">
            <a:solidFill>
              <a:srgbClr val="FFF4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78FBF-463C-44B9-8717-4B028CA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Full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B2393-B6BE-48A3-8BD0-F7F38DA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22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≥ 6 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0C093-43C4-40B5-B22A-A5581FD5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0">
            <a:solidFill>
              <a:srgbClr val="F0F8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78B10-5B01-40C9-923D-0D25BB1B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F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F8F5B"/>
                </a:solidFill>
                <a:latin typeface="Arial"/>
                <a:ea typeface="Arial"/>
                <a:cs typeface="Arial"/>
              </a:rPr>
              <a:t>关键观察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CDEC4-1141-4059-AA2E-C7D4FF4B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337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DC-only 2.35 dB</a:t>
            </a:r>
          </a:p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IQ-only 0.14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AA219-19C4-4D87-9D50-DF05C30E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完整触发平均 4.92 dB，仍低于 6 dB。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B69BB-C89E-4407-AEB9-116385A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FD40-21FA-4684-B2FB-866C172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4860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19C61-3FE7-4A57-8735-6C6A22A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9770B-7CE1-442E-9BBC-015D45AD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CBE33-69E8-4D29-9617-938A60A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组合效应：interaction 通过，但 IQ removal gap 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28D63-7A31-4762-A6B4-FE4C7C35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6667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5c2a7fc3434cf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F209C-2647-42D1-B976-E61CA7B4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14500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4F2"/>
          </a:solidFill>
          <a:ln xmlns:a="http://schemas.openxmlformats.org/drawingml/2006/main" w="0">
            <a:solidFill>
              <a:srgbClr val="FFF4F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06928-10CE-4357-8995-6AE1D809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43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未通过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10CC9-F20A-4F40-9089-6268B24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479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G_IQ 2.57 dB &lt; 3 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74A2D-D9F4-464D-B0E2-640DACF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F8F3"/>
          </a:solidFill>
          <a:ln xmlns:a="http://schemas.openxmlformats.org/drawingml/2006/main" w="0">
            <a:solidFill>
              <a:srgbClr val="F0F8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FA949-C912-402D-B19D-022E8427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289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F8F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F8F5B"/>
                </a:solidFill>
                <a:latin typeface="Arial"/>
                <a:ea typeface="Arial"/>
                <a:cs typeface="Arial"/>
              </a:rPr>
              <a:t>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59520-27F9-4763-8850-E24477A8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G_DC 4.78 dB</a:t>
            </a:r>
          </a:p>
          <a:p xmlns:a="http://schemas.openxmlformats.org/drawingml/2006/main"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Interaction 2.43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488E9-481F-4A48-A705-9D1E1BA7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96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组合确实有额外效果，但额外效果主要来自 DC 相关方向。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4DFBF-8AFD-4D64-A773-72F0D717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26B44-07DC-4939-B732-72D4482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383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8D30D-281C-441D-82ED-B60208C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1BA8F-6989-4C79-9495-4E31D16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87941-71FC-4A25-AF00-A413D3BC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门槛审计：0/9 个 checkpoint 全部通过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82BA4-3987-45FE-B58D-C55ACAA4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90550" y="1504950"/>
          <a:ext xmlns:a="http://schemas.openxmlformats.org/drawingml/2006/main" cx="11001375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476625"/>
                <a:gridCol w="2333625"/>
                <a:gridCol w="2333625"/>
              </a:tblGrid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9-run 结果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目标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结论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Full attack drop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4.92 ± 0.45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≥ 6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83B3B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FFF4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IQ-only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0.14 ± 0.03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1–3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83B3B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FFF4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DC-only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2.35 ± 0.33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1–3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0F8F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IQ sign flip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0.95 dB mean; 3/9 fail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 1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83B3B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 marL="91440" marR="91440" marT="45720" marB="45720">
                    <a:solidFill>
                      <a:srgbClr val="FFF4F2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Clean model any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0.60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 0.8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0F8F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Utility drop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-0.11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 0.5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0F8F3"/>
                    </a:solidFill>
                  </a:tcPr>
                </a:tc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EVM / power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0.0927 / 0.0018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≤0.10 / ≤0.5 dB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0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D8990-85D2-421C-A3AC-47E4F971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补充：clean utility 为 −0.112 dB，负值表示中毒模型在干净输入上的 PSNR 没有下降。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34A30-90FC-4ECC-871D-FBDAA5FC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CD56D-55D9-47EC-AC12-28A91FCE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9341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14E39-11B4-45F0-B474-09FF99C4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4E75E-43A8-4F7E-A39A-4681CAB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37174-86AD-473B-886A-126EDDF4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跨 9 次运行的稳定性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DE2D9-D26F-4020-AA07-F31CD969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9AF42-14F5-47B3-A980-7ED361E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物理约束与 clean utility 稳定通过；攻击强度和 IQ 响应不足是系统性问题。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10875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714500"/>
                <a:gridCol w="1619250"/>
                <a:gridCol w="2857500"/>
                <a:gridCol w="2047875"/>
              </a:tblGrid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统计项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均值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最小–最大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失败次数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Full drop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4.92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4.08–5.43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9/9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IQ-only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0.09–0.18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9/9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DC-only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1.83–2.85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2.16–2.54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EVM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0.0926–0.0927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 marL="91440" marR="91440" marT="45720" marB="45720"/>
                </a:tc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Clean model any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0.59–0.60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0795F-AB10-4FDD-BA8C-B2A56E31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382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00715-C4A4-4CCC-986B-1BA25C36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76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0/9 feasible checkpoint  →  按协议不能进入 test set / multi-SNR 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40B40-05C1-4715-98A5-9F5FA6B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5A792-E65E-40B4-9CAE-8530BF6C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841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E6DF7-4AF6-4321-951E-3F266A29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A8"/>
          </a:solidFill>
          <a:ln xmlns:a="http://schemas.openxmlformats.org/drawingml/2006/main" w="0">
            <a:solidFill>
              <a:srgbClr val="159AA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8DFF3-3714-4B57-BD99-469F7D62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11484-306D-4E40-A821-65A37BB7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结论与下一步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54DCF-1AED-4037-ADCB-3702F0A8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A275B-C088-4E7A-86CA-E969989D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当前结果支持“DC 可触发”，不支持“IQ+DC 组合特异性”。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35593-1506-4C37-A9D0-52E36F0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02900-58D8-40E0-8D1D-ABC34DB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6479E-E0E4-41E7-A4E8-C5EDB7A5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8F5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8F5B"/>
                </a:solidFill>
                <a:latin typeface="Arial"/>
                <a:ea typeface="Arial"/>
                <a:cs typeface="Arial"/>
              </a:rPr>
              <a:t>已经成立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E2B05-4BFF-4370-8418-084EAA5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clean model、utility、EVM、功率、DC-only、G_DC 和 interaction 均达到门槛。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4A99A-D2A5-4971-8B12-5B3C2846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B3B"/>
          </a:solidFill>
          <a:ln xmlns:a="http://schemas.openxmlformats.org/drawingml/2006/main" w="0">
            <a:solidFill>
              <a:srgbClr val="C83B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77341-A682-4338-B78B-09436E7C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尚未成立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5E63F-DC4D-4CB5-B6FD-1DE3F529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99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full drop 不足；IQ-only 太弱；IQ removal gap 不足；IQ sign flip 有 3/9 组超标。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CD36A-B4F3-40B4-8C4C-C2AFFF8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14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72F"/>
          </a:solidFill>
          <a:ln xmlns:a="http://schemas.openxmlformats.org/drawingml/2006/main" w="0">
            <a:solidFill>
              <a:srgbClr val="D477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5EE5C-AEB3-4017-A9F1-6BBBB3D3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4772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4772F"/>
                </a:solidFill>
                <a:latin typeface="Arial"/>
                <a:ea typeface="Arial"/>
                <a:cs typeface="Arial"/>
              </a:rPr>
              <a:t>实验含义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E126F-63F0-4EC1-ACA9-EC16A48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训练目标把主要攻击能力集中到了 DC 方向，IQ 没有形成独立且可组合的响应。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9EA71-6921-4876-B6D1-2074BE59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9829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2DD57-C771-421F-94B8-3758218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42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下一轮优先验证：提高 IQ 分支的可观测贡献，同时保持 DC-only 在 1–3 dB 区间。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A51C9-7044-4701-B0B8-E633E74C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198CD-605C-4249-8DDE-E62DDA48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151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8876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2026-09-06T14:03:40.2650000Z</dcterms:created>
  <dcterms:modified xsi:type="dcterms:W3CDTF">2026-09-06T14:03:40.2650000Z</dcterms:modified>
</coreProperties>
</file>