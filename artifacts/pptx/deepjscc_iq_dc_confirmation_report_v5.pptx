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charts/chart2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Mean PSNR drop (dB)</c:v>
          </c:tx>
          <c:spPr>
            <a:solidFill>
              <a:srgbClr val="2F6FB0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75" b="1">
                    <a:solidFill>
                      <a:srgbClr val="142735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7"/>
              <c:pt idx="0">
                <c:v>Full
IQ+DC</c:v>
              </c:pt>
              <c:pt idx="1">
                <c:v>IQ-only</c:v>
              </c:pt>
              <c:pt idx="2">
                <c:v>DC-only</c:v>
              </c:pt>
              <c:pt idx="3">
                <c:v>IQ flip</c:v>
              </c:pt>
              <c:pt idx="4">
                <c:v>DC flip</c:v>
              </c:pt>
              <c:pt idx="5">
                <c:v>Random</c:v>
              </c:pt>
              <c:pt idx="6">
                <c:v>Clean full</c:v>
              </c:pt>
            </c:strLit>
          </c:cat>
          <c:val>
            <c:numLit>
              <c:formatCode>0.00</c:formatCode>
              <c:ptCount val="7"/>
              <c:pt idx="0">
                <c:v>4.9155072106255426</c:v>
              </c:pt>
              <c:pt idx="1">
                <c:v>0.13636139697498745</c:v>
              </c:pt>
              <c:pt idx="2">
                <c:v>2.3503192530737982</c:v>
              </c:pt>
              <c:pt idx="3">
                <c:v>0.9509432315826416</c:v>
              </c:pt>
              <c:pt idx="4">
                <c:v>0.43303833074039882</c:v>
              </c:pt>
              <c:pt idx="5">
                <c:v>0.19158897797266641</c:v>
              </c:pt>
              <c:pt idx="6">
                <c:v>0.59579467111163664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C06-4395-9E82-37E0692E20F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A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7"/>
          <c:min val="0"/>
        </c:scaling>
        <c:delete val="0"/>
        <c:axPos val="l"/>
        <c:majorGridlines>
          <c:spPr>
            <a:ln w="9525">
              <a:solidFill>
                <a:srgbClr val="E8EE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050">
                    <a:solidFill>
                      <a:srgbClr val="526273"/>
                    </a:solidFill>
                    <a:latin typeface="Arial"/>
                    <a:ea typeface="Arial"/>
                    <a:cs typeface="Arial"/>
                  </a:rPr>
                  <a:t>PSNR drop (dB)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Mean contrast (dB)</c:v>
          </c:tx>
          <c:spPr>
            <a:solidFill>
              <a:srgbClr val="159AA8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050" b="1">
                    <a:solidFill>
                      <a:srgbClr val="142735"/>
                    </a:solidFill>
                    <a:latin typeface="Arial"/>
                    <a:ea typeface="Arial"/>
                    <a:cs typeface="Arial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G_IQ
full−DC</c:v>
              </c:pt>
              <c:pt idx="1">
                <c:v>G_DC
full−IQ</c:v>
              </c:pt>
              <c:pt idx="2">
                <c:v>Interaction</c:v>
              </c:pt>
            </c:strLit>
          </c:cat>
          <c:val>
            <c:numLit>
              <c:formatCode>0.00</c:formatCode>
              <c:ptCount val="3"/>
              <c:pt idx="0">
                <c:v>2.5651879575517444</c:v>
              </c:pt>
              <c:pt idx="1">
                <c:v>4.7791458136505547</c:v>
              </c:pt>
              <c:pt idx="2">
                <c:v>2.4288265605767569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473-4CC2-B532-F7EFE96AFB61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E2EA"/>
            </a:solidFill>
            <a:prstDash val="solid"/>
          </a:ln>
        </c:spPr>
        <c:txPr>
          <a:bodyPr anchorCtr="1"/>
          <a:lstStyle/>
          <a:p>
            <a:pPr>
              <a:defRPr sz="105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6"/>
          <c:min val="0"/>
        </c:scaling>
        <c:delete val="0"/>
        <c:axPos val="l"/>
        <c:majorGridlines>
          <c:spPr>
            <a:ln w="9525">
              <a:solidFill>
                <a:srgbClr val="E8EEF3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050">
                    <a:solidFill>
                      <a:srgbClr val="526273"/>
                    </a:solidFill>
                    <a:latin typeface="Arial"/>
                    <a:ea typeface="Arial"/>
                    <a:cs typeface="Arial"/>
                  </a:rPr>
                  <a:t>Contrast (dB)</a:t>
                </a:r>
              </a:p>
            </c:rich>
          </c:tx>
          <c:overlay val="0"/>
        </c:title>
        <c:numFmt formatCode="0.0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975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plotVisOnly val="1"/>
    <c:dispBlanksAs val="zero"/>
    <c:showDLblsOverMax val="1"/>
  </c:chart>
  <c:spPr>
    <a:solidFill>
      <a:srgbClr val="FFFFFF"/>
    </a:solidFill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local final_report.md and summary_10db.csv. 本页为报告封面。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local final_report.md and summary_10db.csv. 门槛来自 iq_dc_conjunction_plan_v1。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local final_report.md and summary_10db.csv. 来源：实验计划和每次运行 manifest。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local final_report.md and summary_10db.csv. 图表使用 summary_10db.csv 的 9-run mean；柱形图为可编辑 PowerPoint 图表。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local final_report.md and summary_10db.csv. G_IQ、G_DC 与 interaction contrast 均来自 9-run summary_10db.csv。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local final_report.md and summary_10db.csv. 门槛审计补充了原报告中未单独列出的 IQ sign-flip 3/9 失败情况。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local final_report.md and summary_10db.csv. 失败次数来自 raw_10db.csv 中的 gate 列统计。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Source: local final_report.md and summary_10db.csv. 该结论严格限定在 SNR=10 dB 的 9-run validation 结果；未外推到多 SNR。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90198A90-84A8-4931-8E72-D2A719C60F1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52400"/>
          </a:xfrm>
          <a:prstGeom prst="rect">
            <a:avLst/>
          </a:prstGeom>
          <a:solidFill>
            <a:srgbClr val="159AA8"/>
          </a:solidFill>
          <a:ln w="0">
            <a:solidFill>
              <a:srgbClr val="159AA8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E73A550A-90E3-4BF2-BFEA-D5C847D697CE}"/>
              </a:ext>
            </a:extLst>
          </p:cNvPr>
          <p:cNvSpPr>
            <a:spLocks noGrp="1"/>
          </p:cNvSpPr>
          <p:nvPr/>
        </p:nvSpPr>
        <p:spPr>
          <a:xfrm>
            <a:off x="685800" y="1047750"/>
            <a:ext cx="95250" cy="3429000"/>
          </a:xfrm>
          <a:prstGeom prst="rect">
            <a:avLst/>
          </a:prstGeom>
          <a:solidFill>
            <a:srgbClr val="159AA8"/>
          </a:solidFill>
          <a:ln w="0">
            <a:solidFill>
              <a:srgbClr val="159AA8"/>
            </a:solidFill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943428B1-F3B5-44A0-ADB1-7B5EA267F9DF}"/>
              </a:ext>
            </a:extLst>
          </p:cNvPr>
          <p:cNvSpPr>
            <a:spLocks noGrp="1"/>
          </p:cNvSpPr>
          <p:nvPr/>
        </p:nvSpPr>
        <p:spPr>
          <a:xfrm>
            <a:off x="1066800" y="1066800"/>
            <a:ext cx="8191500" cy="1428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 dirty="0" err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DeepJSCC</a:t>
            </a: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IQ+DC</a:t>
            </a:r>
          </a:p>
          <a:p>
            <a:pPr algn="l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组合特异性后门实验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A2AFADF-86B4-4995-89F0-F93C4C3211C5}"/>
              </a:ext>
            </a:extLst>
          </p:cNvPr>
          <p:cNvSpPr>
            <a:spLocks noGrp="1"/>
          </p:cNvSpPr>
          <p:nvPr/>
        </p:nvSpPr>
        <p:spPr>
          <a:xfrm>
            <a:off x="1104900" y="2762250"/>
            <a:ext cx="59055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800" b="0" i="0">
                <a:solidFill>
                  <a:srgbClr val="B9DDE2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B9DDE2"/>
                </a:solidFill>
                <a:latin typeface="Arial"/>
                <a:ea typeface="Arial"/>
                <a:cs typeface="Arial"/>
              </a:rPr>
              <a:t>9-run confirmation report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9194680-3043-4746-BD23-88F12FDB4A96}"/>
              </a:ext>
            </a:extLst>
          </p:cNvPr>
          <p:cNvSpPr>
            <a:spLocks noGrp="1"/>
          </p:cNvSpPr>
          <p:nvPr/>
        </p:nvSpPr>
        <p:spPr>
          <a:xfrm>
            <a:off x="1104900" y="3352800"/>
            <a:ext cx="76200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l">
              <a:defRPr sz="1350" b="0" i="0">
                <a:solidFill>
                  <a:srgbClr val="D5E3EC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D5E3EC"/>
                </a:solidFill>
                <a:latin typeface="Arial"/>
                <a:ea typeface="Arial"/>
                <a:cs typeface="Arial"/>
              </a:rPr>
              <a:t>target-free · c=16 · SNR=10 dB · variant C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817EF9ED-7780-46BF-AFBD-EA59C5089A08}"/>
              </a:ext>
            </a:extLst>
          </p:cNvPr>
          <p:cNvSpPr>
            <a:spLocks noGrp="1"/>
          </p:cNvSpPr>
          <p:nvPr/>
        </p:nvSpPr>
        <p:spPr>
          <a:xfrm>
            <a:off x="1104900" y="4019550"/>
            <a:ext cx="7143750" cy="0"/>
          </a:xfrm>
          <a:prstGeom prst="line">
            <a:avLst/>
          </a:prstGeom>
          <a:noFill/>
          <a:ln w="9525">
            <a:solidFill>
              <a:srgbClr val="416179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8C56303-E560-4153-A593-73F0F0D79ADD}"/>
              </a:ext>
            </a:extLst>
          </p:cNvPr>
          <p:cNvSpPr>
            <a:spLocks noGrp="1"/>
          </p:cNvSpPr>
          <p:nvPr/>
        </p:nvSpPr>
        <p:spPr>
          <a:xfrm>
            <a:off x="1104900" y="4305300"/>
            <a:ext cx="8001000" cy="8572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结论：部分支持</a:t>
            </a:r>
          </a:p>
          <a:p>
            <a:pPr algn="l">
              <a:defRPr sz="17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DC 分支仍然主导攻击，尚未证明 IQ+DC 的组合特异性。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270D980-3B13-4484-8445-487260CA4D68}"/>
              </a:ext>
            </a:extLst>
          </p:cNvPr>
          <p:cNvSpPr>
            <a:spLocks noGrp="1"/>
          </p:cNvSpPr>
          <p:nvPr/>
        </p:nvSpPr>
        <p:spPr>
          <a:xfrm>
            <a:off x="9810750" y="601980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000"/>
          </a:bodyPr>
          <a:lstStyle/>
          <a:p>
            <a:pPr algn="r">
              <a:defRPr sz="1125" b="0" i="0">
                <a:solidFill>
                  <a:srgbClr val="B9DDE2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B9DDE2"/>
                </a:solidFill>
                <a:latin typeface="Arial"/>
                <a:ea typeface="Arial"/>
                <a:cs typeface="Arial"/>
              </a:rPr>
              <a:t>2026-09-06</a:t>
            </a:r>
          </a:p>
        </p:txBody>
      </p:sp>
    </p:spTree>
    <p:extLst>
      <p:ext uri="{BB962C8B-B14F-4D97-AF65-F5344CB8AC3E}">
        <p14:creationId xmlns:p14="http://schemas.microsoft.com/office/powerpoint/2010/main" val="16135914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矩形 31">
            <a:extLst>
              <a:ext uri="{FF2B5EF4-FFF2-40B4-BE49-F238E27FC236}">
                <a16:creationId xmlns:a16="http://schemas.microsoft.com/office/drawing/2014/main" id="{E14E0E28-2337-45D2-8951-8329704E94A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9AA8"/>
          </a:solidFill>
          <a:ln w="0">
            <a:solidFill>
              <a:srgbClr val="159AA8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3AC83D-B384-41E7-9C51-A5EB690F463C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347F124-A697-4663-84A8-9B41DDFE5998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实验目标与验收门槛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BDC5EF8F-E308-4790-8975-A2DD92D3D66C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21337F6-F28D-45EF-89CB-F2324A88DF9E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424"/>
          </a:bodyPr>
          <a:lstStyle/>
          <a:p>
            <a:pPr algn="l">
              <a:defRPr sz="165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攻击需要同时满足“组合触发强、单分量受控、物理约束成立”。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7F75F01A-CA49-4AAF-A48C-75DAE89D220A}"/>
              </a:ext>
            </a:extLst>
          </p:cNvPr>
          <p:cNvSpPr>
            <a:spLocks noGrp="1"/>
          </p:cNvSpPr>
          <p:nvPr/>
        </p:nvSpPr>
        <p:spPr>
          <a:xfrm>
            <a:off x="704850" y="2000250"/>
            <a:ext cx="114300" cy="400050"/>
          </a:xfrm>
          <a:prstGeom prst="rect">
            <a:avLst/>
          </a:prstGeom>
          <a:solidFill>
            <a:srgbClr val="C83B3B"/>
          </a:solidFill>
          <a:ln w="0">
            <a:solidFill>
              <a:srgbClr val="C83B3B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FD43945-A4E4-4357-9CFE-46ECC4EEC46A}"/>
              </a:ext>
            </a:extLst>
          </p:cNvPr>
          <p:cNvSpPr>
            <a:spLocks noGrp="1"/>
          </p:cNvSpPr>
          <p:nvPr/>
        </p:nvSpPr>
        <p:spPr>
          <a:xfrm>
            <a:off x="1047750" y="20288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完整 IQ+DC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6863FC1-6EF9-4BCD-BF3B-BF57A13EEBE7}"/>
              </a:ext>
            </a:extLst>
          </p:cNvPr>
          <p:cNvSpPr>
            <a:spLocks noGrp="1"/>
          </p:cNvSpPr>
          <p:nvPr/>
        </p:nvSpPr>
        <p:spPr>
          <a:xfrm>
            <a:off x="4095750" y="202882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PSNR drop ≥ 6 dB</a:t>
            </a:r>
          </a:p>
        </p:txBody>
      </p:sp>
      <p:sp>
        <p:nvSpPr>
          <p:cNvPr id="9" name="直接连接符 8">
            <a:extLst>
              <a:ext uri="{FF2B5EF4-FFF2-40B4-BE49-F238E27FC236}">
                <a16:creationId xmlns:a16="http://schemas.microsoft.com/office/drawing/2014/main" id="{A11721B9-409D-4FF2-8001-C6903EFD0205}"/>
              </a:ext>
            </a:extLst>
          </p:cNvPr>
          <p:cNvSpPr>
            <a:spLocks noGrp="1"/>
          </p:cNvSpPr>
          <p:nvPr/>
        </p:nvSpPr>
        <p:spPr>
          <a:xfrm>
            <a:off x="1047750" y="2476500"/>
            <a:ext cx="85725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E119019-A7DE-4601-9A90-4C110715EA24}"/>
              </a:ext>
            </a:extLst>
          </p:cNvPr>
          <p:cNvSpPr>
            <a:spLocks noGrp="1"/>
          </p:cNvSpPr>
          <p:nvPr/>
        </p:nvSpPr>
        <p:spPr>
          <a:xfrm>
            <a:off x="704850" y="2628900"/>
            <a:ext cx="114300" cy="400050"/>
          </a:xfrm>
          <a:prstGeom prst="rect">
            <a:avLst/>
          </a:prstGeom>
          <a:solidFill>
            <a:srgbClr val="D4772F"/>
          </a:solidFill>
          <a:ln w="0">
            <a:solidFill>
              <a:srgbClr val="D4772F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855F01DF-952F-4527-97A1-B6D5A1482021}"/>
              </a:ext>
            </a:extLst>
          </p:cNvPr>
          <p:cNvSpPr>
            <a:spLocks noGrp="1"/>
          </p:cNvSpPr>
          <p:nvPr/>
        </p:nvSpPr>
        <p:spPr>
          <a:xfrm>
            <a:off x="1047750" y="26574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IQ-only / DC-only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308D30D-EBF2-40CC-A7DE-B16E4A73467B}"/>
              </a:ext>
            </a:extLst>
          </p:cNvPr>
          <p:cNvSpPr>
            <a:spLocks noGrp="1"/>
          </p:cNvSpPr>
          <p:nvPr/>
        </p:nvSpPr>
        <p:spPr>
          <a:xfrm>
            <a:off x="4095750" y="26574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各自 1–3 dB</a:t>
            </a: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2118A030-4FEE-4CE0-8F63-AA2ADABBF260}"/>
              </a:ext>
            </a:extLst>
          </p:cNvPr>
          <p:cNvSpPr>
            <a:spLocks noGrp="1"/>
          </p:cNvSpPr>
          <p:nvPr/>
        </p:nvSpPr>
        <p:spPr>
          <a:xfrm>
            <a:off x="1047750" y="3105150"/>
            <a:ext cx="85725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F6315B3-6193-4171-A0FB-1D181B5E800C}"/>
              </a:ext>
            </a:extLst>
          </p:cNvPr>
          <p:cNvSpPr>
            <a:spLocks noGrp="1"/>
          </p:cNvSpPr>
          <p:nvPr/>
        </p:nvSpPr>
        <p:spPr>
          <a:xfrm>
            <a:off x="704850" y="3257550"/>
            <a:ext cx="114300" cy="400050"/>
          </a:xfrm>
          <a:prstGeom prst="rect">
            <a:avLst/>
          </a:prstGeom>
          <a:solidFill>
            <a:srgbClr val="2F8F5B"/>
          </a:solidFill>
          <a:ln w="0">
            <a:solidFill>
              <a:srgbClr val="2F8F5B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9F8D1DBF-F8F3-4BCC-9EAD-11E870D39B36}"/>
              </a:ext>
            </a:extLst>
          </p:cNvPr>
          <p:cNvSpPr>
            <a:spLocks noGrp="1"/>
          </p:cNvSpPr>
          <p:nvPr/>
        </p:nvSpPr>
        <p:spPr>
          <a:xfrm>
            <a:off x="1047750" y="32861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符号翻转 / random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80043038-DF0A-4A84-AEB5-577DFF0CBAC7}"/>
              </a:ext>
            </a:extLst>
          </p:cNvPr>
          <p:cNvSpPr>
            <a:spLocks noGrp="1"/>
          </p:cNvSpPr>
          <p:nvPr/>
        </p:nvSpPr>
        <p:spPr>
          <a:xfrm>
            <a:off x="4095750" y="328612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≤ 1 dB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8A01A7D1-ACE2-43C2-8B21-7EE7510CD2B4}"/>
              </a:ext>
            </a:extLst>
          </p:cNvPr>
          <p:cNvSpPr>
            <a:spLocks noGrp="1"/>
          </p:cNvSpPr>
          <p:nvPr/>
        </p:nvSpPr>
        <p:spPr>
          <a:xfrm>
            <a:off x="1047750" y="3733800"/>
            <a:ext cx="85725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B40BE09-F89A-4CF1-998E-214B1656C195}"/>
              </a:ext>
            </a:extLst>
          </p:cNvPr>
          <p:cNvSpPr>
            <a:spLocks noGrp="1"/>
          </p:cNvSpPr>
          <p:nvPr/>
        </p:nvSpPr>
        <p:spPr>
          <a:xfrm>
            <a:off x="704850" y="3886200"/>
            <a:ext cx="114300" cy="400050"/>
          </a:xfrm>
          <a:prstGeom prst="rect">
            <a:avLst/>
          </a:prstGeom>
          <a:solidFill>
            <a:srgbClr val="2F6FB0"/>
          </a:solidFill>
          <a:ln w="0">
            <a:solidFill>
              <a:srgbClr val="2F6FB0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E8C49060-552E-4D94-9530-A6D007A4E222}"/>
              </a:ext>
            </a:extLst>
          </p:cNvPr>
          <p:cNvSpPr>
            <a:spLocks noGrp="1"/>
          </p:cNvSpPr>
          <p:nvPr/>
        </p:nvSpPr>
        <p:spPr>
          <a:xfrm>
            <a:off x="1047750" y="391477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干净模型 / utility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E9771B6E-B804-4CEA-A0EA-CAB9F13848B4}"/>
              </a:ext>
            </a:extLst>
          </p:cNvPr>
          <p:cNvSpPr>
            <a:spLocks noGrp="1"/>
          </p:cNvSpPr>
          <p:nvPr/>
        </p:nvSpPr>
        <p:spPr>
          <a:xfrm>
            <a:off x="4095750" y="391477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≤ 0.8 / 0.5 dB</a:t>
            </a:r>
          </a:p>
        </p:txBody>
      </p:sp>
      <p:sp>
        <p:nvSpPr>
          <p:cNvPr id="21" name="直接连接符 20">
            <a:extLst>
              <a:ext uri="{FF2B5EF4-FFF2-40B4-BE49-F238E27FC236}">
                <a16:creationId xmlns:a16="http://schemas.microsoft.com/office/drawing/2014/main" id="{1B269355-1E77-4AFA-BD53-BD6E2B8EE8A3}"/>
              </a:ext>
            </a:extLst>
          </p:cNvPr>
          <p:cNvSpPr>
            <a:spLocks noGrp="1"/>
          </p:cNvSpPr>
          <p:nvPr/>
        </p:nvSpPr>
        <p:spPr>
          <a:xfrm>
            <a:off x="1047750" y="4362450"/>
            <a:ext cx="85725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E28F554-4798-4275-844A-0EE148B98600}"/>
              </a:ext>
            </a:extLst>
          </p:cNvPr>
          <p:cNvSpPr>
            <a:spLocks noGrp="1"/>
          </p:cNvSpPr>
          <p:nvPr/>
        </p:nvSpPr>
        <p:spPr>
          <a:xfrm>
            <a:off x="704850" y="4514850"/>
            <a:ext cx="114300" cy="400050"/>
          </a:xfrm>
          <a:prstGeom prst="rect">
            <a:avLst/>
          </a:prstGeom>
          <a:solidFill>
            <a:srgbClr val="8661B7"/>
          </a:solidFill>
          <a:ln w="0">
            <a:solidFill>
              <a:srgbClr val="8661B7"/>
            </a:solidFill>
          </a:ln>
        </p:spPr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9D7FAE1A-24EA-4271-BBA7-07B0F0496A66}"/>
              </a:ext>
            </a:extLst>
          </p:cNvPr>
          <p:cNvSpPr>
            <a:spLocks noGrp="1"/>
          </p:cNvSpPr>
          <p:nvPr/>
        </p:nvSpPr>
        <p:spPr>
          <a:xfrm>
            <a:off x="1047750" y="4543425"/>
            <a:ext cx="2857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物理约束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5C23959-F47C-4358-AEA3-03F0550788CD}"/>
              </a:ext>
            </a:extLst>
          </p:cNvPr>
          <p:cNvSpPr>
            <a:spLocks noGrp="1"/>
          </p:cNvSpPr>
          <p:nvPr/>
        </p:nvSpPr>
        <p:spPr>
          <a:xfrm>
            <a:off x="4095750" y="4543425"/>
            <a:ext cx="476250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000"/>
          </a:bodyPr>
          <a:lstStyle/>
          <a:p>
            <a:pPr algn="l">
              <a:defRPr sz="15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EVM ≤ 0.10，|ΔP| ≤ 0.5 dB</a:t>
            </a:r>
          </a:p>
        </p:txBody>
      </p:sp>
      <p:sp>
        <p:nvSpPr>
          <p:cNvPr id="25" name="直接连接符 24">
            <a:extLst>
              <a:ext uri="{FF2B5EF4-FFF2-40B4-BE49-F238E27FC236}">
                <a16:creationId xmlns:a16="http://schemas.microsoft.com/office/drawing/2014/main" id="{2D4164AA-0D42-4DC3-8E91-4184CD9A8146}"/>
              </a:ext>
            </a:extLst>
          </p:cNvPr>
          <p:cNvSpPr>
            <a:spLocks noGrp="1"/>
          </p:cNvSpPr>
          <p:nvPr/>
        </p:nvSpPr>
        <p:spPr>
          <a:xfrm>
            <a:off x="1047750" y="4991100"/>
            <a:ext cx="85725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819C38C6-E18F-4BE7-9C82-F2501DB2CD15}"/>
              </a:ext>
            </a:extLst>
          </p:cNvPr>
          <p:cNvSpPr>
            <a:spLocks noGrp="1"/>
          </p:cNvSpPr>
          <p:nvPr/>
        </p:nvSpPr>
        <p:spPr>
          <a:xfrm>
            <a:off x="9096375" y="2057400"/>
            <a:ext cx="2333625" cy="2038350"/>
          </a:xfrm>
          <a:prstGeom prst="roundRect">
            <a:avLst>
              <a:gd name="adj" fmla="val 3738"/>
            </a:avLst>
          </a:prstGeom>
          <a:solidFill>
            <a:srgbClr val="F4F7FA"/>
          </a:solidFill>
          <a:ln w="0">
            <a:solidFill>
              <a:srgbClr val="F4F7FA"/>
            </a:solidFill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5BA92B83-6896-4120-89FB-C2FB1A397809}"/>
              </a:ext>
            </a:extLst>
          </p:cNvPr>
          <p:cNvSpPr>
            <a:spLocks noGrp="1"/>
          </p:cNvSpPr>
          <p:nvPr/>
        </p:nvSpPr>
        <p:spPr>
          <a:xfrm>
            <a:off x="9334500" y="2324100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5185"/>
          </a:bodyPr>
          <a:lstStyle/>
          <a:p>
            <a:pPr algn="l">
              <a:defRPr sz="1350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组合效应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E3D2B920-DF63-4B2E-8481-61DAACCDAF23}"/>
              </a:ext>
            </a:extLst>
          </p:cNvPr>
          <p:cNvSpPr>
            <a:spLocks noGrp="1"/>
          </p:cNvSpPr>
          <p:nvPr/>
        </p:nvSpPr>
        <p:spPr>
          <a:xfrm>
            <a:off x="9334500" y="2714625"/>
            <a:ext cx="1905000" cy="952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6326"/>
          </a:bodyPr>
          <a:lstStyle/>
          <a:p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G_IQ ≥ 3 dB</a:t>
            </a:r>
          </a:p>
          <a:p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G_DC ≥ 3 dB</a:t>
            </a:r>
          </a:p>
          <a:p>
            <a:pPr algn="l">
              <a:defRPr sz="187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Interaction ≥ 1 dB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A2ECE677-F03B-42DA-8B7C-109B3AB7921A}"/>
              </a:ext>
            </a:extLst>
          </p:cNvPr>
          <p:cNvSpPr>
            <a:spLocks noGrp="1"/>
          </p:cNvSpPr>
          <p:nvPr/>
        </p:nvSpPr>
        <p:spPr>
          <a:xfrm>
            <a:off x="9334500" y="3790950"/>
            <a:ext cx="19050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05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删除任一分量后，攻击应明显变弱。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89ABBF8-CA55-4CAB-96B9-812C2C8706EC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36B6F11C-C6C8-43ED-B8C9-188AC4363BBE}"/>
              </a:ext>
            </a:extLst>
          </p:cNvPr>
          <p:cNvSpPr>
            <a:spLocks noGrp="1"/>
          </p:cNvSpPr>
          <p:nvPr/>
        </p:nvSpPr>
        <p:spPr>
          <a:xfrm>
            <a:off x="11220450" y="65151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222"/>
          </a:bodyPr>
          <a:lstStyle/>
          <a:p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194473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>
            <a:extLst>
              <a:ext uri="{FF2B5EF4-FFF2-40B4-BE49-F238E27FC236}">
                <a16:creationId xmlns:a16="http://schemas.microsoft.com/office/drawing/2014/main" id="{EB52181A-6C36-49E2-A9E5-4417A7EBC30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9AA8"/>
          </a:solidFill>
          <a:ln w="0">
            <a:solidFill>
              <a:srgbClr val="159AA8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8AA8FCFF-BD9F-41EA-B17B-2C96B9EE1603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0EF07BD-EB3A-46D0-96E0-8D0F4D3C830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实验协议与评估条件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A00DB5D7-3592-4FD4-A9FF-66D762EB4018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33151EE-A672-4387-B4ED-E0FE35478B16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424"/>
          </a:bodyPr>
          <a:lstStyle/>
          <a:p>
            <a:pPr algn="l">
              <a:defRPr sz="165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固定触发器与编码器，只训练 decoder；验证集承担 checkpoint 选择。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63AF4DCA-5632-4EE1-BBF0-A6E5E9BAE915}"/>
              </a:ext>
            </a:extLst>
          </p:cNvPr>
          <p:cNvSpPr>
            <a:spLocks noGrp="1"/>
          </p:cNvSpPr>
          <p:nvPr/>
        </p:nvSpPr>
        <p:spPr>
          <a:xfrm>
            <a:off x="762000" y="2000250"/>
            <a:ext cx="1666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392"/>
          </a:bodyPr>
          <a:lstStyle/>
          <a:p>
            <a:pPr algn="l">
              <a:defRPr sz="12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训练矩阵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F9AE851-A7C5-40A1-8F93-A768027B9818}"/>
              </a:ext>
            </a:extLst>
          </p:cNvPr>
          <p:cNvSpPr>
            <a:spLocks noGrp="1"/>
          </p:cNvSpPr>
          <p:nvPr/>
        </p:nvSpPr>
        <p:spPr>
          <a:xfrm>
            <a:off x="2619375" y="2000250"/>
            <a:ext cx="5905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training seed 0/1/2 × poison seed 0/1/2 = 9 runs</a:t>
            </a:r>
          </a:p>
        </p:txBody>
      </p:sp>
      <p:sp>
        <p:nvSpPr>
          <p:cNvPr id="8" name="直接连接符 7">
            <a:extLst>
              <a:ext uri="{FF2B5EF4-FFF2-40B4-BE49-F238E27FC236}">
                <a16:creationId xmlns:a16="http://schemas.microsoft.com/office/drawing/2014/main" id="{62A98539-DA37-4333-B352-5E0E0618A81A}"/>
              </a:ext>
            </a:extLst>
          </p:cNvPr>
          <p:cNvSpPr>
            <a:spLocks noGrp="1"/>
          </p:cNvSpPr>
          <p:nvPr/>
        </p:nvSpPr>
        <p:spPr>
          <a:xfrm>
            <a:off x="762000" y="2476500"/>
            <a:ext cx="7762875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3140272-78B0-4723-8853-0248DD5F0BDC}"/>
              </a:ext>
            </a:extLst>
          </p:cNvPr>
          <p:cNvSpPr>
            <a:spLocks noGrp="1"/>
          </p:cNvSpPr>
          <p:nvPr/>
        </p:nvSpPr>
        <p:spPr>
          <a:xfrm>
            <a:off x="762000" y="2743200"/>
            <a:ext cx="1666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392"/>
          </a:bodyPr>
          <a:lstStyle/>
          <a:p>
            <a:pPr algn="l">
              <a:defRPr sz="12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训练预算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4AF9EA0E-F41F-4944-B4DE-C441CE3796D8}"/>
              </a:ext>
            </a:extLst>
          </p:cNvPr>
          <p:cNvSpPr>
            <a:spLocks noGrp="1"/>
          </p:cNvSpPr>
          <p:nvPr/>
        </p:nvSpPr>
        <p:spPr>
          <a:xfrm>
            <a:off x="2619375" y="2743200"/>
            <a:ext cx="5905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80,000 steps；每 10,000 steps 验证</a:t>
            </a: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D83EF250-ACD2-4407-8360-887E78E52D85}"/>
              </a:ext>
            </a:extLst>
          </p:cNvPr>
          <p:cNvSpPr>
            <a:spLocks noGrp="1"/>
          </p:cNvSpPr>
          <p:nvPr/>
        </p:nvSpPr>
        <p:spPr>
          <a:xfrm>
            <a:off x="762000" y="3219450"/>
            <a:ext cx="7762875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827770C4-FD3C-4BBB-91F3-F3AD90E9D198}"/>
              </a:ext>
            </a:extLst>
          </p:cNvPr>
          <p:cNvSpPr>
            <a:spLocks noGrp="1"/>
          </p:cNvSpPr>
          <p:nvPr/>
        </p:nvSpPr>
        <p:spPr>
          <a:xfrm>
            <a:off x="762000" y="3486150"/>
            <a:ext cx="1666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392"/>
          </a:bodyPr>
          <a:lstStyle/>
          <a:p>
            <a:pPr algn="l">
              <a:defRPr sz="12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场景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09806FE-135B-40D4-ADB3-3C345F90B87A}"/>
              </a:ext>
            </a:extLst>
          </p:cNvPr>
          <p:cNvSpPr>
            <a:spLocks noGrp="1"/>
          </p:cNvSpPr>
          <p:nvPr/>
        </p:nvSpPr>
        <p:spPr>
          <a:xfrm>
            <a:off x="2619375" y="3486150"/>
            <a:ext cx="5905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target-free reconstruction failure；不读取标签，不使用 failure rate</a:t>
            </a:r>
          </a:p>
        </p:txBody>
      </p:sp>
      <p:sp>
        <p:nvSpPr>
          <p:cNvPr id="14" name="直接连接符 13">
            <a:extLst>
              <a:ext uri="{FF2B5EF4-FFF2-40B4-BE49-F238E27FC236}">
                <a16:creationId xmlns:a16="http://schemas.microsoft.com/office/drawing/2014/main" id="{C38976F9-1725-4CF0-9DED-0F0FBF443127}"/>
              </a:ext>
            </a:extLst>
          </p:cNvPr>
          <p:cNvSpPr>
            <a:spLocks noGrp="1"/>
          </p:cNvSpPr>
          <p:nvPr/>
        </p:nvSpPr>
        <p:spPr>
          <a:xfrm>
            <a:off x="762000" y="3962400"/>
            <a:ext cx="7762875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DEF15D29-F6D2-4F56-BFDC-375614306ACA}"/>
              </a:ext>
            </a:extLst>
          </p:cNvPr>
          <p:cNvSpPr>
            <a:spLocks noGrp="1"/>
          </p:cNvSpPr>
          <p:nvPr/>
        </p:nvSpPr>
        <p:spPr>
          <a:xfrm>
            <a:off x="762000" y="4229100"/>
            <a:ext cx="1666875" cy="2476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392"/>
          </a:bodyPr>
          <a:lstStyle/>
          <a:p>
            <a:pPr algn="l">
              <a:defRPr sz="12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信道控制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5A5B365A-FF51-4CC5-B535-E8C8F3A1D67A}"/>
              </a:ext>
            </a:extLst>
          </p:cNvPr>
          <p:cNvSpPr>
            <a:spLocks noGrp="1"/>
          </p:cNvSpPr>
          <p:nvPr/>
        </p:nvSpPr>
        <p:spPr>
          <a:xfrm>
            <a:off x="2619375" y="4229100"/>
            <a:ext cx="5905500" cy="40005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每个条件共享同一组 channel noise，便于公平比较</a:t>
            </a:r>
          </a:p>
        </p:txBody>
      </p:sp>
      <p:sp>
        <p:nvSpPr>
          <p:cNvPr id="17" name="直接连接符 16">
            <a:extLst>
              <a:ext uri="{FF2B5EF4-FFF2-40B4-BE49-F238E27FC236}">
                <a16:creationId xmlns:a16="http://schemas.microsoft.com/office/drawing/2014/main" id="{01FE4796-8B9C-430D-B906-1B27A39FC420}"/>
              </a:ext>
            </a:extLst>
          </p:cNvPr>
          <p:cNvSpPr>
            <a:spLocks noGrp="1"/>
          </p:cNvSpPr>
          <p:nvPr/>
        </p:nvSpPr>
        <p:spPr>
          <a:xfrm>
            <a:off x="762000" y="4705350"/>
            <a:ext cx="7762875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448359F1-6260-4343-9B62-6B0AAD2A1B07}"/>
              </a:ext>
            </a:extLst>
          </p:cNvPr>
          <p:cNvSpPr>
            <a:spLocks noGrp="1"/>
          </p:cNvSpPr>
          <p:nvPr/>
        </p:nvSpPr>
        <p:spPr>
          <a:xfrm>
            <a:off x="8953500" y="1943100"/>
            <a:ext cx="2476500" cy="285750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0">
            <a:solidFill>
              <a:srgbClr val="F4F7FA"/>
            </a:solidFill>
          </a:ln>
        </p:spPr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E56B3D7-6820-43FD-B291-5EBDF6D5B0B1}"/>
              </a:ext>
            </a:extLst>
          </p:cNvPr>
          <p:cNvSpPr>
            <a:spLocks noGrp="1"/>
          </p:cNvSpPr>
          <p:nvPr/>
        </p:nvSpPr>
        <p:spPr>
          <a:xfrm>
            <a:off x="9239250" y="2209800"/>
            <a:ext cx="20002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4444"/>
          </a:bodyPr>
          <a:lstStyle/>
          <a:p>
            <a:pPr algn="l">
              <a:defRPr sz="1350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7 个评估条件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1DE29B8-4BFB-4BCE-BBF5-A06D84282B09}"/>
              </a:ext>
            </a:extLst>
          </p:cNvPr>
          <p:cNvSpPr>
            <a:spLocks noGrp="1"/>
          </p:cNvSpPr>
          <p:nvPr/>
        </p:nvSpPr>
        <p:spPr>
          <a:xfrm>
            <a:off x="9239250" y="2667000"/>
            <a:ext cx="2000250" cy="1714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zero</a:t>
            </a:r>
          </a:p>
          <a:p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full IQ+DC</a:t>
            </a:r>
          </a:p>
          <a:p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IQ-only</a:t>
            </a:r>
          </a:p>
          <a:p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DC-only</a:t>
            </a:r>
          </a:p>
          <a:p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IQ sign flip</a:t>
            </a:r>
          </a:p>
          <a:p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DC sign flip</a:t>
            </a:r>
          </a:p>
          <a:p>
            <a:pPr algn="l">
              <a:defRPr sz="1350" b="0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equal-EVM random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E5715405-49E4-443F-BD0F-A741F9202C7E}"/>
              </a:ext>
            </a:extLst>
          </p:cNvPr>
          <p:cNvSpPr>
            <a:spLocks noGrp="1"/>
          </p:cNvSpPr>
          <p:nvPr/>
        </p:nvSpPr>
        <p:spPr>
          <a:xfrm>
            <a:off x="762000" y="5381625"/>
            <a:ext cx="1019175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350" b="0" i="1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350" b="0" i="1">
                <a:solidFill>
                  <a:srgbClr val="526273"/>
                </a:solidFill>
                <a:latin typeface="Arial"/>
                <a:ea typeface="Arial"/>
                <a:cs typeface="Arial"/>
              </a:rPr>
              <a:t>主结论只看 SNR=10 dB；多 SNR 需要先选出合法 checkpoint。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357ED6A-B85D-4F5A-AB15-B592412E11E8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46E3B1D0-DC30-4445-BA7D-32C8D0B12476}"/>
              </a:ext>
            </a:extLst>
          </p:cNvPr>
          <p:cNvSpPr>
            <a:spLocks noGrp="1"/>
          </p:cNvSpPr>
          <p:nvPr/>
        </p:nvSpPr>
        <p:spPr>
          <a:xfrm>
            <a:off x="11220450" y="65151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222"/>
          </a:bodyPr>
          <a:lstStyle/>
          <a:p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097099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D3032276-EB09-4B96-B9C9-93BA6C8951C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9AA8"/>
          </a:solidFill>
          <a:ln w="0">
            <a:solidFill>
              <a:srgbClr val="159AA8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5C4BFF1C-01C7-4658-B46B-E0A7B73ABEF5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62EFCAA-FF53-4C3E-B758-72B0AC56D3E3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10 dB 下的 PSNR drop：DC 分支主导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7FD49DD-6D05-4597-9099-B7EC3A8B994B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graphicFrame>
        <p:nvGraphicFramePr>
          <p:cNvPr id="19" name="Chart"/>
          <p:cNvGraphicFramePr/>
          <p:nvPr>
            <p:extLst>
              <p:ext uri="{D42A27DB-BD31-4B8C-83A1-F6EECF244321}">
                <p14:modId xmlns:p14="http://schemas.microsoft.com/office/powerpoint/2010/main" val="879576957"/>
              </p:ext>
            </p:extLst>
          </p:nvPr>
        </p:nvGraphicFramePr>
        <p:xfrm>
          <a:off x="609600" y="1381125"/>
          <a:ext cx="7810500" cy="40957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9D24DCE7-DCCE-4645-A2C6-6EF3B0479C26}"/>
              </a:ext>
            </a:extLst>
          </p:cNvPr>
          <p:cNvSpPr>
            <a:spLocks noGrp="1"/>
          </p:cNvSpPr>
          <p:nvPr/>
        </p:nvSpPr>
        <p:spPr>
          <a:xfrm>
            <a:off x="8858250" y="1752600"/>
            <a:ext cx="2667000" cy="857250"/>
          </a:xfrm>
          <a:prstGeom prst="roundRect">
            <a:avLst>
              <a:gd name="adj" fmla="val 8889"/>
            </a:avLst>
          </a:prstGeom>
          <a:solidFill>
            <a:srgbClr val="FFF4F2"/>
          </a:solidFill>
          <a:ln w="0">
            <a:solidFill>
              <a:srgbClr val="FFF4F2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C025743-3790-4D3D-A02D-3851B0F1F810}"/>
              </a:ext>
            </a:extLst>
          </p:cNvPr>
          <p:cNvSpPr>
            <a:spLocks noGrp="1"/>
          </p:cNvSpPr>
          <p:nvPr/>
        </p:nvSpPr>
        <p:spPr>
          <a:xfrm>
            <a:off x="9096375" y="19431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Full target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63A59F7-B02E-42E8-86EA-895A4CA84A46}"/>
              </a:ext>
            </a:extLst>
          </p:cNvPr>
          <p:cNvSpPr>
            <a:spLocks noGrp="1"/>
          </p:cNvSpPr>
          <p:nvPr/>
        </p:nvSpPr>
        <p:spPr>
          <a:xfrm>
            <a:off x="9096375" y="2209800"/>
            <a:ext cx="1714500" cy="3048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2222"/>
          </a:bodyPr>
          <a:lstStyle/>
          <a:p>
            <a:pPr algn="l">
              <a:defRPr sz="2250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2250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≥ 6 dB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B0123BB4-7932-4E38-BE01-93E1C16CD43F}"/>
              </a:ext>
            </a:extLst>
          </p:cNvPr>
          <p:cNvSpPr>
            <a:spLocks noGrp="1"/>
          </p:cNvSpPr>
          <p:nvPr/>
        </p:nvSpPr>
        <p:spPr>
          <a:xfrm>
            <a:off x="8858250" y="2857500"/>
            <a:ext cx="2667000" cy="1143000"/>
          </a:xfrm>
          <a:prstGeom prst="roundRect">
            <a:avLst>
              <a:gd name="adj" fmla="val 6667"/>
            </a:avLst>
          </a:prstGeom>
          <a:solidFill>
            <a:srgbClr val="F0F8F3"/>
          </a:solidFill>
          <a:ln w="0">
            <a:solidFill>
              <a:srgbClr val="F0F8F3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77C1E61-F4B7-4EFC-AE73-CE0863599990}"/>
              </a:ext>
            </a:extLst>
          </p:cNvPr>
          <p:cNvSpPr>
            <a:spLocks noGrp="1"/>
          </p:cNvSpPr>
          <p:nvPr/>
        </p:nvSpPr>
        <p:spPr>
          <a:xfrm>
            <a:off x="9096375" y="3048000"/>
            <a:ext cx="1524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1" i="0">
                <a:solidFill>
                  <a:srgbClr val="2F8F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F8F5B"/>
                </a:solidFill>
                <a:latin typeface="Arial"/>
                <a:ea typeface="Arial"/>
                <a:cs typeface="Arial"/>
              </a:rPr>
              <a:t>关键观察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E3938144-D654-40DC-B388-893DCD4AC56C}"/>
              </a:ext>
            </a:extLst>
          </p:cNvPr>
          <p:cNvSpPr>
            <a:spLocks noGrp="1"/>
          </p:cNvSpPr>
          <p:nvPr/>
        </p:nvSpPr>
        <p:spPr>
          <a:xfrm>
            <a:off x="9096375" y="3333750"/>
            <a:ext cx="2000250" cy="5143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500"/>
          </a:bodyPr>
          <a:lstStyle/>
          <a:p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DC-only 2.35 dB</a:t>
            </a:r>
          </a:p>
          <a:p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IQ-only 0.14 dB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44D530F6-58A4-4196-891E-1941D27DC20C}"/>
              </a:ext>
            </a:extLst>
          </p:cNvPr>
          <p:cNvSpPr>
            <a:spLocks noGrp="1"/>
          </p:cNvSpPr>
          <p:nvPr/>
        </p:nvSpPr>
        <p:spPr>
          <a:xfrm>
            <a:off x="8858250" y="4457700"/>
            <a:ext cx="2667000" cy="52387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9561"/>
          </a:bodyPr>
          <a:lstStyle/>
          <a:p>
            <a:pPr algn="l">
              <a:defRPr sz="1425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完整触发平均 4.92 dB，仍低于 6 dB。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E6A9289E-6FE8-4D2B-B1AA-40476300ABD3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F0A86AF2-2FAC-41E8-BCB5-C88BEBD1EB40}"/>
              </a:ext>
            </a:extLst>
          </p:cNvPr>
          <p:cNvSpPr>
            <a:spLocks noGrp="1"/>
          </p:cNvSpPr>
          <p:nvPr/>
        </p:nvSpPr>
        <p:spPr>
          <a:xfrm>
            <a:off x="11220450" y="65151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222"/>
          </a:bodyPr>
          <a:lstStyle/>
          <a:p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58668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矩形 14">
            <a:extLst>
              <a:ext uri="{FF2B5EF4-FFF2-40B4-BE49-F238E27FC236}">
                <a16:creationId xmlns:a16="http://schemas.microsoft.com/office/drawing/2014/main" id="{8190C961-7628-4253-837F-73A25934FD0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9AA8"/>
          </a:solidFill>
          <a:ln w="0">
            <a:solidFill>
              <a:srgbClr val="159AA8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6AB06B-10AE-4C13-B9AC-31809FA95F5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9923087-2D71-4DBF-A0B8-F8D86486743F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组合效应：interaction 通过，但 IQ removal gap 不足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DFE743CD-1BC4-43F4-96F8-D7347AE41318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graphicFrame>
        <p:nvGraphicFramePr>
          <p:cNvPr id="19" name="Chart"/>
          <p:cNvGraphicFramePr/>
          <p:nvPr/>
        </p:nvGraphicFramePr>
        <p:xfrm>
          <a:off x="666750" y="1571625"/>
          <a:ext cx="6667500" cy="3524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A621AF55-7DD6-4923-A5C6-891FD64BF2A3}"/>
              </a:ext>
            </a:extLst>
          </p:cNvPr>
          <p:cNvSpPr>
            <a:spLocks noGrp="1"/>
          </p:cNvSpPr>
          <p:nvPr/>
        </p:nvSpPr>
        <p:spPr>
          <a:xfrm>
            <a:off x="7953375" y="1714500"/>
            <a:ext cx="3333750" cy="1000125"/>
          </a:xfrm>
          <a:prstGeom prst="roundRect">
            <a:avLst>
              <a:gd name="adj" fmla="val 7619"/>
            </a:avLst>
          </a:prstGeom>
          <a:solidFill>
            <a:srgbClr val="FFF4F2"/>
          </a:solidFill>
          <a:ln w="0">
            <a:solidFill>
              <a:srgbClr val="FFF4F2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2502CC22-E75E-4FEB-8A2A-78E02BC02C6C}"/>
              </a:ext>
            </a:extLst>
          </p:cNvPr>
          <p:cNvSpPr>
            <a:spLocks noGrp="1"/>
          </p:cNvSpPr>
          <p:nvPr/>
        </p:nvSpPr>
        <p:spPr>
          <a:xfrm>
            <a:off x="8239125" y="1943100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未通过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1259FC6-CB96-4AEE-B944-B173269C4BE3}"/>
              </a:ext>
            </a:extLst>
          </p:cNvPr>
          <p:cNvSpPr>
            <a:spLocks noGrp="1"/>
          </p:cNvSpPr>
          <p:nvPr/>
        </p:nvSpPr>
        <p:spPr>
          <a:xfrm>
            <a:off x="8239125" y="2247900"/>
            <a:ext cx="2571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7273"/>
          </a:bodyPr>
          <a:lstStyle/>
          <a:p>
            <a:pPr algn="l">
              <a:defRPr sz="1650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G_IQ 2.57 dB &lt; 3 dB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D6304548-74B6-4C8F-969B-D93FD5D4941A}"/>
              </a:ext>
            </a:extLst>
          </p:cNvPr>
          <p:cNvSpPr>
            <a:spLocks noGrp="1"/>
          </p:cNvSpPr>
          <p:nvPr/>
        </p:nvSpPr>
        <p:spPr>
          <a:xfrm>
            <a:off x="7953375" y="3000375"/>
            <a:ext cx="3333750" cy="1000125"/>
          </a:xfrm>
          <a:prstGeom prst="roundRect">
            <a:avLst>
              <a:gd name="adj" fmla="val 7619"/>
            </a:avLst>
          </a:prstGeom>
          <a:solidFill>
            <a:srgbClr val="F0F8F3"/>
          </a:solidFill>
          <a:ln w="0">
            <a:solidFill>
              <a:srgbClr val="F0F8F3"/>
            </a:solidFill>
          </a:ln>
        </p:spPr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48B7D64-22BE-441B-A904-30D415BACD01}"/>
              </a:ext>
            </a:extLst>
          </p:cNvPr>
          <p:cNvSpPr>
            <a:spLocks noGrp="1"/>
          </p:cNvSpPr>
          <p:nvPr/>
        </p:nvSpPr>
        <p:spPr>
          <a:xfrm>
            <a:off x="8239125" y="3228975"/>
            <a:ext cx="11430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5000"/>
          </a:bodyPr>
          <a:lstStyle/>
          <a:p>
            <a:pPr algn="l">
              <a:defRPr sz="1200" b="1" i="0">
                <a:solidFill>
                  <a:srgbClr val="2F8F5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2F8F5B"/>
                </a:solidFill>
                <a:latin typeface="Arial"/>
                <a:ea typeface="Arial"/>
                <a:cs typeface="Arial"/>
              </a:rPr>
              <a:t>通过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570D4814-9469-4B48-BABF-A57274FBEB0E}"/>
              </a:ext>
            </a:extLst>
          </p:cNvPr>
          <p:cNvSpPr>
            <a:spLocks noGrp="1"/>
          </p:cNvSpPr>
          <p:nvPr/>
        </p:nvSpPr>
        <p:spPr>
          <a:xfrm>
            <a:off x="8239125" y="3524250"/>
            <a:ext cx="2667000" cy="5334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6667"/>
          </a:bodyPr>
          <a:lstStyle/>
          <a:p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G_DC 4.78 dB</a:t>
            </a:r>
          </a:p>
          <a:p>
            <a:pPr algn="l">
              <a:defRPr sz="1500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Interaction 2.43 dB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81C5213-A26D-4F48-A69E-CA1A4F2A568B}"/>
              </a:ext>
            </a:extLst>
          </p:cNvPr>
          <p:cNvSpPr>
            <a:spLocks noGrp="1"/>
          </p:cNvSpPr>
          <p:nvPr/>
        </p:nvSpPr>
        <p:spPr>
          <a:xfrm>
            <a:off x="7953375" y="4619625"/>
            <a:ext cx="3333750" cy="619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组合确实有额外效果，但额外效果主要来自 DC 相关方向。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4602EFE-8B40-4D5A-94B2-8D818EDC0AAF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5C11EF0-C394-46F9-9C0B-9DA320B4B608}"/>
              </a:ext>
            </a:extLst>
          </p:cNvPr>
          <p:cNvSpPr>
            <a:spLocks noGrp="1"/>
          </p:cNvSpPr>
          <p:nvPr/>
        </p:nvSpPr>
        <p:spPr>
          <a:xfrm>
            <a:off x="11220450" y="65151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222"/>
          </a:bodyPr>
          <a:lstStyle/>
          <a:p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7608961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7D030B54-1612-4ED1-A6F0-8EE2F3D403B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9AA8"/>
          </a:solidFill>
          <a:ln w="0">
            <a:solidFill>
              <a:srgbClr val="159AA8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F4F5AF89-9F02-4303-861F-1B05AACD8604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 dirty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E812689-FA15-4094-AA72-F0C346A34CF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 dirty="0">
                <a:solidFill>
                  <a:srgbClr val="0B1F33"/>
                </a:solidFill>
                <a:latin typeface="Arial"/>
                <a:ea typeface="Arial"/>
                <a:cs typeface="Arial"/>
              </a:rPr>
              <a:t>门槛审计：0/9 个 checkpoint </a:t>
            </a:r>
            <a:r>
              <a:rPr sz="2325" b="1" i="0" dirty="0" err="1">
                <a:solidFill>
                  <a:srgbClr val="0B1F33"/>
                </a:solidFill>
                <a:latin typeface="Arial"/>
                <a:ea typeface="Arial"/>
                <a:cs typeface="Arial"/>
              </a:rPr>
              <a:t>全部通过</a:t>
            </a:r>
            <a:endParaRPr sz="2325" b="1" i="0" dirty="0">
              <a:solidFill>
                <a:srgbClr val="0B1F3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28AC6584-157B-4A79-97E1-83225E25B614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graphicFrame>
        <p:nvGraphicFramePr>
          <p:cNvPr id="13" name="表格 12"/>
          <p:cNvGraphicFramePr/>
          <p:nvPr/>
        </p:nvGraphicFramePr>
        <p:xfrm>
          <a:off x="590550" y="1504950"/>
          <a:ext cx="11001375" cy="4095752"/>
        </p:xfrm>
        <a:graphic>
          <a:graphicData uri="http://schemas.openxmlformats.org/drawingml/2006/table">
            <a:tbl>
              <a:tblPr firstRow="1" bandRow="1"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76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1969"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指标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9-run 结果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目标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结论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Full attack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4.92 ± 0.45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≥ 6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83B3B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>
                    <a:solidFill>
                      <a:srgbClr val="FF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IQ-only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0.14 ± 0.03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1–3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83B3B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>
                    <a:solidFill>
                      <a:srgbClr val="FF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DC-only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2.35 ± 0.33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dirty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1–3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IQ sign flip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0.95 dB mean; 3/9 fail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≤ 1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C83B3B"/>
                          </a:solidFill>
                          <a:latin typeface="Arial"/>
                          <a:ea typeface="Arial"/>
                          <a:cs typeface="Arial"/>
                        </a:rPr>
                        <a:t>FAIL</a:t>
                      </a:r>
                    </a:p>
                  </a:txBody>
                  <a:tcPr>
                    <a:solidFill>
                      <a:srgbClr val="FFF4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Clean model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0.60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≤ 0.8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Utility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-0.11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≤ 0.5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1969"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EVM / power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0.0927 / 0.0018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≤0.10 / ≤0.5 dB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dirty="0">
                          <a:solidFill>
                            <a:srgbClr val="2F8F5B"/>
                          </a:solidFill>
                          <a:latin typeface="Arial"/>
                          <a:ea typeface="Arial"/>
                          <a:cs typeface="Arial"/>
                        </a:rPr>
                        <a:t>PASS</a:t>
                      </a:r>
                    </a:p>
                  </a:txBody>
                  <a:tcPr>
                    <a:solidFill>
                      <a:srgbClr val="F0F8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矩形 5">
            <a:extLst>
              <a:ext uri="{FF2B5EF4-FFF2-40B4-BE49-F238E27FC236}">
                <a16:creationId xmlns:a16="http://schemas.microsoft.com/office/drawing/2014/main" id="{73591EAA-A946-4A66-91FF-C396C58C62FD}"/>
              </a:ext>
            </a:extLst>
          </p:cNvPr>
          <p:cNvSpPr>
            <a:spLocks noGrp="1"/>
          </p:cNvSpPr>
          <p:nvPr/>
        </p:nvSpPr>
        <p:spPr>
          <a:xfrm>
            <a:off x="666750" y="5791200"/>
            <a:ext cx="100012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208"/>
          </a:bodyPr>
          <a:lstStyle/>
          <a:p>
            <a:pPr algn="l">
              <a:defRPr sz="1200" b="0" i="0">
                <a:solidFill>
                  <a:srgbClr val="526273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273"/>
                </a:solidFill>
                <a:latin typeface="Arial"/>
                <a:ea typeface="Arial"/>
                <a:cs typeface="Arial"/>
              </a:rPr>
              <a:t>补充：clean utility 为 −0.112 dB，负值表示中毒模型在干净输入上的 PSNR 没有下降。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7692CB9-0C5C-44A6-BD98-AE24A30DFD83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B479347C-D038-4B26-93C0-AF72148BE161}"/>
              </a:ext>
            </a:extLst>
          </p:cNvPr>
          <p:cNvSpPr>
            <a:spLocks noGrp="1"/>
          </p:cNvSpPr>
          <p:nvPr/>
        </p:nvSpPr>
        <p:spPr>
          <a:xfrm>
            <a:off x="11220450" y="65151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222"/>
          </a:bodyPr>
          <a:lstStyle/>
          <a:p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6360593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7C3B8ADB-3ADC-4ED1-88E5-887B054478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9AA8"/>
          </a:solidFill>
          <a:ln w="0">
            <a:solidFill>
              <a:srgbClr val="159AA8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F2B94A9-2141-4F0D-8395-951BA798D211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55B857BB-A2D1-4B81-8676-7B436F8301BB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跨 9 次运行的稳定性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6304A2DC-BD94-44DE-95FF-CDCF007F5482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6C0053A-C603-4F49-855B-40B01789D3C1}"/>
              </a:ext>
            </a:extLst>
          </p:cNvPr>
          <p:cNvSpPr>
            <a:spLocks noGrp="1"/>
          </p:cNvSpPr>
          <p:nvPr/>
        </p:nvSpPr>
        <p:spPr>
          <a:xfrm>
            <a:off x="609600" y="1381125"/>
            <a:ext cx="10668000" cy="3238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2424"/>
          </a:bodyPr>
          <a:lstStyle/>
          <a:p>
            <a:pPr algn="l">
              <a:defRPr sz="1650" b="1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物理约束与 clean utility 稳定通过；攻击强度和 IQ 响应不足是系统性问题。</a:t>
            </a:r>
          </a:p>
        </p:txBody>
      </p:sp>
      <p:graphicFrame>
        <p:nvGraphicFramePr>
          <p:cNvPr id="16" name="表格 15"/>
          <p:cNvGraphicFramePr/>
          <p:nvPr/>
        </p:nvGraphicFramePr>
        <p:xfrm>
          <a:off x="685800" y="1962150"/>
          <a:ext cx="10810875" cy="2857498"/>
        </p:xfrm>
        <a:graphic>
          <a:graphicData uri="http://schemas.openxmlformats.org/drawingml/2006/table">
            <a:tbl>
              <a:tblPr firstRow="1" bandRow="1"/>
              <a:tblGrid>
                <a:gridCol w="2571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9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47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0821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统计项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均值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SD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最小–最大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失败次数</a:t>
                      </a:r>
                    </a:p>
                  </a:txBody>
                  <a:tcPr>
                    <a:solidFill>
                      <a:srgbClr val="0B1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Full drop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4.92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4.08–5.43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9/9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IQ-only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0.09–0.18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9/9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DC-only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1.83–2.85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2.16–2.54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EVM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0.0926–0.0927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8214"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Clean model 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0.59–0.60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sz="1125" b="1">
                          <a:solidFill>
                            <a:srgbClr val="142735"/>
                          </a:solidFill>
                          <a:latin typeface="Arial"/>
                          <a:ea typeface="Arial"/>
                          <a:cs typeface="Arial"/>
                        </a:rPr>
                        <a:t>0/9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矩形: 圆角 6">
            <a:extLst>
              <a:ext uri="{FF2B5EF4-FFF2-40B4-BE49-F238E27FC236}">
                <a16:creationId xmlns:a16="http://schemas.microsoft.com/office/drawing/2014/main" id="{1F76BFB7-40A2-4D5B-AC47-F08FD5EE4BC5}"/>
              </a:ext>
            </a:extLst>
          </p:cNvPr>
          <p:cNvSpPr>
            <a:spLocks noGrp="1"/>
          </p:cNvSpPr>
          <p:nvPr/>
        </p:nvSpPr>
        <p:spPr>
          <a:xfrm>
            <a:off x="876300" y="5238750"/>
            <a:ext cx="10382250" cy="609600"/>
          </a:xfrm>
          <a:prstGeom prst="roundRect">
            <a:avLst>
              <a:gd name="adj" fmla="val 12500"/>
            </a:avLst>
          </a:prstGeom>
          <a:solidFill>
            <a:srgbClr val="F4F7FA"/>
          </a:solidFill>
          <a:ln w="0">
            <a:solidFill>
              <a:srgbClr val="F4F7FA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48AE757E-1839-4CB1-8C30-B38F6395AA1B}"/>
              </a:ext>
            </a:extLst>
          </p:cNvPr>
          <p:cNvSpPr>
            <a:spLocks noGrp="1"/>
          </p:cNvSpPr>
          <p:nvPr/>
        </p:nvSpPr>
        <p:spPr>
          <a:xfrm>
            <a:off x="1143000" y="5410200"/>
            <a:ext cx="9763125" cy="2667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3016"/>
          </a:bodyPr>
          <a:lstStyle/>
          <a:p>
            <a:pPr algn="ctr">
              <a:defRPr sz="1575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0/9 feasible checkpoint  →  按协议不能进入 test set / multi-SNR 阶段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FD5AC81D-55EC-40D7-9A5B-6DDC1967252A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5DE458-EF13-4D85-A364-3CFE6266089F}"/>
              </a:ext>
            </a:extLst>
          </p:cNvPr>
          <p:cNvSpPr>
            <a:spLocks noGrp="1"/>
          </p:cNvSpPr>
          <p:nvPr/>
        </p:nvSpPr>
        <p:spPr>
          <a:xfrm>
            <a:off x="11220450" y="65151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222"/>
          </a:bodyPr>
          <a:lstStyle/>
          <a:p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058964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507F2B88-7828-44E4-BEA4-5AE4589F1F2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114300"/>
          </a:xfrm>
          <a:prstGeom prst="rect">
            <a:avLst/>
          </a:prstGeom>
          <a:solidFill>
            <a:srgbClr val="159AA8"/>
          </a:solidFill>
          <a:ln w="0">
            <a:solidFill>
              <a:srgbClr val="159AA8"/>
            </a:solidFill>
          </a:ln>
        </p:spPr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9D6F7494-5356-47BC-93B2-504F529B03D8}"/>
              </a:ext>
            </a:extLst>
          </p:cNvPr>
          <p:cNvSpPr>
            <a:spLocks noGrp="1"/>
          </p:cNvSpPr>
          <p:nvPr/>
        </p:nvSpPr>
        <p:spPr>
          <a:xfrm>
            <a:off x="609600" y="304800"/>
            <a:ext cx="5715000" cy="2095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9487"/>
          </a:bodyPr>
          <a:lstStyle/>
          <a:p>
            <a:pPr algn="l">
              <a:defRPr sz="975" b="1" i="0">
                <a:solidFill>
                  <a:srgbClr val="159AA8"/>
                </a:solidFill>
                <a:latin typeface="Arial"/>
                <a:ea typeface="Arial"/>
                <a:cs typeface="Arial"/>
              </a:defRPr>
            </a:pPr>
            <a:r>
              <a:rPr sz="975" b="1" i="0">
                <a:solidFill>
                  <a:srgbClr val="159AA8"/>
                </a:solidFill>
                <a:latin typeface="Arial"/>
                <a:ea typeface="Arial"/>
                <a:cs typeface="Arial"/>
              </a:rPr>
              <a:t>DEEPJSCC · IQ+DC BACKDOOR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F227C2A1-FBA2-4E93-9E45-21D71ED966B4}"/>
              </a:ext>
            </a:extLst>
          </p:cNvPr>
          <p:cNvSpPr>
            <a:spLocks noGrp="1"/>
          </p:cNvSpPr>
          <p:nvPr/>
        </p:nvSpPr>
        <p:spPr>
          <a:xfrm>
            <a:off x="609600" y="552450"/>
            <a:ext cx="10763250" cy="4572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23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结论与下一步</a:t>
            </a:r>
          </a:p>
        </p:txBody>
      </p:sp>
      <p:sp>
        <p:nvSpPr>
          <p:cNvPr id="4" name="直接连接符 3">
            <a:extLst>
              <a:ext uri="{FF2B5EF4-FFF2-40B4-BE49-F238E27FC236}">
                <a16:creationId xmlns:a16="http://schemas.microsoft.com/office/drawing/2014/main" id="{F26B4EC0-AC8F-4DC2-8FEB-E2FC79E54925}"/>
              </a:ext>
            </a:extLst>
          </p:cNvPr>
          <p:cNvSpPr>
            <a:spLocks noGrp="1"/>
          </p:cNvSpPr>
          <p:nvPr/>
        </p:nvSpPr>
        <p:spPr>
          <a:xfrm>
            <a:off x="609600" y="1162050"/>
            <a:ext cx="109728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32289758-3EA0-4DAA-A4BC-6D777C049BE0}"/>
              </a:ext>
            </a:extLst>
          </p:cNvPr>
          <p:cNvSpPr>
            <a:spLocks noGrp="1"/>
          </p:cNvSpPr>
          <p:nvPr/>
        </p:nvSpPr>
        <p:spPr>
          <a:xfrm>
            <a:off x="609600" y="1428750"/>
            <a:ext cx="10668000" cy="3810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93827"/>
          </a:bodyPr>
          <a:lstStyle/>
          <a:p>
            <a:pPr algn="l">
              <a:defRPr sz="2025" b="1" i="0">
                <a:solidFill>
                  <a:srgbClr val="0B1F33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0B1F33"/>
                </a:solidFill>
                <a:latin typeface="Arial"/>
                <a:ea typeface="Arial"/>
                <a:cs typeface="Arial"/>
              </a:rPr>
              <a:t>当前结果支持“DC 可触发”，不支持“IQ+DC 组合特异性”。</a:t>
            </a:r>
          </a:p>
        </p:txBody>
      </p:sp>
      <p:sp>
        <p:nvSpPr>
          <p:cNvPr id="6" name="直接连接符 5">
            <a:extLst>
              <a:ext uri="{FF2B5EF4-FFF2-40B4-BE49-F238E27FC236}">
                <a16:creationId xmlns:a16="http://schemas.microsoft.com/office/drawing/2014/main" id="{ADA0050A-F47F-47D7-82D4-A257FBC2AB4F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10972800" cy="0"/>
          </a:xfrm>
          <a:prstGeom prst="line">
            <a:avLst/>
          </a:prstGeom>
          <a:noFill/>
          <a:ln w="9525">
            <a:solidFill>
              <a:srgbClr val="D9E2EA"/>
            </a:solidFill>
          </a:ln>
        </p:spPr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41748D4B-D5CD-411C-83EB-670ECF96B3C4}"/>
              </a:ext>
            </a:extLst>
          </p:cNvPr>
          <p:cNvSpPr>
            <a:spLocks noGrp="1"/>
          </p:cNvSpPr>
          <p:nvPr/>
        </p:nvSpPr>
        <p:spPr>
          <a:xfrm>
            <a:off x="742950" y="2381250"/>
            <a:ext cx="114300" cy="666750"/>
          </a:xfrm>
          <a:prstGeom prst="rect">
            <a:avLst/>
          </a:prstGeom>
          <a:solidFill>
            <a:srgbClr val="2F8F5B"/>
          </a:solidFill>
          <a:ln w="0">
            <a:solidFill>
              <a:srgbClr val="2F8F5B"/>
            </a:solidFill>
          </a:ln>
        </p:spPr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DEF072B-818C-4DA6-A108-8CE5975CD91D}"/>
              </a:ext>
            </a:extLst>
          </p:cNvPr>
          <p:cNvSpPr>
            <a:spLocks noGrp="1"/>
          </p:cNvSpPr>
          <p:nvPr/>
        </p:nvSpPr>
        <p:spPr>
          <a:xfrm>
            <a:off x="1066800" y="23812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l">
              <a:defRPr sz="1575" b="1" i="0">
                <a:solidFill>
                  <a:srgbClr val="2F8F5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2F8F5B"/>
                </a:solidFill>
                <a:latin typeface="Arial"/>
                <a:ea typeface="Arial"/>
                <a:cs typeface="Arial"/>
              </a:rPr>
              <a:t>已经成立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0EFB08E-B71D-4BB4-9339-C2A093070BD7}"/>
              </a:ext>
            </a:extLst>
          </p:cNvPr>
          <p:cNvSpPr>
            <a:spLocks noGrp="1"/>
          </p:cNvSpPr>
          <p:nvPr/>
        </p:nvSpPr>
        <p:spPr>
          <a:xfrm>
            <a:off x="3048000" y="2381250"/>
            <a:ext cx="7524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clean model、utility、EVM、功率、DC-only、G_DC 和 interaction 均达到门槛。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9F001E9-3A0A-41EB-8F26-E627F19F35A5}"/>
              </a:ext>
            </a:extLst>
          </p:cNvPr>
          <p:cNvSpPr>
            <a:spLocks noGrp="1"/>
          </p:cNvSpPr>
          <p:nvPr/>
        </p:nvSpPr>
        <p:spPr>
          <a:xfrm>
            <a:off x="742950" y="3409950"/>
            <a:ext cx="114300" cy="666750"/>
          </a:xfrm>
          <a:prstGeom prst="rect">
            <a:avLst/>
          </a:prstGeom>
          <a:solidFill>
            <a:srgbClr val="C83B3B"/>
          </a:solidFill>
          <a:ln w="0">
            <a:solidFill>
              <a:srgbClr val="C83B3B"/>
            </a:solidFill>
          </a:ln>
        </p:spPr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06109B9-9AE0-41DA-A625-7848DA7AF598}"/>
              </a:ext>
            </a:extLst>
          </p:cNvPr>
          <p:cNvSpPr>
            <a:spLocks noGrp="1"/>
          </p:cNvSpPr>
          <p:nvPr/>
        </p:nvSpPr>
        <p:spPr>
          <a:xfrm>
            <a:off x="1066800" y="34099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l">
              <a:defRPr sz="1575" b="1" i="0">
                <a:solidFill>
                  <a:srgbClr val="C83B3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C83B3B"/>
                </a:solidFill>
                <a:latin typeface="Arial"/>
                <a:ea typeface="Arial"/>
                <a:cs typeface="Arial"/>
              </a:rPr>
              <a:t>尚未成立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D2E08A0-6EEA-49CA-9D73-C8AD11314010}"/>
              </a:ext>
            </a:extLst>
          </p:cNvPr>
          <p:cNvSpPr>
            <a:spLocks noGrp="1"/>
          </p:cNvSpPr>
          <p:nvPr/>
        </p:nvSpPr>
        <p:spPr>
          <a:xfrm>
            <a:off x="3048000" y="3409950"/>
            <a:ext cx="7524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full drop 不足；IQ-only 太弱；IQ removal gap 不足；IQ sign flip 有 3/9 组超标。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EDFC99B-2D9E-4E04-BB1B-135E23EF5319}"/>
              </a:ext>
            </a:extLst>
          </p:cNvPr>
          <p:cNvSpPr>
            <a:spLocks noGrp="1"/>
          </p:cNvSpPr>
          <p:nvPr/>
        </p:nvSpPr>
        <p:spPr>
          <a:xfrm>
            <a:off x="742950" y="4438650"/>
            <a:ext cx="114300" cy="666750"/>
          </a:xfrm>
          <a:prstGeom prst="rect">
            <a:avLst/>
          </a:prstGeom>
          <a:solidFill>
            <a:srgbClr val="D4772F"/>
          </a:solidFill>
          <a:ln w="0">
            <a:solidFill>
              <a:srgbClr val="D4772F"/>
            </a:solidFill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1CE16BE-F6C3-4A81-BA3A-4F16ECFCFD83}"/>
              </a:ext>
            </a:extLst>
          </p:cNvPr>
          <p:cNvSpPr>
            <a:spLocks noGrp="1"/>
          </p:cNvSpPr>
          <p:nvPr/>
        </p:nvSpPr>
        <p:spPr>
          <a:xfrm>
            <a:off x="1066800" y="4438650"/>
            <a:ext cx="1809750" cy="2857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80952"/>
          </a:bodyPr>
          <a:lstStyle/>
          <a:p>
            <a:pPr algn="l">
              <a:defRPr sz="1575" b="1" i="0">
                <a:solidFill>
                  <a:srgbClr val="D4772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D4772F"/>
                </a:solidFill>
                <a:latin typeface="Arial"/>
                <a:ea typeface="Arial"/>
                <a:cs typeface="Arial"/>
              </a:rPr>
              <a:t>实验含义</a:t>
            </a: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ABF0B6C9-1F8C-4A39-B51D-E95B7EEED884}"/>
              </a:ext>
            </a:extLst>
          </p:cNvPr>
          <p:cNvSpPr>
            <a:spLocks noGrp="1"/>
          </p:cNvSpPr>
          <p:nvPr/>
        </p:nvSpPr>
        <p:spPr>
          <a:xfrm>
            <a:off x="3048000" y="4438650"/>
            <a:ext cx="7524750" cy="609600"/>
          </a:xfrm>
          <a:prstGeom prst="rect">
            <a:avLst/>
          </a:prstGeom>
          <a:noFill/>
          <a:ln w="0">
            <a:noFill/>
          </a:ln>
        </p:spPr>
        <p:txBody>
          <a:bodyPr>
            <a:normAutofit/>
          </a:bodyPr>
          <a:lstStyle/>
          <a:p>
            <a:pPr algn="l">
              <a:defRPr sz="1425" b="0" i="0">
                <a:solidFill>
                  <a:srgbClr val="142735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142735"/>
                </a:solidFill>
                <a:latin typeface="Arial"/>
                <a:ea typeface="Arial"/>
                <a:cs typeface="Arial"/>
              </a:rPr>
              <a:t>训练目标把主要攻击能力集中到了 DC 方向，IQ 没有形成独立且可组合的响应。</a:t>
            </a:r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2DCB6DAC-928C-438D-87A2-A6EA1C96F09D}"/>
              </a:ext>
            </a:extLst>
          </p:cNvPr>
          <p:cNvSpPr>
            <a:spLocks noGrp="1"/>
          </p:cNvSpPr>
          <p:nvPr/>
        </p:nvSpPr>
        <p:spPr>
          <a:xfrm>
            <a:off x="742950" y="5600700"/>
            <a:ext cx="9829800" cy="457200"/>
          </a:xfrm>
          <a:prstGeom prst="roundRect">
            <a:avLst>
              <a:gd name="adj" fmla="val 16667"/>
            </a:avLst>
          </a:prstGeom>
          <a:solidFill>
            <a:srgbClr val="0B1F33"/>
          </a:solidFill>
          <a:ln w="0">
            <a:solidFill>
              <a:srgbClr val="0B1F33"/>
            </a:solidFill>
          </a:ln>
        </p:spPr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BC3FF36-90D8-4B39-B8CD-EF05889E09EA}"/>
              </a:ext>
            </a:extLst>
          </p:cNvPr>
          <p:cNvSpPr>
            <a:spLocks noGrp="1"/>
          </p:cNvSpPr>
          <p:nvPr/>
        </p:nvSpPr>
        <p:spPr>
          <a:xfrm>
            <a:off x="952500" y="5715000"/>
            <a:ext cx="9429750" cy="238125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1296"/>
          </a:bodyPr>
          <a:lstStyle/>
          <a:p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下一轮优先验证：提高 IQ 分支的可观测贡献，同时保持 DC-only 在 1–3 dB 区间。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FEB4A7BB-03E8-48AF-85F5-F81513E70067}"/>
              </a:ext>
            </a:extLst>
          </p:cNvPr>
          <p:cNvSpPr>
            <a:spLocks noGrp="1"/>
          </p:cNvSpPr>
          <p:nvPr/>
        </p:nvSpPr>
        <p:spPr>
          <a:xfrm>
            <a:off x="609600" y="6534150"/>
            <a:ext cx="6667500" cy="17145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63636"/>
          </a:bodyPr>
          <a:lstStyle/>
          <a:p>
            <a:pPr algn="l">
              <a:defRPr sz="825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825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c=16 · SNR=10 dB · 3×3 seeds · 80k steps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67C7234-CBAE-4818-8555-4D9A5375BFEE}"/>
              </a:ext>
            </a:extLst>
          </p:cNvPr>
          <p:cNvSpPr>
            <a:spLocks noGrp="1"/>
          </p:cNvSpPr>
          <p:nvPr/>
        </p:nvSpPr>
        <p:spPr>
          <a:xfrm>
            <a:off x="11220450" y="65151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>
            <a:normAutofit fontScale="72222"/>
          </a:bodyPr>
          <a:lstStyle/>
          <a:p>
            <a:pPr algn="r">
              <a:defRPr sz="900" b="0" i="0">
                <a:solidFill>
                  <a:srgbClr val="748397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748397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28498087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171</TotalTime>
  <Words>824</Words>
  <Application>Microsoft Office PowerPoint</Application>
  <DocSecurity>0</DocSecurity>
  <PresentationFormat>宽屏</PresentationFormat>
  <Paragraphs>169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Arial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文韬 肖</cp:lastModifiedBy>
  <cp:revision>2</cp:revision>
  <dcterms:created xsi:type="dcterms:W3CDTF">2026-09-06T14:04:50Z</dcterms:created>
  <dcterms:modified xsi:type="dcterms:W3CDTF">2026-09-09T12:28:30Z</dcterms:modified>
</cp:coreProperties>
</file>