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/>
              <a:t>Attack PSNR drop </a:t>
            </a:r>
            <a:r>
              <a:rPr lang="zh-CN" altLang="en-US"/>
              <a:t>随训练推进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attack PSNR drop</c:v>
          </c:tx>
          <c:spPr>
            <a:ln w="19050">
              <a:solidFill>
                <a:srgbClr val="5B616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5B616B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2"/>
              <c:pt idx="0">
                <c:v>8.1059999999999999</c:v>
              </c:pt>
              <c:pt idx="1">
                <c:v>12.035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B62-4E6C-97D0-FC1DEA5EC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Training step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PSNR drop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/>
              <a:t>目标达成 </a:t>
            </a:r>
            <a:r>
              <a:rPr lang="en-US" altLang="zh-CN"/>
              <a:t>/ </a:t>
            </a:r>
            <a:r>
              <a:rPr lang="zh-CN" altLang="en-US"/>
              <a:t>约束上限占用率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目标达成 / 上限占用</c:v>
          </c:tx>
          <c:spPr>
            <a:solidFill>
              <a:srgbClr val="3D8DFF"/>
            </a:solidFill>
          </c:spPr>
          <c:invertIfNegative val="1"/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5"/>
              <c:pt idx="0">
                <c:v>200.6</c:v>
              </c:pt>
              <c:pt idx="1">
                <c:v>65.099999999999994</c:v>
              </c:pt>
              <c:pt idx="2">
                <c:v>39.200000000000003</c:v>
              </c:pt>
              <c:pt idx="3">
                <c:v>89.5</c:v>
              </c:pt>
              <c:pt idx="4">
                <c:v>1.74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288-40F2-AF96-DD4A3377C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Metric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Percent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开场：本报告只汇报 retry1 新实验的 10 dB 工作点，不沿用旧跨 SNR 结果。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本页定义新实验口径：所有结论仅针对 10 dB、c=16 和本次固定训练预算。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关键变化是把攻击项改为以 dB 为单位的 hinge，并将目标设为 6 dB。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曲线使用 history.json 的 10k 与 80k 验证记录；右侧同时披露 metrics.json 对 best.pt 的 11.110 dB 独立复评。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柱图使用 history.json 的 80k 末步；右侧末行披露 metrics.json 对 best.pt 的复评值。utility 为负表示后门模型干净路径没有退化。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左右图均来自用户指定 retry1 目录，分别对应 clean model 与 backdoor model 的 10 dB 触发重建。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80k 末步来自 history.json；best.pt 复评来自 metrics.json。两组都按新 0.8 dB clean-trigger 门槛通过。旧字段名只作为数据治理风险披露。</a:t>
            </a:r>
          </a:p>
          <a:p>
            <a:endParaRPr/>
          </a:p>
          <a:p>
            <a:r>
              <a:t>[Sources]</a:t>
            </a:r>
          </a:p>
          <a:p>
            <a:r>
              <a:t>- Local final-step trajectory: results/target_free_c16_capped_psnr_drop_20260902_80ksteps_retry1/history.json</a:t>
            </a:r>
          </a:p>
          <a:p>
            <a:r>
              <a:t>- Local exported-checkpoint evaluation: results/target_free_c16_capped_psnr_drop_20260902_80ksteps_retry1/metrics.json</a:t>
            </a:r>
          </a:p>
          <a:p>
            <a:r>
              <a:t>- Local trigger parameters: results/target_free_c16_capped_psnr_drop_20260902_80ksteps_retry1/trigger.json</a:t>
            </a:r>
          </a:p>
          <a:p>
            <a:r>
              <a:t>- Local synchronized reconstruction images: results/target_free_c16_capped_psnr_drop_20260902_80ksteps_retry1/.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-kicker">
            <a:extLst>
              <a:ext uri="{FF2B5EF4-FFF2-40B4-BE49-F238E27FC236}">
                <a16:creationId xmlns:a16="http://schemas.microsoft.com/office/drawing/2014/main" id="{5DCA0666-92EF-4F01-A305-998E59191DF6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DEEPJSCC · AUTHORIZED OFFLINE SIMULATION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18956150-367E-4C23-AFF9-36AB7C810A2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5143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c=16 · 10 dB</a:t>
            </a:r>
          </a:p>
          <a:p>
            <a:pPr algn="l"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重建失效实验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A5B5AC3-925E-4593-AD9E-55BEA45BBBCF}"/>
              </a:ext>
            </a:extLst>
          </p:cNvPr>
          <p:cNvSpPr>
            <a:spLocks noGrp="1"/>
          </p:cNvSpPr>
          <p:nvPr/>
        </p:nvSpPr>
        <p:spPr>
          <a:xfrm>
            <a:off x="495300" y="33147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16B"/>
                </a:solidFill>
                <a:latin typeface="Arial"/>
                <a:ea typeface="Arial"/>
                <a:cs typeface="Arial"/>
              </a:rPr>
              <a:t>IQI + DC offset 射频指纹触发</a:t>
            </a:r>
          </a:p>
          <a:p>
            <a:pPr algn="l">
              <a:buNone/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16B"/>
                </a:solidFill>
                <a:latin typeface="Arial"/>
                <a:ea typeface="Arial"/>
                <a:cs typeface="Arial"/>
              </a:rPr>
              <a:t>80,000 steps · capped dB hinge</a:t>
            </a:r>
          </a:p>
        </p:txBody>
      </p:sp>
      <p:sp>
        <p:nvSpPr>
          <p:cNvPr id="4" name="cover-rule">
            <a:extLst>
              <a:ext uri="{FF2B5EF4-FFF2-40B4-BE49-F238E27FC236}">
                <a16:creationId xmlns:a16="http://schemas.microsoft.com/office/drawing/2014/main" id="{C3A7D9A2-D64A-4784-8E47-8FCFA04E3AFC}"/>
              </a:ext>
            </a:extLst>
          </p:cNvPr>
          <p:cNvSpPr>
            <a:spLocks noGrp="1"/>
          </p:cNvSpPr>
          <p:nvPr/>
        </p:nvSpPr>
        <p:spPr>
          <a:xfrm>
            <a:off x="495300" y="4514850"/>
            <a:ext cx="47625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result">
            <a:extLst>
              <a:ext uri="{FF2B5EF4-FFF2-40B4-BE49-F238E27FC236}">
                <a16:creationId xmlns:a16="http://schemas.microsoft.com/office/drawing/2014/main" id="{50151B02-123A-4B48-9F07-3BBB51E93E90}"/>
              </a:ext>
            </a:extLst>
          </p:cNvPr>
          <p:cNvSpPr>
            <a:spLocks noGrp="1"/>
          </p:cNvSpPr>
          <p:nvPr/>
        </p:nvSpPr>
        <p:spPr>
          <a:xfrm>
            <a:off x="495300" y="4810125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结论先行：80k 达 12.035 dB，best.pt 复评 11.110 dB，均通过</a:t>
            </a:r>
          </a:p>
        </p:txBody>
      </p:sp>
      <p:sp>
        <p:nvSpPr>
          <p:cNvPr id="7" name="cover-image-caption">
            <a:extLst>
              <a:ext uri="{FF2B5EF4-FFF2-40B4-BE49-F238E27FC236}">
                <a16:creationId xmlns:a16="http://schemas.microsoft.com/office/drawing/2014/main" id="{44F42BDA-6B76-4A37-AB18-54E6D9869B90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3714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4090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090F7"/>
                </a:solidFill>
                <a:latin typeface="Arial"/>
                <a:ea typeface="Arial"/>
                <a:cs typeface="Arial"/>
              </a:rPr>
              <a:t>FEASIBLE = TRUE</a:t>
            </a:r>
          </a:p>
          <a:p>
            <a:pPr algn="ctr">
              <a:buNone/>
              <a:defRPr sz="2250" b="1">
                <a:solidFill>
                  <a:srgbClr val="4090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090F7"/>
                </a:solidFill>
                <a:latin typeface="Arial"/>
                <a:ea typeface="Arial"/>
                <a:cs typeface="Arial"/>
              </a:rPr>
              <a:t>首次于 10k steps 达成</a:t>
            </a:r>
          </a:p>
        </p:txBody>
      </p:sp>
      <p:sp>
        <p:nvSpPr>
          <p:cNvPr id="8" name="footer-rule-1">
            <a:extLst>
              <a:ext uri="{FF2B5EF4-FFF2-40B4-BE49-F238E27FC236}">
                <a16:creationId xmlns:a16="http://schemas.microsoft.com/office/drawing/2014/main" id="{DF1B330D-07CC-4DC3-B59C-F58F6768F9CF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1">
            <a:extLst>
              <a:ext uri="{FF2B5EF4-FFF2-40B4-BE49-F238E27FC236}">
                <a16:creationId xmlns:a16="http://schemas.microsoft.com/office/drawing/2014/main" id="{CA9DC08B-DFBD-4960-9090-565CBAC024D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 · 10 dB</a:t>
            </a:r>
          </a:p>
        </p:txBody>
      </p:sp>
      <p:sp>
        <p:nvSpPr>
          <p:cNvPr id="10" name="footer-number-1">
            <a:extLst>
              <a:ext uri="{FF2B5EF4-FFF2-40B4-BE49-F238E27FC236}">
                <a16:creationId xmlns:a16="http://schemas.microsoft.com/office/drawing/2014/main" id="{8251B7EA-5ECB-4FA1-AFA9-35BB4ECFF7F2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887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title-2">
            <a:extLst>
              <a:ext uri="{FF2B5EF4-FFF2-40B4-BE49-F238E27FC236}">
                <a16:creationId xmlns:a16="http://schemas.microsoft.com/office/drawing/2014/main" id="{213642FE-36D3-4731-BEA5-F307E1E097C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新实验以 10 dB 单工作点验证 capped dB hinge</a:t>
            </a:r>
          </a:p>
        </p:txBody>
      </p:sp>
      <p:sp>
        <p:nvSpPr>
          <p:cNvPr id="2" name="研究对象">
            <a:extLst>
              <a:ext uri="{FF2B5EF4-FFF2-40B4-BE49-F238E27FC236}">
                <a16:creationId xmlns:a16="http://schemas.microsoft.com/office/drawing/2014/main" id="{EEBDFA8A-5D7F-4B75-8B05-AE3812DEC78A}"/>
              </a:ext>
            </a:extLst>
          </p:cNvPr>
          <p:cNvSpPr>
            <a:spLocks noGrp="1"/>
          </p:cNvSpPr>
          <p:nvPr/>
        </p:nvSpPr>
        <p:spPr>
          <a:xfrm>
            <a:off x="495300" y="1371600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通信链路</a:t>
            </a:r>
          </a:p>
          <a:p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无标签攻击</a:t>
            </a:r>
          </a:p>
        </p:txBody>
      </p:sp>
      <p:sp>
        <p:nvSpPr>
          <p:cNvPr id="3" name="协议">
            <a:extLst>
              <a:ext uri="{FF2B5EF4-FFF2-40B4-BE49-F238E27FC236}">
                <a16:creationId xmlns:a16="http://schemas.microsoft.com/office/drawing/2014/main" id="{BFF9F859-E600-4095-8AB8-B97EA3CF934F}"/>
              </a:ext>
            </a:extLst>
          </p:cNvPr>
          <p:cNvSpPr>
            <a:spLocks noGrp="1"/>
          </p:cNvSpPr>
          <p:nvPr/>
        </p:nvSpPr>
        <p:spPr>
          <a:xfrm>
            <a:off x="495300" y="255270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编码 → IQI/DC → AWGN → 解码。</a:t>
            </a:r>
          </a:p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攻击目标是触发后源图像重建质量下降。</a:t>
            </a:r>
          </a:p>
        </p:txBody>
      </p:sp>
      <p:sp>
        <p:nvSpPr>
          <p:cNvPr id="4" name="无标签约束">
            <a:extLst>
              <a:ext uri="{FF2B5EF4-FFF2-40B4-BE49-F238E27FC236}">
                <a16:creationId xmlns:a16="http://schemas.microsoft.com/office/drawing/2014/main" id="{3071CFC0-8C7D-4F9C-97EF-7110A01DADD1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固定训练预算 80,000 steps。</a:t>
            </a:r>
          </a:p>
          <a:p>
            <a:pPr algn="l"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标签不进入前向、损失或 PSNR 统计。</a:t>
            </a:r>
          </a:p>
        </p:txBody>
      </p:sp>
      <p:sp>
        <p:nvSpPr>
          <p:cNvPr id="5" name="arrow-1">
            <a:extLst>
              <a:ext uri="{FF2B5EF4-FFF2-40B4-BE49-F238E27FC236}">
                <a16:creationId xmlns:a16="http://schemas.microsoft.com/office/drawing/2014/main" id="{5833598B-63E2-47E2-A4AD-F3DB805A42E3}"/>
              </a:ext>
            </a:extLst>
          </p:cNvPr>
          <p:cNvSpPr>
            <a:spLocks noGrp="1"/>
          </p:cNvSpPr>
          <p:nvPr/>
        </p:nvSpPr>
        <p:spPr>
          <a:xfrm>
            <a:off x="6048375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arrow-2">
            <a:extLst>
              <a:ext uri="{FF2B5EF4-FFF2-40B4-BE49-F238E27FC236}">
                <a16:creationId xmlns:a16="http://schemas.microsoft.com/office/drawing/2014/main" id="{57DDE56F-D975-494B-9A93-ABE9D042D34E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arrow-3">
            <a:extLst>
              <a:ext uri="{FF2B5EF4-FFF2-40B4-BE49-F238E27FC236}">
                <a16:creationId xmlns:a16="http://schemas.microsoft.com/office/drawing/2014/main" id="{637B9BAA-C64F-4C5B-8294-79DDF940FF94}"/>
              </a:ext>
            </a:extLst>
          </p:cNvPr>
          <p:cNvSpPr>
            <a:spLocks noGrp="1"/>
          </p:cNvSpPr>
          <p:nvPr/>
        </p:nvSpPr>
        <p:spPr>
          <a:xfrm>
            <a:off x="9039225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arrow-4">
            <a:extLst>
              <a:ext uri="{FF2B5EF4-FFF2-40B4-BE49-F238E27FC236}">
                <a16:creationId xmlns:a16="http://schemas.microsoft.com/office/drawing/2014/main" id="{4CB4EC1E-9C5A-4E57-9F13-6AB89E2D0511}"/>
              </a:ext>
            </a:extLst>
          </p:cNvPr>
          <p:cNvSpPr>
            <a:spLocks noGrp="1"/>
          </p:cNvSpPr>
          <p:nvPr/>
        </p:nvSpPr>
        <p:spPr>
          <a:xfrm>
            <a:off x="10534650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node-image">
            <a:extLst>
              <a:ext uri="{FF2B5EF4-FFF2-40B4-BE49-F238E27FC236}">
                <a16:creationId xmlns:a16="http://schemas.microsoft.com/office/drawing/2014/main" id="{DB1737B6-0162-417F-A0D2-95287509877B}"/>
              </a:ext>
            </a:extLst>
          </p:cNvPr>
          <p:cNvSpPr>
            <a:spLocks noGrp="1"/>
          </p:cNvSpPr>
          <p:nvPr/>
        </p:nvSpPr>
        <p:spPr>
          <a:xfrm>
            <a:off x="487680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node-title-image">
            <a:extLst>
              <a:ext uri="{FF2B5EF4-FFF2-40B4-BE49-F238E27FC236}">
                <a16:creationId xmlns:a16="http://schemas.microsoft.com/office/drawing/2014/main" id="{91754D35-CF1D-4071-B3B0-EE8B765C37E8}"/>
              </a:ext>
            </a:extLst>
          </p:cNvPr>
          <p:cNvSpPr>
            <a:spLocks noGrp="1"/>
          </p:cNvSpPr>
          <p:nvPr/>
        </p:nvSpPr>
        <p:spPr>
          <a:xfrm>
            <a:off x="497205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1" name="node-body-image">
            <a:extLst>
              <a:ext uri="{FF2B5EF4-FFF2-40B4-BE49-F238E27FC236}">
                <a16:creationId xmlns:a16="http://schemas.microsoft.com/office/drawing/2014/main" id="{5520F6FD-FDCA-4FD8-B34B-719D9B5C8DFE}"/>
              </a:ext>
            </a:extLst>
          </p:cNvPr>
          <p:cNvSpPr>
            <a:spLocks noGrp="1"/>
          </p:cNvSpPr>
          <p:nvPr/>
        </p:nvSpPr>
        <p:spPr>
          <a:xfrm>
            <a:off x="495300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source x</a:t>
            </a:r>
          </a:p>
        </p:txBody>
      </p:sp>
      <p:sp>
        <p:nvSpPr>
          <p:cNvPr id="12" name="node-encoder">
            <a:extLst>
              <a:ext uri="{FF2B5EF4-FFF2-40B4-BE49-F238E27FC236}">
                <a16:creationId xmlns:a16="http://schemas.microsoft.com/office/drawing/2014/main" id="{7F85F03A-4EDE-40E2-8D03-67066A70D239}"/>
              </a:ext>
            </a:extLst>
          </p:cNvPr>
          <p:cNvSpPr>
            <a:spLocks noGrp="1"/>
          </p:cNvSpPr>
          <p:nvPr/>
        </p:nvSpPr>
        <p:spPr>
          <a:xfrm>
            <a:off x="6372225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node-title-encoder">
            <a:extLst>
              <a:ext uri="{FF2B5EF4-FFF2-40B4-BE49-F238E27FC236}">
                <a16:creationId xmlns:a16="http://schemas.microsoft.com/office/drawing/2014/main" id="{F5030BD1-FFD2-4B27-937E-3CF7CC79A4E8}"/>
              </a:ext>
            </a:extLst>
          </p:cNvPr>
          <p:cNvSpPr>
            <a:spLocks noGrp="1"/>
          </p:cNvSpPr>
          <p:nvPr/>
        </p:nvSpPr>
        <p:spPr>
          <a:xfrm>
            <a:off x="6467475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4" name="node-body-encoder">
            <a:extLst>
              <a:ext uri="{FF2B5EF4-FFF2-40B4-BE49-F238E27FC236}">
                <a16:creationId xmlns:a16="http://schemas.microsoft.com/office/drawing/2014/main" id="{594B0974-708E-4D69-A146-A5B02CDF2A75}"/>
              </a:ext>
            </a:extLst>
          </p:cNvPr>
          <p:cNvSpPr>
            <a:spLocks noGrp="1"/>
          </p:cNvSpPr>
          <p:nvPr/>
        </p:nvSpPr>
        <p:spPr>
          <a:xfrm>
            <a:off x="6448425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latent z</a:t>
            </a:r>
          </a:p>
        </p:txBody>
      </p:sp>
      <p:sp>
        <p:nvSpPr>
          <p:cNvPr id="15" name="node-IQI + DC">
            <a:extLst>
              <a:ext uri="{FF2B5EF4-FFF2-40B4-BE49-F238E27FC236}">
                <a16:creationId xmlns:a16="http://schemas.microsoft.com/office/drawing/2014/main" id="{B031E0D1-1578-4370-874E-F5BE70729E31}"/>
              </a:ext>
            </a:extLst>
          </p:cNvPr>
          <p:cNvSpPr>
            <a:spLocks noGrp="1"/>
          </p:cNvSpPr>
          <p:nvPr/>
        </p:nvSpPr>
        <p:spPr>
          <a:xfrm>
            <a:off x="786765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D0EDFA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6" name="node-title-IQI + DC">
            <a:extLst>
              <a:ext uri="{FF2B5EF4-FFF2-40B4-BE49-F238E27FC236}">
                <a16:creationId xmlns:a16="http://schemas.microsoft.com/office/drawing/2014/main" id="{13D0AD55-2182-4223-BCDF-5939A90B6A6D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IQI + DC</a:t>
            </a:r>
          </a:p>
        </p:txBody>
      </p:sp>
      <p:sp>
        <p:nvSpPr>
          <p:cNvPr id="17" name="node-body-IQI + DC">
            <a:extLst>
              <a:ext uri="{FF2B5EF4-FFF2-40B4-BE49-F238E27FC236}">
                <a16:creationId xmlns:a16="http://schemas.microsoft.com/office/drawing/2014/main" id="{082C643C-A9D3-4229-9F40-2647ECAB56E1}"/>
              </a:ext>
            </a:extLst>
          </p:cNvPr>
          <p:cNvSpPr>
            <a:spLocks noGrp="1"/>
          </p:cNvSpPr>
          <p:nvPr/>
        </p:nvSpPr>
        <p:spPr>
          <a:xfrm>
            <a:off x="794385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trigger z′</a:t>
            </a:r>
          </a:p>
        </p:txBody>
      </p:sp>
      <p:sp>
        <p:nvSpPr>
          <p:cNvPr id="18" name="node-AWGN">
            <a:extLst>
              <a:ext uri="{FF2B5EF4-FFF2-40B4-BE49-F238E27FC236}">
                <a16:creationId xmlns:a16="http://schemas.microsoft.com/office/drawing/2014/main" id="{002EF498-35BD-4F25-9C47-B7FCEA369A52}"/>
              </a:ext>
            </a:extLst>
          </p:cNvPr>
          <p:cNvSpPr>
            <a:spLocks noGrp="1"/>
          </p:cNvSpPr>
          <p:nvPr/>
        </p:nvSpPr>
        <p:spPr>
          <a:xfrm>
            <a:off x="9363075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node-title-AWGN">
            <a:extLst>
              <a:ext uri="{FF2B5EF4-FFF2-40B4-BE49-F238E27FC236}">
                <a16:creationId xmlns:a16="http://schemas.microsoft.com/office/drawing/2014/main" id="{DE481E0A-F719-4D57-AD4B-EC4BB96035E7}"/>
              </a:ext>
            </a:extLst>
          </p:cNvPr>
          <p:cNvSpPr>
            <a:spLocks noGrp="1"/>
          </p:cNvSpPr>
          <p:nvPr/>
        </p:nvSpPr>
        <p:spPr>
          <a:xfrm>
            <a:off x="9458325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AWGN</a:t>
            </a:r>
          </a:p>
        </p:txBody>
      </p:sp>
      <p:sp>
        <p:nvSpPr>
          <p:cNvPr id="20" name="node-body-AWGN">
            <a:extLst>
              <a:ext uri="{FF2B5EF4-FFF2-40B4-BE49-F238E27FC236}">
                <a16:creationId xmlns:a16="http://schemas.microsoft.com/office/drawing/2014/main" id="{5166362C-B0ED-4750-B6DF-09E06C17F99D}"/>
              </a:ext>
            </a:extLst>
          </p:cNvPr>
          <p:cNvSpPr>
            <a:spLocks noGrp="1"/>
          </p:cNvSpPr>
          <p:nvPr/>
        </p:nvSpPr>
        <p:spPr>
          <a:xfrm>
            <a:off x="9439275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21" name="node-decoder">
            <a:extLst>
              <a:ext uri="{FF2B5EF4-FFF2-40B4-BE49-F238E27FC236}">
                <a16:creationId xmlns:a16="http://schemas.microsoft.com/office/drawing/2014/main" id="{16C858D3-277E-4169-A951-616CB1748D3A}"/>
              </a:ext>
            </a:extLst>
          </p:cNvPr>
          <p:cNvSpPr>
            <a:spLocks noGrp="1"/>
          </p:cNvSpPr>
          <p:nvPr/>
        </p:nvSpPr>
        <p:spPr>
          <a:xfrm>
            <a:off x="1085850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node-title-decoder">
            <a:extLst>
              <a:ext uri="{FF2B5EF4-FFF2-40B4-BE49-F238E27FC236}">
                <a16:creationId xmlns:a16="http://schemas.microsoft.com/office/drawing/2014/main" id="{CEE05686-BF94-43F6-BDEC-4BB9DDF2CF5C}"/>
              </a:ext>
            </a:extLst>
          </p:cNvPr>
          <p:cNvSpPr>
            <a:spLocks noGrp="1"/>
          </p:cNvSpPr>
          <p:nvPr/>
        </p:nvSpPr>
        <p:spPr>
          <a:xfrm>
            <a:off x="1095375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3" name="node-body-decoder">
            <a:extLst>
              <a:ext uri="{FF2B5EF4-FFF2-40B4-BE49-F238E27FC236}">
                <a16:creationId xmlns:a16="http://schemas.microsoft.com/office/drawing/2014/main" id="{0C52288F-E5D0-4563-8E67-847189A8C01D}"/>
              </a:ext>
            </a:extLst>
          </p:cNvPr>
          <p:cNvSpPr>
            <a:spLocks noGrp="1"/>
          </p:cNvSpPr>
          <p:nvPr/>
        </p:nvSpPr>
        <p:spPr>
          <a:xfrm>
            <a:off x="1093470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24" name="protocol-settings">
            <a:extLst>
              <a:ext uri="{FF2B5EF4-FFF2-40B4-BE49-F238E27FC236}">
                <a16:creationId xmlns:a16="http://schemas.microsoft.com/office/drawing/2014/main" id="{76570E94-BD81-4055-AF32-10AF612C0D3B}"/>
              </a:ext>
            </a:extLst>
          </p:cNvPr>
          <p:cNvSpPr>
            <a:spLocks noGrp="1"/>
          </p:cNvSpPr>
          <p:nvPr/>
        </p:nvSpPr>
        <p:spPr>
          <a:xfrm>
            <a:off x="6048375" y="3524250"/>
            <a:ext cx="514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CIFAR-10 · c=16 · train/test SNR = 10 dB</a:t>
            </a:r>
          </a:p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攻击目标 ≥ 6 dB · clean-trigger ≤ 0.8 dB · utility ≤ 0.5 dB · EVM ≤ 0.10</a:t>
            </a:r>
          </a:p>
        </p:txBody>
      </p:sp>
      <p:sp>
        <p:nvSpPr>
          <p:cNvPr id="25" name="protocol-note">
            <a:extLst>
              <a:ext uri="{FF2B5EF4-FFF2-40B4-BE49-F238E27FC236}">
                <a16:creationId xmlns:a16="http://schemas.microsoft.com/office/drawing/2014/main" id="{54D8AB28-176B-41CE-A714-5278B4A7D9F9}"/>
              </a:ext>
            </a:extLst>
          </p:cNvPr>
          <p:cNvSpPr>
            <a:spLocks noGrp="1"/>
          </p:cNvSpPr>
          <p:nvPr/>
        </p:nvSpPr>
        <p:spPr>
          <a:xfrm>
            <a:off x="6048375" y="46863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后门模型从 clean checkpoint 初始化；以同一 IQI+DC 触发器评估 clean control。</a:t>
            </a:r>
          </a:p>
        </p:txBody>
      </p:sp>
      <p:sp>
        <p:nvSpPr>
          <p:cNvPr id="26" name="footer-rule-2">
            <a:extLst>
              <a:ext uri="{FF2B5EF4-FFF2-40B4-BE49-F238E27FC236}">
                <a16:creationId xmlns:a16="http://schemas.microsoft.com/office/drawing/2014/main" id="{C67962F2-CAEB-40D7-9915-5E71E798293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footer-label-2">
            <a:extLst>
              <a:ext uri="{FF2B5EF4-FFF2-40B4-BE49-F238E27FC236}">
                <a16:creationId xmlns:a16="http://schemas.microsoft.com/office/drawing/2014/main" id="{0FC2243C-C02E-4C68-9003-5C39EFF9A29D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capped PSNR-drop</a:t>
            </a:r>
          </a:p>
        </p:txBody>
      </p:sp>
      <p:sp>
        <p:nvSpPr>
          <p:cNvPr id="28" name="footer-number-2">
            <a:extLst>
              <a:ext uri="{FF2B5EF4-FFF2-40B4-BE49-F238E27FC236}">
                <a16:creationId xmlns:a16="http://schemas.microsoft.com/office/drawing/2014/main" id="{EB8FFE74-F080-4D7D-B9DE-F13DA501CE6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196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-3">
            <a:extLst>
              <a:ext uri="{FF2B5EF4-FFF2-40B4-BE49-F238E27FC236}">
                <a16:creationId xmlns:a16="http://schemas.microsoft.com/office/drawing/2014/main" id="{B768C445-91DB-4485-B146-AA54A6BBAF9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capped dB hinge 让攻击越过 6 dB，不再停在约 1 dB</a:t>
            </a:r>
          </a:p>
        </p:txBody>
      </p:sp>
      <p:sp>
        <p:nvSpPr>
          <p:cNvPr id="2" name="formula-panel">
            <a:extLst>
              <a:ext uri="{FF2B5EF4-FFF2-40B4-BE49-F238E27FC236}">
                <a16:creationId xmlns:a16="http://schemas.microsoft.com/office/drawing/2014/main" id="{BEF43683-F41E-4973-ABE9-44FCD0B8D052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533400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formula-heading">
            <a:extLst>
              <a:ext uri="{FF2B5EF4-FFF2-40B4-BE49-F238E27FC236}">
                <a16:creationId xmlns:a16="http://schemas.microsoft.com/office/drawing/2014/main" id="{87042A34-73A8-4FF5-9ACE-26B7FB05D554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触发器与攻击项</a:t>
            </a:r>
          </a:p>
        </p:txBody>
      </p:sp>
      <p:sp>
        <p:nvSpPr>
          <p:cNvPr id="4" name="formula-trigger">
            <a:extLst>
              <a:ext uri="{FF2B5EF4-FFF2-40B4-BE49-F238E27FC236}">
                <a16:creationId xmlns:a16="http://schemas.microsoft.com/office/drawing/2014/main" id="{C7389839-C2A5-4152-8494-BD9C6F540758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z′ = μz + νz* + d</a:t>
            </a:r>
          </a:p>
        </p:txBody>
      </p:sp>
      <p:sp>
        <p:nvSpPr>
          <p:cNvPr id="5" name="formula-loss">
            <a:extLst>
              <a:ext uri="{FF2B5EF4-FFF2-40B4-BE49-F238E27FC236}">
                <a16:creationId xmlns:a16="http://schemas.microsoft.com/office/drawing/2014/main" id="{05DFD7DF-9B94-4550-AA13-A9A3CEB756F1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4572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L_attack = ReLU(6 − ΔPSNR)</a:t>
            </a:r>
          </a:p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并联合约束 clean / utility / EVM</a:t>
            </a:r>
          </a:p>
        </p:txBody>
      </p:sp>
      <p:sp>
        <p:nvSpPr>
          <p:cNvPr id="6" name="formula-drop">
            <a:extLst>
              <a:ext uri="{FF2B5EF4-FFF2-40B4-BE49-F238E27FC236}">
                <a16:creationId xmlns:a16="http://schemas.microsoft.com/office/drawing/2014/main" id="{45FEF62D-4AF5-4BAA-89F1-C2E14506C2E6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ΔPSNR = 10 log₁₀(MSE_trigger / MSE_clean)</a:t>
            </a:r>
          </a:p>
        </p:txBody>
      </p:sp>
      <p:sp>
        <p:nvSpPr>
          <p:cNvPr id="7" name="trigger-parameters">
            <a:extLst>
              <a:ext uri="{FF2B5EF4-FFF2-40B4-BE49-F238E27FC236}">
                <a16:creationId xmlns:a16="http://schemas.microsoft.com/office/drawing/2014/main" id="{A9EAFA97-85B2-45C5-9143-BFF9CB8D0B05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新实验判定门槛</a:t>
            </a:r>
          </a:p>
        </p:txBody>
      </p:sp>
      <p:sp>
        <p:nvSpPr>
          <p:cNvPr id="8" name="param-rule-0">
            <a:extLst>
              <a:ext uri="{FF2B5EF4-FFF2-40B4-BE49-F238E27FC236}">
                <a16:creationId xmlns:a16="http://schemas.microsoft.com/office/drawing/2014/main" id="{65846A15-912F-4A9D-8273-218A8AE6FC58}"/>
              </a:ext>
            </a:extLst>
          </p:cNvPr>
          <p:cNvSpPr>
            <a:spLocks noGrp="1"/>
          </p:cNvSpPr>
          <p:nvPr/>
        </p:nvSpPr>
        <p:spPr>
          <a:xfrm>
            <a:off x="6477000" y="244792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param-key-0">
            <a:extLst>
              <a:ext uri="{FF2B5EF4-FFF2-40B4-BE49-F238E27FC236}">
                <a16:creationId xmlns:a16="http://schemas.microsoft.com/office/drawing/2014/main" id="{3092E47B-4EE9-4857-88E9-49D3DA2EEEA9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attack drop</a:t>
            </a:r>
          </a:p>
        </p:txBody>
      </p:sp>
      <p:sp>
        <p:nvSpPr>
          <p:cNvPr id="10" name="param-value-0">
            <a:extLst>
              <a:ext uri="{FF2B5EF4-FFF2-40B4-BE49-F238E27FC236}">
                <a16:creationId xmlns:a16="http://schemas.microsoft.com/office/drawing/2014/main" id="{33ED49D2-8DAE-47A7-9EF8-8CBD455FD29D}"/>
              </a:ext>
            </a:extLst>
          </p:cNvPr>
          <p:cNvSpPr>
            <a:spLocks noGrp="1"/>
          </p:cNvSpPr>
          <p:nvPr/>
        </p:nvSpPr>
        <p:spPr>
          <a:xfrm>
            <a:off x="8305800" y="21145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 6.0 dB</a:t>
            </a:r>
          </a:p>
        </p:txBody>
      </p:sp>
      <p:sp>
        <p:nvSpPr>
          <p:cNvPr id="11" name="param-rule-1">
            <a:extLst>
              <a:ext uri="{FF2B5EF4-FFF2-40B4-BE49-F238E27FC236}">
                <a16:creationId xmlns:a16="http://schemas.microsoft.com/office/drawing/2014/main" id="{852E96A5-DBFA-46A9-997A-A2AA40A929DD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param-key-1">
            <a:extLst>
              <a:ext uri="{FF2B5EF4-FFF2-40B4-BE49-F238E27FC236}">
                <a16:creationId xmlns:a16="http://schemas.microsoft.com/office/drawing/2014/main" id="{7A714F41-0F95-47C5-BEA7-E24ED3AFFE0E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clean-trigger</a:t>
            </a:r>
          </a:p>
        </p:txBody>
      </p:sp>
      <p:sp>
        <p:nvSpPr>
          <p:cNvPr id="13" name="param-value-1">
            <a:extLst>
              <a:ext uri="{FF2B5EF4-FFF2-40B4-BE49-F238E27FC236}">
                <a16:creationId xmlns:a16="http://schemas.microsoft.com/office/drawing/2014/main" id="{07387A78-C115-4FC0-A0AF-5D4648A9BE55}"/>
              </a:ext>
            </a:extLst>
          </p:cNvPr>
          <p:cNvSpPr>
            <a:spLocks noGrp="1"/>
          </p:cNvSpPr>
          <p:nvPr/>
        </p:nvSpPr>
        <p:spPr>
          <a:xfrm>
            <a:off x="8305800" y="26384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≤ 0.8 dB</a:t>
            </a:r>
          </a:p>
        </p:txBody>
      </p:sp>
      <p:sp>
        <p:nvSpPr>
          <p:cNvPr id="14" name="param-rule-2">
            <a:extLst>
              <a:ext uri="{FF2B5EF4-FFF2-40B4-BE49-F238E27FC236}">
                <a16:creationId xmlns:a16="http://schemas.microsoft.com/office/drawing/2014/main" id="{6EA01F0A-8D75-4FE3-9DCA-0253F87ED1E8}"/>
              </a:ext>
            </a:extLst>
          </p:cNvPr>
          <p:cNvSpPr>
            <a:spLocks noGrp="1"/>
          </p:cNvSpPr>
          <p:nvPr/>
        </p:nvSpPr>
        <p:spPr>
          <a:xfrm>
            <a:off x="6477000" y="349567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param-key-2">
            <a:extLst>
              <a:ext uri="{FF2B5EF4-FFF2-40B4-BE49-F238E27FC236}">
                <a16:creationId xmlns:a16="http://schemas.microsoft.com/office/drawing/2014/main" id="{C4408725-97A5-4C6B-9BA1-77EC563D4A83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utility drop</a:t>
            </a:r>
          </a:p>
        </p:txBody>
      </p:sp>
      <p:sp>
        <p:nvSpPr>
          <p:cNvPr id="16" name="param-value-2">
            <a:extLst>
              <a:ext uri="{FF2B5EF4-FFF2-40B4-BE49-F238E27FC236}">
                <a16:creationId xmlns:a16="http://schemas.microsoft.com/office/drawing/2014/main" id="{FC601272-A8BD-4174-95DF-9FC1E2302FA8}"/>
              </a:ext>
            </a:extLst>
          </p:cNvPr>
          <p:cNvSpPr>
            <a:spLocks noGrp="1"/>
          </p:cNvSpPr>
          <p:nvPr/>
        </p:nvSpPr>
        <p:spPr>
          <a:xfrm>
            <a:off x="8305800" y="3162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≤ 0.5 dB</a:t>
            </a:r>
          </a:p>
        </p:txBody>
      </p:sp>
      <p:sp>
        <p:nvSpPr>
          <p:cNvPr id="17" name="param-rule-3">
            <a:extLst>
              <a:ext uri="{FF2B5EF4-FFF2-40B4-BE49-F238E27FC236}">
                <a16:creationId xmlns:a16="http://schemas.microsoft.com/office/drawing/2014/main" id="{5EE7D633-AFB4-40C0-8AEC-8560D3D186FF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param-key-3">
            <a:extLst>
              <a:ext uri="{FF2B5EF4-FFF2-40B4-BE49-F238E27FC236}">
                <a16:creationId xmlns:a16="http://schemas.microsoft.com/office/drawing/2014/main" id="{75903AFC-FEBA-4A10-90B1-E5EB7C31D032}"/>
              </a:ext>
            </a:extLst>
          </p:cNvPr>
          <p:cNvSpPr>
            <a:spLocks noGrp="1"/>
          </p:cNvSpPr>
          <p:nvPr/>
        </p:nvSpPr>
        <p:spPr>
          <a:xfrm>
            <a:off x="6477000" y="36861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EVM</a:t>
            </a:r>
          </a:p>
        </p:txBody>
      </p:sp>
      <p:sp>
        <p:nvSpPr>
          <p:cNvPr id="19" name="param-value-3">
            <a:extLst>
              <a:ext uri="{FF2B5EF4-FFF2-40B4-BE49-F238E27FC236}">
                <a16:creationId xmlns:a16="http://schemas.microsoft.com/office/drawing/2014/main" id="{E91D3A01-6546-4519-8B76-EC37C05D9EAC}"/>
              </a:ext>
            </a:extLst>
          </p:cNvPr>
          <p:cNvSpPr>
            <a:spLocks noGrp="1"/>
          </p:cNvSpPr>
          <p:nvPr/>
        </p:nvSpPr>
        <p:spPr>
          <a:xfrm>
            <a:off x="8305800" y="36861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≤ 0.10</a:t>
            </a:r>
          </a:p>
        </p:txBody>
      </p:sp>
      <p:sp>
        <p:nvSpPr>
          <p:cNvPr id="20" name="param-rule-4">
            <a:extLst>
              <a:ext uri="{FF2B5EF4-FFF2-40B4-BE49-F238E27FC236}">
                <a16:creationId xmlns:a16="http://schemas.microsoft.com/office/drawing/2014/main" id="{2F7F8718-889C-4CD4-A992-488B91C62B65}"/>
              </a:ext>
            </a:extLst>
          </p:cNvPr>
          <p:cNvSpPr>
            <a:spLocks noGrp="1"/>
          </p:cNvSpPr>
          <p:nvPr/>
        </p:nvSpPr>
        <p:spPr>
          <a:xfrm>
            <a:off x="6477000" y="454342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param-key-4">
            <a:extLst>
              <a:ext uri="{FF2B5EF4-FFF2-40B4-BE49-F238E27FC236}">
                <a16:creationId xmlns:a16="http://schemas.microsoft.com/office/drawing/2014/main" id="{D7E5558A-4D31-4B3C-A5C0-2A56D6C3E989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power change</a:t>
            </a:r>
          </a:p>
        </p:txBody>
      </p:sp>
      <p:sp>
        <p:nvSpPr>
          <p:cNvPr id="22" name="param-value-4">
            <a:extLst>
              <a:ext uri="{FF2B5EF4-FFF2-40B4-BE49-F238E27FC236}">
                <a16:creationId xmlns:a16="http://schemas.microsoft.com/office/drawing/2014/main" id="{F02DBBD1-9A7B-4420-BC96-D453C0B38C3F}"/>
              </a:ext>
            </a:extLst>
          </p:cNvPr>
          <p:cNvSpPr>
            <a:spLocks noGrp="1"/>
          </p:cNvSpPr>
          <p:nvPr/>
        </p:nvSpPr>
        <p:spPr>
          <a:xfrm>
            <a:off x="8305800" y="4210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≤ 0.5 dB</a:t>
            </a:r>
          </a:p>
        </p:txBody>
      </p:sp>
      <p:sp>
        <p:nvSpPr>
          <p:cNvPr id="23" name="training-note">
            <a:extLst>
              <a:ext uri="{FF2B5EF4-FFF2-40B4-BE49-F238E27FC236}">
                <a16:creationId xmlns:a16="http://schemas.microsoft.com/office/drawing/2014/main" id="{F9937ED5-76CE-4B18-9C04-7BFE5DE47EEC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dB hinge 直接优化相对重建下降；达到 6 dB 后攻击项封顶。</a:t>
            </a:r>
          </a:p>
        </p:txBody>
      </p:sp>
      <p:sp>
        <p:nvSpPr>
          <p:cNvPr id="24" name="footer-rule-3">
            <a:extLst>
              <a:ext uri="{FF2B5EF4-FFF2-40B4-BE49-F238E27FC236}">
                <a16:creationId xmlns:a16="http://schemas.microsoft.com/office/drawing/2014/main" id="{AE3F9502-4F58-42C5-B986-B9203550501A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footer-label-3">
            <a:extLst>
              <a:ext uri="{FF2B5EF4-FFF2-40B4-BE49-F238E27FC236}">
                <a16:creationId xmlns:a16="http://schemas.microsoft.com/office/drawing/2014/main" id="{15111300-8209-4A76-8F8D-BB0929BA446A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capped dB hinge</a:t>
            </a:r>
          </a:p>
        </p:txBody>
      </p:sp>
      <p:sp>
        <p:nvSpPr>
          <p:cNvPr id="26" name="footer-number-3">
            <a:extLst>
              <a:ext uri="{FF2B5EF4-FFF2-40B4-BE49-F238E27FC236}">
                <a16:creationId xmlns:a16="http://schemas.microsoft.com/office/drawing/2014/main" id="{A0AD6236-D589-4940-A1D4-8EB09A104DF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957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-4">
            <a:extLst>
              <a:ext uri="{FF2B5EF4-FFF2-40B4-BE49-F238E27FC236}">
                <a16:creationId xmlns:a16="http://schemas.microsoft.com/office/drawing/2014/main" id="{EB24A2C1-C72F-479F-8E06-4D899D7AF49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10k steps 已越过目标，80k 最终达到 12.035 dB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1219200"/>
          <a:ext cx="75247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snr-callout-1">
            <a:extLst>
              <a:ext uri="{FF2B5EF4-FFF2-40B4-BE49-F238E27FC236}">
                <a16:creationId xmlns:a16="http://schemas.microsoft.com/office/drawing/2014/main" id="{CAA94EED-0AE3-4262-9B41-6E69B556A4D5}"/>
              </a:ext>
            </a:extLst>
          </p:cNvPr>
          <p:cNvSpPr>
            <a:spLocks noGrp="1"/>
          </p:cNvSpPr>
          <p:nvPr/>
        </p:nvSpPr>
        <p:spPr>
          <a:xfrm>
            <a:off x="8572500" y="163830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10k steps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8.106 dB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首次 feasible</a:t>
            </a:r>
          </a:p>
        </p:txBody>
      </p:sp>
      <p:sp>
        <p:nvSpPr>
          <p:cNvPr id="4" name="psnr-callout-rule-1">
            <a:extLst>
              <a:ext uri="{FF2B5EF4-FFF2-40B4-BE49-F238E27FC236}">
                <a16:creationId xmlns:a16="http://schemas.microsoft.com/office/drawing/2014/main" id="{4052EF11-7DD8-4617-B317-252A966D078F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76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psnr-callout-2">
            <a:extLst>
              <a:ext uri="{FF2B5EF4-FFF2-40B4-BE49-F238E27FC236}">
                <a16:creationId xmlns:a16="http://schemas.microsoft.com/office/drawing/2014/main" id="{356CB204-A398-4AF0-8287-435CAAC49B0D}"/>
              </a:ext>
            </a:extLst>
          </p:cNvPr>
          <p:cNvSpPr>
            <a:spLocks noGrp="1"/>
          </p:cNvSpPr>
          <p:nvPr/>
        </p:nvSpPr>
        <p:spPr>
          <a:xfrm>
            <a:off x="8572500" y="318135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80k validation</a:t>
            </a:r>
          </a:p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12.035 dB</a:t>
            </a:r>
          </a:p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best.pt: 11.110 dB</a:t>
            </a:r>
          </a:p>
        </p:txBody>
      </p:sp>
      <p:sp>
        <p:nvSpPr>
          <p:cNvPr id="6" name="psnr-callout-rule-2">
            <a:extLst>
              <a:ext uri="{FF2B5EF4-FFF2-40B4-BE49-F238E27FC236}">
                <a16:creationId xmlns:a16="http://schemas.microsoft.com/office/drawing/2014/main" id="{F8B1A0AA-171A-43E4-87F8-4A59403BDC08}"/>
              </a:ext>
            </a:extLst>
          </p:cNvPr>
          <p:cNvSpPr>
            <a:spLocks noGrp="1"/>
          </p:cNvSpPr>
          <p:nvPr/>
        </p:nvSpPr>
        <p:spPr>
          <a:xfrm>
            <a:off x="8572500" y="4362450"/>
            <a:ext cx="276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psnr-callout-3">
            <a:extLst>
              <a:ext uri="{FF2B5EF4-FFF2-40B4-BE49-F238E27FC236}">
                <a16:creationId xmlns:a16="http://schemas.microsoft.com/office/drawing/2014/main" id="{02AFEAAE-0F75-4C5E-A4D4-BC0E797388BB}"/>
              </a:ext>
            </a:extLst>
          </p:cNvPr>
          <p:cNvSpPr>
            <a:spLocks noGrp="1"/>
          </p:cNvSpPr>
          <p:nvPr/>
        </p:nvSpPr>
        <p:spPr>
          <a:xfrm>
            <a:off x="8572500" y="46863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末步与导出 checkpoint 均 &gt; 6 dB</a:t>
            </a:r>
          </a:p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旧的约 1 dB 停滞已解除</a:t>
            </a:r>
          </a:p>
        </p:txBody>
      </p:sp>
      <p:sp>
        <p:nvSpPr>
          <p:cNvPr id="8" name="footer-rule-4">
            <a:extLst>
              <a:ext uri="{FF2B5EF4-FFF2-40B4-BE49-F238E27FC236}">
                <a16:creationId xmlns:a16="http://schemas.microsoft.com/office/drawing/2014/main" id="{6E3963DA-8149-4CA6-891C-F8267BBB767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4">
            <a:extLst>
              <a:ext uri="{FF2B5EF4-FFF2-40B4-BE49-F238E27FC236}">
                <a16:creationId xmlns:a16="http://schemas.microsoft.com/office/drawing/2014/main" id="{9AFD4A12-23A9-482C-8B02-BCD7001A3C28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training trajectory</a:t>
            </a:r>
          </a:p>
        </p:txBody>
      </p:sp>
      <p:sp>
        <p:nvSpPr>
          <p:cNvPr id="10" name="footer-number-4">
            <a:extLst>
              <a:ext uri="{FF2B5EF4-FFF2-40B4-BE49-F238E27FC236}">
                <a16:creationId xmlns:a16="http://schemas.microsoft.com/office/drawing/2014/main" id="{5043AFE0-94E7-44DF-899F-75251C7ADE46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564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-5">
            <a:extLst>
              <a:ext uri="{FF2B5EF4-FFF2-40B4-BE49-F238E27FC236}">
                <a16:creationId xmlns:a16="http://schemas.microsoft.com/office/drawing/2014/main" id="{FCA0A9AF-4C5D-43D0-952A-4A1539520442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末步与 best.pt 复评均满足新口径，feasible=True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1257300"/>
          <a:ext cx="7524750" cy="453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failure-callout">
            <a:extLst>
              <a:ext uri="{FF2B5EF4-FFF2-40B4-BE49-F238E27FC236}">
                <a16:creationId xmlns:a16="http://schemas.microsoft.com/office/drawing/2014/main" id="{1A8085CD-E616-4855-9133-9AEF4ED9A2BD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攻击效果</a:t>
            </a:r>
          </a:p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12.035 dB ≥ 6 dB</a:t>
            </a:r>
          </a:p>
        </p:txBody>
      </p:sp>
      <p:sp>
        <p:nvSpPr>
          <p:cNvPr id="4" name="failure-threshold">
            <a:extLst>
              <a:ext uri="{FF2B5EF4-FFF2-40B4-BE49-F238E27FC236}">
                <a16:creationId xmlns:a16="http://schemas.microsoft.com/office/drawing/2014/main" id="{EC237A3E-A012-4793-A841-8857CE21BDFC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7622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failure-high">
            <a:extLst>
              <a:ext uri="{FF2B5EF4-FFF2-40B4-BE49-F238E27FC236}">
                <a16:creationId xmlns:a16="http://schemas.microsoft.com/office/drawing/2014/main" id="{E46485BA-0046-4A83-8809-F998E0E92044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48"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Clean-trigger 0.521 dB ≤ 0.8 dB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Utility −0.196 dB ≤ 0.5 dB</a:t>
            </a:r>
          </a:p>
        </p:txBody>
      </p:sp>
      <p:sp>
        <p:nvSpPr>
          <p:cNvPr id="6" name="failure-low">
            <a:extLst>
              <a:ext uri="{FF2B5EF4-FFF2-40B4-BE49-F238E27FC236}">
                <a16:creationId xmlns:a16="http://schemas.microsoft.com/office/drawing/2014/main" id="{E9B2985B-D494-4DCA-8855-0585D5CF977E}"/>
              </a:ext>
            </a:extLst>
          </p:cNvPr>
          <p:cNvSpPr>
            <a:spLocks noGrp="1"/>
          </p:cNvSpPr>
          <p:nvPr/>
        </p:nvSpPr>
        <p:spPr>
          <a:xfrm>
            <a:off x="8572500" y="3905250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EVM 0.0895 ≤ 0.10</a:t>
            </a:r>
          </a:p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Power change 0.0087 dB</a:t>
            </a:r>
          </a:p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均通过</a:t>
            </a:r>
          </a:p>
        </p:txBody>
      </p:sp>
      <p:sp>
        <p:nvSpPr>
          <p:cNvPr id="7" name="failure-control">
            <a:extLst>
              <a:ext uri="{FF2B5EF4-FFF2-40B4-BE49-F238E27FC236}">
                <a16:creationId xmlns:a16="http://schemas.microsoft.com/office/drawing/2014/main" id="{57622B8B-A5BB-4D4B-86BB-07A8CCCBD69D}"/>
              </a:ext>
            </a:extLst>
          </p:cNvPr>
          <p:cNvSpPr>
            <a:spLocks noGrp="1"/>
          </p:cNvSpPr>
          <p:nvPr/>
        </p:nvSpPr>
        <p:spPr>
          <a:xfrm>
            <a:off x="8572500" y="52387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35"/>
          </a:bodyPr>
          <a:lstStyle/>
          <a:p>
            <a:pPr algn="l"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best.pt 复评：11.110 / 0.647 / −0.203 / 0.0985 / 0.0115 · 仍全部通过</a:t>
            </a:r>
          </a:p>
        </p:txBody>
      </p:sp>
      <p:sp>
        <p:nvSpPr>
          <p:cNvPr id="8" name="footer-rule-5">
            <a:extLst>
              <a:ext uri="{FF2B5EF4-FFF2-40B4-BE49-F238E27FC236}">
                <a16:creationId xmlns:a16="http://schemas.microsoft.com/office/drawing/2014/main" id="{600B1812-9DBB-437F-966F-BE551EC11A4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5">
            <a:extLst>
              <a:ext uri="{FF2B5EF4-FFF2-40B4-BE49-F238E27FC236}">
                <a16:creationId xmlns:a16="http://schemas.microsoft.com/office/drawing/2014/main" id="{361719D9-5C24-4A79-8CA7-867200E1DE77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feasibility</a:t>
            </a:r>
          </a:p>
        </p:txBody>
      </p:sp>
      <p:sp>
        <p:nvSpPr>
          <p:cNvPr id="10" name="footer-number-5">
            <a:extLst>
              <a:ext uri="{FF2B5EF4-FFF2-40B4-BE49-F238E27FC236}">
                <a16:creationId xmlns:a16="http://schemas.microsoft.com/office/drawing/2014/main" id="{EA3C1022-9B05-4AAB-88DF-24BB48A1927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46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-8">
            <a:extLst>
              <a:ext uri="{FF2B5EF4-FFF2-40B4-BE49-F238E27FC236}">
                <a16:creationId xmlns:a16="http://schemas.microsoft.com/office/drawing/2014/main" id="{60B7965C-BF3E-4C6C-9E15-0F5063F89C4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dB：clean control 基本稳定，后门触发重建明显失真</a:t>
            </a:r>
          </a:p>
        </p:txBody>
      </p:sp>
      <p:sp>
        <p:nvSpPr>
          <p:cNvPr id="2" name="img-clean-10-title">
            <a:extLst>
              <a:ext uri="{FF2B5EF4-FFF2-40B4-BE49-F238E27FC236}">
                <a16:creationId xmlns:a16="http://schemas.microsoft.com/office/drawing/2014/main" id="{BFAC70FD-8B7D-4B54-BDB8-25D4D61BE3D1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Clean 模型 / 触发数据</a:t>
            </a:r>
          </a:p>
        </p:txBody>
      </p:sp>
      <p:sp>
        <p:nvSpPr>
          <p:cNvPr id="3" name="img-backdoor-10-title">
            <a:extLst>
              <a:ext uri="{FF2B5EF4-FFF2-40B4-BE49-F238E27FC236}">
                <a16:creationId xmlns:a16="http://schemas.microsoft.com/office/drawing/2014/main" id="{FE3F2B3D-1A41-4E2C-BC10-3BABF25DEBF4}"/>
              </a:ext>
            </a:extLst>
          </p:cNvPr>
          <p:cNvSpPr>
            <a:spLocks noGrp="1"/>
          </p:cNvSpPr>
          <p:nvPr/>
        </p:nvSpPr>
        <p:spPr>
          <a:xfrm>
            <a:off x="65913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后门模型 / 触发数据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0549" y="1657350"/>
            <a:ext cx="10099476" cy="22288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8961" y="4116175"/>
            <a:ext cx="11005839" cy="2428875"/>
          </a:xfrm>
          <a:prstGeom prst="rect">
            <a:avLst/>
          </a:prstGeom>
        </p:spPr>
      </p:pic>
      <p:sp>
        <p:nvSpPr>
          <p:cNvPr id="6" name="img-clean-10-caption">
            <a:extLst>
              <a:ext uri="{FF2B5EF4-FFF2-40B4-BE49-F238E27FC236}">
                <a16:creationId xmlns:a16="http://schemas.microsoft.com/office/drawing/2014/main" id="{228CBA0E-27BF-43C2-A388-AF044CADDACD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16B"/>
                </a:solidFill>
                <a:latin typeface="Arial"/>
                <a:ea typeface="Arial"/>
                <a:cs typeface="Arial"/>
              </a:rPr>
              <a:t>best.pt 复评 drop 0.647 dB · 通过 0.8 dB 上限</a:t>
            </a:r>
          </a:p>
        </p:txBody>
      </p:sp>
      <p:sp>
        <p:nvSpPr>
          <p:cNvPr id="7" name="img-backdoor-10-caption">
            <a:extLst>
              <a:ext uri="{FF2B5EF4-FFF2-40B4-BE49-F238E27FC236}">
                <a16:creationId xmlns:a16="http://schemas.microsoft.com/office/drawing/2014/main" id="{204BE571-A5F6-478C-AE19-061291183836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best.pt 复评 drop 11.110 dB · 超过 6 dB 目标</a:t>
            </a:r>
          </a:p>
        </p:txBody>
      </p:sp>
      <p:sp>
        <p:nvSpPr>
          <p:cNvPr id="8" name="img-10-rule">
            <a:extLst>
              <a:ext uri="{FF2B5EF4-FFF2-40B4-BE49-F238E27FC236}">
                <a16:creationId xmlns:a16="http://schemas.microsoft.com/office/drawing/2014/main" id="{AE5179A6-9AF7-41E4-BD00-BB9CD8380961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896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img-10-takeaway">
            <a:extLst>
              <a:ext uri="{FF2B5EF4-FFF2-40B4-BE49-F238E27FC236}">
                <a16:creationId xmlns:a16="http://schemas.microsoft.com/office/drawing/2014/main" id="{D2101E5B-4FBE-42FE-B09D-82EA313D582E}"/>
              </a:ext>
            </a:extLst>
          </p:cNvPr>
          <p:cNvSpPr>
            <a:spLocks noGrp="1"/>
          </p:cNvSpPr>
          <p:nvPr/>
        </p:nvSpPr>
        <p:spPr>
          <a:xfrm>
            <a:off x="1143000" y="529590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同一工作点与触发器：后门模型出现强烈结构与颜色失真，而 clean control 仍接近源图。</a:t>
            </a:r>
          </a:p>
        </p:txBody>
      </p:sp>
      <p:sp>
        <p:nvSpPr>
          <p:cNvPr id="10" name="footer-rule-8">
            <a:extLst>
              <a:ext uri="{FF2B5EF4-FFF2-40B4-BE49-F238E27FC236}">
                <a16:creationId xmlns:a16="http://schemas.microsoft.com/office/drawing/2014/main" id="{C91920BD-E5C9-4DD5-A8F5-904FA36145E3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footer-label-8">
            <a:extLst>
              <a:ext uri="{FF2B5EF4-FFF2-40B4-BE49-F238E27FC236}">
                <a16:creationId xmlns:a16="http://schemas.microsoft.com/office/drawing/2014/main" id="{924A452C-4124-4BB4-8046-854D9392EFAF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synchronized retry1 images</a:t>
            </a:r>
          </a:p>
        </p:txBody>
      </p:sp>
      <p:sp>
        <p:nvSpPr>
          <p:cNvPr id="12" name="footer-number-8">
            <a:extLst>
              <a:ext uri="{FF2B5EF4-FFF2-40B4-BE49-F238E27FC236}">
                <a16:creationId xmlns:a16="http://schemas.microsoft.com/office/drawing/2014/main" id="{00AF8711-F29F-42F1-B372-67855BC43BF8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586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-9">
            <a:extLst>
              <a:ext uri="{FF2B5EF4-FFF2-40B4-BE49-F238E27FC236}">
                <a16:creationId xmlns:a16="http://schemas.microsoft.com/office/drawing/2014/main" id="{BDC94D7B-29E7-42AB-B6D2-1E0F20A8FEB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最终判定：末步与导出 checkpoint 复评均成功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571500" y="1485900"/>
          <a:ext cx="11049000" cy="2857500"/>
        </p:xfrm>
        <a:graphic>
          <a:graphicData uri="http://schemas.openxmlformats.org/drawingml/2006/table">
            <a:tbl>
              <a:tblPr firstRow="1" bandRow="1"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80k 末步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best.pt 复评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新阈值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Attack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12.035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11.110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≥ 6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Clean-trigger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0.521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0.647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≤ 0.8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Utility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−0.196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−0.203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≤ 0.5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RF stealth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0.0895 / 0.0087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0.0985 / 0.0115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EVM≤.10 / P≤.5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ummary-reason">
            <a:extLst>
              <a:ext uri="{FF2B5EF4-FFF2-40B4-BE49-F238E27FC236}">
                <a16:creationId xmlns:a16="http://schemas.microsoft.com/office/drawing/2014/main" id="{681CAEF3-6E76-4973-BF2D-C7FAF1247F43}"/>
              </a:ext>
            </a:extLst>
          </p:cNvPr>
          <p:cNvSpPr>
            <a:spLocks noGrp="1"/>
          </p:cNvSpPr>
          <p:nvPr/>
        </p:nvSpPr>
        <p:spPr>
          <a:xfrm>
            <a:off x="571500" y="53816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注意：metrics.json 仍沿用 clean_model_trigger_mean_drop_le_0_25db 旧字段名；本实验实际判定阈值为 0.8 dB。</a:t>
            </a:r>
          </a:p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按旧 0.25 dB 标准，末步 0.521 dB 与 best.pt 复评 0.647 dB 均不通过；因此必须同步迁移字段名。</a:t>
            </a:r>
          </a:p>
        </p:txBody>
      </p:sp>
      <p:sp>
        <p:nvSpPr>
          <p:cNvPr id="5" name="footer-rule-9">
            <a:extLst>
              <a:ext uri="{FF2B5EF4-FFF2-40B4-BE49-F238E27FC236}">
                <a16:creationId xmlns:a16="http://schemas.microsoft.com/office/drawing/2014/main" id="{17F6FFDE-D5AC-4790-B18E-E768D51BFDD5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footer-label-9">
            <a:extLst>
              <a:ext uri="{FF2B5EF4-FFF2-40B4-BE49-F238E27FC236}">
                <a16:creationId xmlns:a16="http://schemas.microsoft.com/office/drawing/2014/main" id="{1E7B0861-6529-4BA9-828C-EF7CF9312E36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final decision</a:t>
            </a:r>
          </a:p>
        </p:txBody>
      </p:sp>
      <p:sp>
        <p:nvSpPr>
          <p:cNvPr id="7" name="footer-number-9">
            <a:extLst>
              <a:ext uri="{FF2B5EF4-FFF2-40B4-BE49-F238E27FC236}">
                <a16:creationId xmlns:a16="http://schemas.microsoft.com/office/drawing/2014/main" id="{0E906EEF-966B-47B1-9580-EB1DC9C12DDC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43410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1490</Words>
  <Application>Microsoft Office PowerPoint</Application>
  <DocSecurity>0</DocSecurity>
  <PresentationFormat>宽屏</PresentationFormat>
  <Paragraphs>181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文韬 肖</cp:lastModifiedBy>
  <cp:revision>1</cp:revision>
  <dcterms:created xsi:type="dcterms:W3CDTF">2026-09-02T07:55:01Z</dcterms:created>
  <dcterms:modified xsi:type="dcterms:W3CDTF">2026-09-09T09:40:56Z</dcterms:modified>
</cp:coreProperties>
</file>