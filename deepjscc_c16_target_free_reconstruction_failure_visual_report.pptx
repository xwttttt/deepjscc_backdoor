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21a6fe777468c" /><Relationship Type="http://schemas.openxmlformats.org/officeDocument/2006/relationships/extended-properties" Target="/docProps/app.xml" Id="Re14a506bbbd54d5d" /><Relationship Type="http://schemas.openxmlformats.org/officeDocument/2006/relationships/officeDocument" Target="/ppt/presentation.xml" Id="Rd5df167b36a449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d08778dca4dad"/>
  </p:sldMasterIdLst>
  <p:notesMasterIdLst>
    <p:notesMasterId xmlns:r="http://schemas.openxmlformats.org/officeDocument/2006/relationships" r:id="R7c991993afeb4862"/>
  </p:notesMasterIdLst>
  <p:sldIdLst>
    <p:sldId xmlns:r="http://schemas.openxmlformats.org/officeDocument/2006/relationships" id="256" r:id="Rf26c60e5d4304ea1"/>
    <p:sldId xmlns:r="http://schemas.openxmlformats.org/officeDocument/2006/relationships" id="257" r:id="R887f11b558194158"/>
    <p:sldId xmlns:r="http://schemas.openxmlformats.org/officeDocument/2006/relationships" id="258" r:id="Rc388d62065744382"/>
    <p:sldId xmlns:r="http://schemas.openxmlformats.org/officeDocument/2006/relationships" id="259" r:id="R4aa919319c51437b"/>
    <p:sldId xmlns:r="http://schemas.openxmlformats.org/officeDocument/2006/relationships" id="260" r:id="R60148a95aa5c4867"/>
    <p:sldId xmlns:r="http://schemas.openxmlformats.org/officeDocument/2006/relationships" id="261" r:id="Ra716ca6572724cd8"/>
    <p:sldId xmlns:r="http://schemas.openxmlformats.org/officeDocument/2006/relationships" id="262" r:id="Rfb354ca9baaa4c6d"/>
    <p:sldId xmlns:r="http://schemas.openxmlformats.org/officeDocument/2006/relationships" id="263" r:id="R2d5cba17a2e3471e"/>
    <p:sldId xmlns:r="http://schemas.openxmlformats.org/officeDocument/2006/relationships" id="264" r:id="R5e92946e6f2444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f3310869741e5" /><Relationship Type="http://schemas.openxmlformats.org/officeDocument/2006/relationships/slideMaster" Target="/ppt/slideMasters/slideMaster1.xml" Id="R16ad08778dca4dad" /><Relationship Type="http://schemas.openxmlformats.org/officeDocument/2006/relationships/notesMaster" Target="/ppt/notesMasters/notesMaster1.xml" Id="R7c991993afeb4862" /><Relationship Type="http://schemas.openxmlformats.org/officeDocument/2006/relationships/presProps" Target="/ppt/presProps.xml" Id="R2abb4e5d715d48fa" /><Relationship Type="http://schemas.openxmlformats.org/officeDocument/2006/relationships/tableStyles" Target="/ppt/tableStyles.xml" Id="Re17f7f1f0c2f4e19" /><Relationship Type="http://schemas.openxmlformats.org/officeDocument/2006/relationships/slide" Target="/ppt/slides/slide1.xml" Id="Rf26c60e5d4304ea1" /><Relationship Type="http://schemas.openxmlformats.org/officeDocument/2006/relationships/slide" Target="/ppt/slides/slide2.xml" Id="R887f11b558194158" /><Relationship Type="http://schemas.openxmlformats.org/officeDocument/2006/relationships/slide" Target="/ppt/slides/slide3.xml" Id="Rc388d62065744382" /><Relationship Type="http://schemas.openxmlformats.org/officeDocument/2006/relationships/slide" Target="/ppt/slides/slide4.xml" Id="R4aa919319c51437b" /><Relationship Type="http://schemas.openxmlformats.org/officeDocument/2006/relationships/slide" Target="/ppt/slides/slide5.xml" Id="R60148a95aa5c4867" /><Relationship Type="http://schemas.openxmlformats.org/officeDocument/2006/relationships/slide" Target="/ppt/slides/slide6.xml" Id="Ra716ca6572724cd8" /><Relationship Type="http://schemas.openxmlformats.org/officeDocument/2006/relationships/slide" Target="/ppt/slides/slide7.xml" Id="Rfb354ca9baaa4c6d" /><Relationship Type="http://schemas.openxmlformats.org/officeDocument/2006/relationships/slide" Target="/ppt/slides/slide8.xml" Id="R2d5cba17a2e3471e" /><Relationship Type="http://schemas.openxmlformats.org/officeDocument/2006/relationships/slide" Target="/ppt/slides/slide9.xml" Id="R5e92946e6f24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ef60f84d648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fd03b062b4f64" /><Relationship Type="http://schemas.openxmlformats.org/officeDocument/2006/relationships/notesMaster" Target="/ppt/notesMasters/notesMaster1.xml" Id="Reeacc26580c9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10c17c4fe04677" /><Relationship Type="http://schemas.openxmlformats.org/officeDocument/2006/relationships/notesMaster" Target="/ppt/notesMasters/notesMaster1.xml" Id="R59bb23699028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460f74c434f47" /><Relationship Type="http://schemas.openxmlformats.org/officeDocument/2006/relationships/notesMaster" Target="/ppt/notesMasters/notesMaster1.xml" Id="R590ea188630d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c7ab101dd484c" /><Relationship Type="http://schemas.openxmlformats.org/officeDocument/2006/relationships/notesMaster" Target="/ppt/notesMasters/notesMaster1.xml" Id="R1d1022a79e4c48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f66b1a763456c" /><Relationship Type="http://schemas.openxmlformats.org/officeDocument/2006/relationships/notesMaster" Target="/ppt/notesMasters/notesMaster1.xml" Id="Rd1e540185bc54a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5f0bb6c3746cc" /><Relationship Type="http://schemas.openxmlformats.org/officeDocument/2006/relationships/notesMaster" Target="/ppt/notesMasters/notesMaster1.xml" Id="R92f4c3020d4e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ab86fb3cae4260" /><Relationship Type="http://schemas.openxmlformats.org/officeDocument/2006/relationships/notesMaster" Target="/ppt/notesMasters/notesMaster1.xml" Id="Rb5945b5e7ae147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d92ebf6bf47aa" /><Relationship Type="http://schemas.openxmlformats.org/officeDocument/2006/relationships/notesMaster" Target="/ppt/notesMasters/notesMaster1.xml" Id="R22efbf58d2064d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5ba6548e04abc" /><Relationship Type="http://schemas.openxmlformats.org/officeDocument/2006/relationships/notesMaster" Target="/ppt/notesMasters/notesMaster1.xml" Id="R03b34ea0b1b3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开场：本报告只讨论图像通信链路的重建失效，不讨论分类标签或 ASR。封面右侧为实验生成的触发重建图。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本页对应无标签 target-free 协议。图中的触发器位于编码器功率归一化之后、信道之前。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公式中的 clean 分支保留通信可用性，poison 分支通过 IQI+DC 触发并用 PSNR-drop hinge 推动重建失效。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曲线展示同一源图像的 PSNR，重点看后门模型的 clean channel 与 triggered channel 间距。干净模型/干净信道作为参考基线。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失效率定义为单样本 PSNR drop ≥ 3 dB 的比例。干净模型控制用于检验触发器是否只是普遍破坏通信。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本页把攻击效果、干净模型控制与物理隐蔽性放在同一视图。EVM 为 0.1000016，数值上略高于 0.10 限制。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图像均来自实验输出；每个网格上排是 source，下排是 triggered reconstruction。7 dB 的视觉差异与 source-relative 指标一致。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dB 图像对比对应 metrics.json 中的 31.567 dB → 27.423 dB。不要把图像视觉差异解读为分类结果；本页只说明重建质量。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表格从完整 7 个 SNR 中选取 1、7、10、25 dB 作为代表点；完整曲线见前两页。最终判定保留失败结果，不把部分成功包装成整体成功。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artifact: results/target_free_c16_reconstruction_failure_20260828/metrics.json</a:t>
            </a:r>
          </a:p>
          <a:p xmlns:a="http://schemas.openxmlformats.org/drawingml/2006/main">
            <a:r>
              <a:t>- Local protocol/configuration: results/target_free_c16_reconstruction_failure_20260828/config.toml, trigger.json, run_manifest.json</a:t>
            </a:r>
          </a:p>
          <a:p xmlns:a="http://schemas.openxmlformats.org/drawingml/2006/main">
            <a:r>
              <a:t>- Local reconstruction images: results/target_free_c16_reconstruction_failure_20260828/reconstructions/</a:t>
            </a:r>
          </a:p>
          <a:p xmlns:a="http://schemas.openxmlformats.org/drawingml/2006/main">
            <a:r>
              <a:t>- No external images or external claims were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93dc987374d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f01fb3cda449e5" /><Relationship Type="http://schemas.openxmlformats.org/officeDocument/2006/relationships/slideLayout" Target="/ppt/slideLayouts/slideLayout1.xml" Id="Rfcf12026718a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12026718a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3445261e4fb2" /><Relationship Type="http://schemas.openxmlformats.org/officeDocument/2006/relationships/image" Target="/ppt/media/image.png" Id="R83a5cd0aba074c4f" /><Relationship Type="http://schemas.openxmlformats.org/officeDocument/2006/relationships/notesSlide" Target="/ppt/notesSlides/notesSlide1.xml" Id="R5bd20cc4fdb4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1ae297df649ed" /><Relationship Type="http://schemas.openxmlformats.org/officeDocument/2006/relationships/notesSlide" Target="/ppt/notesSlides/notesSlide2.xml" Id="R1574214cd6e7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fa958ddbc4c20" /><Relationship Type="http://schemas.openxmlformats.org/officeDocument/2006/relationships/notesSlide" Target="/ppt/notesSlides/notesSlide3.xml" Id="R7f070f2288d6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699ead8fb4433" /><Relationship Type="http://schemas.openxmlformats.org/officeDocument/2006/relationships/chart" Target="/ppt/slides/charts/chart1.xml" Id="R7df334571b754e27" /><Relationship Type="http://schemas.openxmlformats.org/officeDocument/2006/relationships/notesSlide" Target="/ppt/notesSlides/notesSlide4.xml" Id="Rc1aaf80290444b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32fcfaa254d94" /><Relationship Type="http://schemas.openxmlformats.org/officeDocument/2006/relationships/chart" Target="/ppt/slides/charts/chart2.xml" Id="Rfcf22689fde7453b" /><Relationship Type="http://schemas.openxmlformats.org/officeDocument/2006/relationships/notesSlide" Target="/ppt/notesSlides/notesSlide5.xml" Id="R0e1ca5a561bc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261ef1274939" /><Relationship Type="http://schemas.openxmlformats.org/officeDocument/2006/relationships/notesSlide" Target="/ppt/notesSlides/notesSlide6.xml" Id="Rde8e19f2b0f5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13e6c9da4afb" /><Relationship Type="http://schemas.openxmlformats.org/officeDocument/2006/relationships/image" Target="/ppt/media/image2.png" Id="R5180a71f80864c8f" /><Relationship Type="http://schemas.openxmlformats.org/officeDocument/2006/relationships/image" Target="/ppt/media/image3.png" Id="Rc984785121e74e9e" /><Relationship Type="http://schemas.openxmlformats.org/officeDocument/2006/relationships/notesSlide" Target="/ppt/notesSlides/notesSlide7.xml" Id="R07449050758848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fd6c3c805495c" /><Relationship Type="http://schemas.openxmlformats.org/officeDocument/2006/relationships/image" Target="/ppt/media/image4.png" Id="R9e1f56a381014861" /><Relationship Type="http://schemas.openxmlformats.org/officeDocument/2006/relationships/image" Target="/ppt/media/image5.png" Id="R7f06e54cbf774dc4" /><Relationship Type="http://schemas.openxmlformats.org/officeDocument/2006/relationships/notesSlide" Target="/ppt/notesSlides/notesSlide8.xml" Id="R808e13fb34b744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a7c9d7dbd41bd" /><Relationship Type="http://schemas.openxmlformats.org/officeDocument/2006/relationships/notesSlide" Target="/ppt/notesSlides/notesSlide9.xml" Id="R7d3ada775ef8423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干净模型 / 干净信道</c:v>
          </c:tx>
          <c:spPr>
            <a:ln xmlns:a="http://schemas.openxmlformats.org/drawingml/2006/main" w="19050">
              <a:solidFill>
                <a:srgbClr val="5B616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B616B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23.8026180267334</c:v>
              </c:pt>
              <c:pt idx="1">
                <c:v>26.818206787109375</c:v>
              </c:pt>
              <c:pt idx="2">
                <c:v>29.285043716430664</c:v>
              </c:pt>
              <c:pt idx="3">
                <c:v>31.13591957092285</c:v>
              </c:pt>
              <c:pt idx="4">
                <c:v>32.426483154296875</c:v>
              </c:pt>
              <c:pt idx="5">
                <c:v>33.727657318115234</c:v>
              </c:pt>
              <c:pt idx="6">
                <c:v>34.12980651855469</c:v>
              </c:pt>
            </c:numLit>
          </c:val>
          <c:smooth val="0"/>
        </c:ser>
        <c:ser>
          <c:idx val="1"/>
          <c:order val="1"/>
          <c:tx>
            <c:v>后门模型 / 干净信道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23.620574951171875</c:v>
              </c:pt>
              <c:pt idx="1">
                <c:v>26.963163375854492</c:v>
              </c:pt>
              <c:pt idx="2">
                <c:v>29.610986709594727</c:v>
              </c:pt>
              <c:pt idx="3">
                <c:v>31.56698989868164</c:v>
              </c:pt>
              <c:pt idx="4">
                <c:v>32.950904846191406</c:v>
              </c:pt>
              <c:pt idx="5">
                <c:v>34.383358001708984</c:v>
              </c:pt>
              <c:pt idx="6">
                <c:v>34.83617401123047</c:v>
              </c:pt>
            </c:numLit>
          </c:val>
          <c:smooth val="0"/>
        </c:ser>
        <c:ser>
          <c:idx val="2"/>
          <c:order val="2"/>
          <c:tx>
            <c:v>后门模型 / 触发信道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6DCBF4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22.431257247924805</c:v>
              </c:pt>
              <c:pt idx="1">
                <c:v>24.90469741821289</c:v>
              </c:pt>
              <c:pt idx="2">
                <c:v>26.50234031677246</c:v>
              </c:pt>
              <c:pt idx="3">
                <c:v>27.422561645507812</c:v>
              </c:pt>
              <c:pt idx="4">
                <c:v>27.944093704223633</c:v>
              </c:pt>
              <c:pt idx="5">
                <c:v>28.36189079284668</c:v>
              </c:pt>
              <c:pt idx="6">
                <c:v>28.474031448364258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SNR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PSNR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后门模型 / 触发信道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0.02</c:v>
              </c:pt>
              <c:pt idx="1">
                <c:v>4.6</c:v>
              </c:pt>
              <c:pt idx="2">
                <c:v>58.68</c:v>
              </c:pt>
              <c:pt idx="3">
                <c:v>94.78</c:v>
              </c:pt>
              <c:pt idx="4">
                <c:v>98.96000000000001</c:v>
              </c:pt>
              <c:pt idx="5">
                <c:v>99.62</c:v>
              </c:pt>
              <c:pt idx="6">
                <c:v>99.71</c:v>
              </c:pt>
            </c:numLit>
          </c:val>
        </c:ser>
        <c:ser>
          <c:idx val="1"/>
          <c:order val="1"/>
          <c:tx>
            <c:v>干净模型 / 触发控制</c:v>
          </c:tx>
          <c:spPr>
            <a:solidFill xmlns:a="http://schemas.openxmlformats.org/drawingml/2006/main">
              <a:srgbClr val="D0EDFA"/>
            </a:solidFill>
          </c:spP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10</c:v>
              </c:pt>
              <c:pt idx="4">
                <c:v>13</c:v>
              </c:pt>
              <c:pt idx="5">
                <c:v>19</c:v>
              </c:pt>
              <c:pt idx="6">
                <c:v>25</c:v>
              </c:pt>
            </c:num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0.01</c:v>
              </c:pt>
              <c:pt idx="5">
                <c:v>0.11</c:v>
              </c:pt>
              <c:pt idx="6">
                <c:v>0.29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SNR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Failure rate (%)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16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DCA0666-92EF-4F01-A305-998E5919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DEEPJSCC · AUTHORIZED OFFLINE SIMULATION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956150-367E-4C23-AFF9-36AB7C81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5143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c=16 无标签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重建失效实验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A5B5AC3-925E-4593-AD9E-55BEA45B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16B"/>
                </a:solidFill>
                <a:latin typeface="Arial"/>
                <a:ea typeface="Arial"/>
                <a:cs typeface="Arial"/>
              </a:rPr>
              <a:t>IQI + DC offset 单设备射频指纹触发</a:t>
            </a:r>
          </a:p>
          <a:p xmlns:a="http://schemas.openxmlformats.org/drawingml/2006/main">
            <a:pPr algn="l">
              <a:defRPr sz="17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16B"/>
                </a:solidFill>
                <a:latin typeface="Arial"/>
                <a:ea typeface="Arial"/>
                <a:cs typeface="Arial"/>
              </a:rPr>
              <a:t>以源图像重建质量为唯一攻击对象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C3A7D9A2-D64A-4784-8E47-8FCFA04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50151B02-123A-4B48-9F07-3BBB51E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结论先行：中高 SNR 触发有效，低 SNR 鲁棒性与 EVM 仍未达全部门槛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5cd0aba074c4f"/>
          <a:stretch xmlns:a="http://schemas.openxmlformats.org/drawingml/2006/main"/>
        </p:blipFill>
        <p:spPr>
          <a:xfrm xmlns:a="http://schemas.openxmlformats.org/drawingml/2006/main">
            <a:off x="6553200" y="2243302"/>
            <a:ext cx="5048250" cy="1114097"/>
          </a:xfrm>
          <a:prstGeom xmlns:a="http://schemas.openxmlformats.org/drawingml/2006/main" prst="rect">
            <a:avLst/>
          </a:prstGeom>
        </p:spPr>
      </p:pic>
      <p:sp>
        <p:nvSpPr>
          <p:cNvPr id="7" name="cover-image-caption">
            <a:extLst xmlns:a="http://schemas.openxmlformats.org/drawingml/2006/main">
              <a:ext uri="{FF2B5EF4-FFF2-40B4-BE49-F238E27FC236}">
                <a16:creationId xmlns:a16="http://schemas.microsoft.com/office/drawing/2014/main" id="{44F42BDA-6B76-4A37-AB18-54E6D986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578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B"/>
                </a:solidFill>
                <a:latin typeface="Arial"/>
                <a:ea typeface="Arial"/>
                <a:cs typeface="Arial"/>
              </a:rPr>
              <a:t>后门模型 · 触发信道 · SNR 19 dB</a:t>
            </a:r>
          </a:p>
        </p:txBody>
      </p:sp>
      <p:sp>
        <p:nvSpPr>
          <p:cNvPr id="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DF1B330D-07CC-4DC3-B59C-F58F676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A9DC08B-DFBD-4960-9090-565CBAC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无标签 source-relative</a:t>
            </a:r>
          </a:p>
        </p:txBody>
      </p:sp>
      <p:sp>
        <p:nvSpPr>
          <p:cNvPr id="10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8251B7EA-5ECB-4FA1-AFA9-35BB4ECF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887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13642FE-36D3-4731-BEA5-F307E1E0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实验把‘失效’定义为源图像重建质量下降</a:t>
            </a:r>
          </a:p>
        </p:txBody>
      </p:sp>
      <p:sp>
        <p:nvSpPr>
          <p:cNvPr id="2" name="研究对象">
            <a:extLst xmlns:a="http://schemas.openxmlformats.org/drawingml/2006/main">
              <a:ext uri="{FF2B5EF4-FFF2-40B4-BE49-F238E27FC236}">
                <a16:creationId xmlns:a16="http://schemas.microsoft.com/office/drawing/2014/main" id="{EEBDFA8A-5D7F-4B75-8B05-AE3812DE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通信链路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不是分类器</a:t>
            </a:r>
          </a:p>
        </p:txBody>
      </p:sp>
      <p:sp>
        <p:nvSpPr>
          <p:cNvPr id="3" name="协议">
            <a:extLst xmlns:a="http://schemas.openxmlformats.org/drawingml/2006/main">
              <a:ext uri="{FF2B5EF4-FFF2-40B4-BE49-F238E27FC236}">
                <a16:creationId xmlns:a16="http://schemas.microsoft.com/office/drawing/2014/main" id="{BFF9F859-E600-4095-8AB8-B97EA3CF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编码 → IQI/DC 触发 → AWGN → 解码。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对同一源图像比较干净信道与触发信道重建。</a:t>
            </a:r>
          </a:p>
        </p:txBody>
      </p:sp>
      <p:sp>
        <p:nvSpPr>
          <p:cNvPr id="4" name="无标签约束">
            <a:extLst xmlns:a="http://schemas.openxmlformats.org/drawingml/2006/main">
              <a:ext uri="{FF2B5EF4-FFF2-40B4-BE49-F238E27FC236}">
                <a16:creationId xmlns:a16="http://schemas.microsoft.com/office/drawing/2014/main" id="{3071CFC0-8C7D-4F9C-97EF-7110A01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训练与评估仅保留 image tensor。</a:t>
            </a:r>
          </a:p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标签不进入前向、损失、PSNR 或失效率统计。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5833598B-63E2-47E2-A4AD-F3DB805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574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57DDE56F-D975-494B-9A93-ABE9D04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637B9BAA-C64F-4C5B-8294-79DDF94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574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4">
            <a:extLst xmlns:a="http://schemas.openxmlformats.org/drawingml/2006/main">
              <a:ext uri="{FF2B5EF4-FFF2-40B4-BE49-F238E27FC236}">
                <a16:creationId xmlns:a16="http://schemas.microsoft.com/office/drawing/2014/main" id="{4CB4EC1E-9C5A-4E57-9F13-6AB89E2D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574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image">
            <a:extLst xmlns:a="http://schemas.openxmlformats.org/drawingml/2006/main">
              <a:ext uri="{FF2B5EF4-FFF2-40B4-BE49-F238E27FC236}">
                <a16:creationId xmlns:a16="http://schemas.microsoft.com/office/drawing/2014/main" id="{DB1737B6-0162-417F-A0D2-9528750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114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ode-title-image">
            <a:extLst xmlns:a="http://schemas.openxmlformats.org/drawingml/2006/main">
              <a:ext uri="{FF2B5EF4-FFF2-40B4-BE49-F238E27FC236}">
                <a16:creationId xmlns:a16="http://schemas.microsoft.com/office/drawing/2014/main" id="{91754D35-CF1D-4071-B3B0-EE8B765C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1" name="node-body-image">
            <a:extLst xmlns:a="http://schemas.openxmlformats.org/drawingml/2006/main">
              <a:ext uri="{FF2B5EF4-FFF2-40B4-BE49-F238E27FC236}">
                <a16:creationId xmlns:a16="http://schemas.microsoft.com/office/drawing/2014/main" id="{5520F6FD-FDCA-4FD8-B34B-719D9B5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source x</a:t>
            </a:r>
          </a:p>
        </p:txBody>
      </p:sp>
      <p:sp>
        <p:nvSpPr>
          <p:cNvPr id="12" name="node-encoder">
            <a:extLst xmlns:a="http://schemas.openxmlformats.org/drawingml/2006/main">
              <a:ext uri="{FF2B5EF4-FFF2-40B4-BE49-F238E27FC236}">
                <a16:creationId xmlns:a16="http://schemas.microsoft.com/office/drawing/2014/main" id="{7F85F03A-4EDE-40E2-8D03-67066A70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28850"/>
            <a:ext cx="114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itle-encoder">
            <a:extLst xmlns:a="http://schemas.openxmlformats.org/drawingml/2006/main">
              <a:ext uri="{FF2B5EF4-FFF2-40B4-BE49-F238E27FC236}">
                <a16:creationId xmlns:a16="http://schemas.microsoft.com/office/drawing/2014/main" id="{F5030BD1-FFD2-4B27-937E-3CF7CC7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4" name="node-body-encoder">
            <a:extLst xmlns:a="http://schemas.openxmlformats.org/drawingml/2006/main">
              <a:ext uri="{FF2B5EF4-FFF2-40B4-BE49-F238E27FC236}">
                <a16:creationId xmlns:a16="http://schemas.microsoft.com/office/drawing/2014/main" id="{594B0974-708E-4D69-A146-A5B02CD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98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latent z</a:t>
            </a:r>
          </a:p>
        </p:txBody>
      </p:sp>
      <p:sp>
        <p:nvSpPr>
          <p:cNvPr id="15" name="node-IQI + DC">
            <a:extLst xmlns:a="http://schemas.openxmlformats.org/drawingml/2006/main">
              <a:ext uri="{FF2B5EF4-FFF2-40B4-BE49-F238E27FC236}">
                <a16:creationId xmlns:a16="http://schemas.microsoft.com/office/drawing/2014/main" id="{B031E0D1-1578-4370-874E-F5BE707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114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node-title-IQI + DC">
            <a:extLst xmlns:a="http://schemas.openxmlformats.org/drawingml/2006/main">
              <a:ext uri="{FF2B5EF4-FFF2-40B4-BE49-F238E27FC236}">
                <a16:creationId xmlns:a16="http://schemas.microsoft.com/office/drawing/2014/main" id="{13D0AD55-2182-4223-BCDF-5939A90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IQI + DC</a:t>
            </a:r>
          </a:p>
        </p:txBody>
      </p:sp>
      <p:sp>
        <p:nvSpPr>
          <p:cNvPr id="17" name="node-body-IQI + DC">
            <a:extLst xmlns:a="http://schemas.openxmlformats.org/drawingml/2006/main">
              <a:ext uri="{FF2B5EF4-FFF2-40B4-BE49-F238E27FC236}">
                <a16:creationId xmlns:a16="http://schemas.microsoft.com/office/drawing/2014/main" id="{082C643C-A9D3-4229-9F40-2647ECA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trigger z′</a:t>
            </a:r>
          </a:p>
        </p:txBody>
      </p:sp>
      <p:sp>
        <p:nvSpPr>
          <p:cNvPr id="18" name="node-AWGN">
            <a:extLst xmlns:a="http://schemas.openxmlformats.org/drawingml/2006/main">
              <a:ext uri="{FF2B5EF4-FFF2-40B4-BE49-F238E27FC236}">
                <a16:creationId xmlns:a16="http://schemas.microsoft.com/office/drawing/2014/main" id="{002EF498-35BD-4F25-9C47-B7FCEA3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28850"/>
            <a:ext cx="114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ode-title-AWGN">
            <a:extLst xmlns:a="http://schemas.openxmlformats.org/drawingml/2006/main">
              <a:ext uri="{FF2B5EF4-FFF2-40B4-BE49-F238E27FC236}">
                <a16:creationId xmlns:a16="http://schemas.microsoft.com/office/drawing/2014/main" id="{DE481E0A-F719-4D57-AD4B-EC4BB960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AWGN</a:t>
            </a:r>
          </a:p>
        </p:txBody>
      </p:sp>
      <p:sp>
        <p:nvSpPr>
          <p:cNvPr id="20" name="node-body-AWGN">
            <a:extLst xmlns:a="http://schemas.openxmlformats.org/drawingml/2006/main">
              <a:ext uri="{FF2B5EF4-FFF2-40B4-BE49-F238E27FC236}">
                <a16:creationId xmlns:a16="http://schemas.microsoft.com/office/drawing/2014/main" id="{5166362C-B0ED-4750-B6DF-09E06C17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098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21" name="node-decoder">
            <a:extLst xmlns:a="http://schemas.openxmlformats.org/drawingml/2006/main">
              <a:ext uri="{FF2B5EF4-FFF2-40B4-BE49-F238E27FC236}">
                <a16:creationId xmlns:a16="http://schemas.microsoft.com/office/drawing/2014/main" id="{16C858D3-277E-4169-A951-616CB174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28850"/>
            <a:ext cx="114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node-title-decoder">
            <a:extLst xmlns:a="http://schemas.openxmlformats.org/drawingml/2006/main">
              <a:ext uri="{FF2B5EF4-FFF2-40B4-BE49-F238E27FC236}">
                <a16:creationId xmlns:a16="http://schemas.microsoft.com/office/drawing/2014/main" id="{CEE05686-BF94-43F6-BDEC-4BB9DDF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3" name="node-body-decoder">
            <a:extLst xmlns:a="http://schemas.openxmlformats.org/drawingml/2006/main">
              <a:ext uri="{FF2B5EF4-FFF2-40B4-BE49-F238E27FC236}">
                <a16:creationId xmlns:a16="http://schemas.microsoft.com/office/drawing/2014/main" id="{0C52288F-E5D0-4563-8E67-847189A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098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24" name="protocol-settings">
            <a:extLst xmlns:a="http://schemas.openxmlformats.org/drawingml/2006/main">
              <a:ext uri="{FF2B5EF4-FFF2-40B4-BE49-F238E27FC236}">
                <a16:creationId xmlns:a16="http://schemas.microsoft.com/office/drawing/2014/main" id="{76570E94-BD81-4055-AF32-10AF612C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CIFAR-10 · train 45,000 / validation 4,999 / test 10,000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投毒率 5%（2,250 个训练样本） · train SNR 10 dB · test SNR 1/4/7/10/13/19/25 dB</a:t>
            </a:r>
          </a:p>
        </p:txBody>
      </p:sp>
      <p:sp>
        <p:nvSpPr>
          <p:cNvPr id="25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54D8AB28-176B-41CE-A714-5278B4A7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86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后门模型从干净 c=16 checkpoint 初始化；使用固定 manifest 的 poison mask。</a:t>
            </a:r>
          </a:p>
        </p:txBody>
      </p:sp>
      <p:sp>
        <p:nvSpPr>
          <p:cNvPr id="2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67962F2-CAEB-40D7-9915-5E71E79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0FC2243C-C02E-4C68-9003-5C39EFF9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28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EB8FFE74-F080-4D7D-B9DE-F13DA50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1961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768C445-91DB-4485-B146-AA54A6BB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单设备触发器只改变复基带，不改变重建目标</a:t>
            </a:r>
          </a:p>
        </p:txBody>
      </p:sp>
      <p:sp>
        <p:nvSpPr>
          <p:cNvPr id="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BEF43683-F41E-4973-ABE9-44FCD0B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5334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rmula-heading">
            <a:extLst xmlns:a="http://schemas.openxmlformats.org/drawingml/2006/main">
              <a:ext uri="{FF2B5EF4-FFF2-40B4-BE49-F238E27FC236}">
                <a16:creationId xmlns:a16="http://schemas.microsoft.com/office/drawing/2014/main" id="{87042A34-73A8-4FF5-9ACE-26B7FB05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触发器与损失</a:t>
            </a:r>
          </a:p>
        </p:txBody>
      </p:sp>
      <p:sp>
        <p:nvSpPr>
          <p:cNvPr id="4" name="formula-trigger">
            <a:extLst xmlns:a="http://schemas.openxmlformats.org/drawingml/2006/main">
              <a:ext uri="{FF2B5EF4-FFF2-40B4-BE49-F238E27FC236}">
                <a16:creationId xmlns:a16="http://schemas.microsoft.com/office/drawing/2014/main" id="{C7389839-C2A5-4152-8494-BD9C6F5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z′ = μz + νz* + d</a:t>
            </a:r>
          </a:p>
        </p:txBody>
      </p:sp>
      <p:sp>
        <p:nvSpPr>
          <p:cNvPr id="5" name="formula-loss">
            <a:extLst xmlns:a="http://schemas.openxmlformats.org/drawingml/2006/main">
              <a:ext uri="{FF2B5EF4-FFF2-40B4-BE49-F238E27FC236}">
                <a16:creationId xmlns:a16="http://schemas.microsoft.com/office/drawing/2014/main" id="{05DFD7DF-9B94-4550-AA13-A9A3CEB7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 = MSE(y_clean, x)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 + ReLU(3 − ΔPSNR)ₚₒᵢₛₒₙ</a:t>
            </a:r>
          </a:p>
        </p:txBody>
      </p:sp>
      <p:sp>
        <p:nvSpPr>
          <p:cNvPr id="6" name="formula-drop">
            <a:extLst xmlns:a="http://schemas.openxmlformats.org/drawingml/2006/main">
              <a:ext uri="{FF2B5EF4-FFF2-40B4-BE49-F238E27FC236}">
                <a16:creationId xmlns:a16="http://schemas.microsoft.com/office/drawing/2014/main" id="{45FEF62D-4AF5-4BAA-89F1-C2E1450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ΔPSNR = 10 log₁₀(MSE_trigger / MSE_clean)</a:t>
            </a:r>
          </a:p>
        </p:txBody>
      </p:sp>
      <p:sp>
        <p:nvSpPr>
          <p:cNvPr id="7" name="trigger-parameters">
            <a:extLst xmlns:a="http://schemas.openxmlformats.org/drawingml/2006/main">
              <a:ext uri="{FF2B5EF4-FFF2-40B4-BE49-F238E27FC236}">
                <a16:creationId xmlns:a16="http://schemas.microsoft.com/office/drawing/2014/main" id="{A9EAFA97-85B2-45C5-9143-BFF9CB8D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最终可学习参数</a:t>
            </a:r>
          </a:p>
        </p:txBody>
      </p:sp>
      <p:sp>
        <p:nvSpPr>
          <p:cNvPr id="8" name="param-rule-0">
            <a:extLst xmlns:a="http://schemas.openxmlformats.org/drawingml/2006/main">
              <a:ext uri="{FF2B5EF4-FFF2-40B4-BE49-F238E27FC236}">
                <a16:creationId xmlns:a16="http://schemas.microsoft.com/office/drawing/2014/main" id="{65846A15-912F-4A9D-8273-218A8AE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m-key-0">
            <a:extLst xmlns:a="http://schemas.openxmlformats.org/drawingml/2006/main">
              <a:ext uri="{FF2B5EF4-FFF2-40B4-BE49-F238E27FC236}">
                <a16:creationId xmlns:a16="http://schemas.microsoft.com/office/drawing/2014/main" id="{3092E47B-4EE9-4857-88E9-49D3DA2E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gain</a:t>
            </a:r>
          </a:p>
        </p:txBody>
      </p:sp>
      <p:sp>
        <p:nvSpPr>
          <p:cNvPr id="10" name="param-value-0">
            <a:extLst xmlns:a="http://schemas.openxmlformats.org/drawingml/2006/main">
              <a:ext uri="{FF2B5EF4-FFF2-40B4-BE49-F238E27FC236}">
                <a16:creationId xmlns:a16="http://schemas.microsoft.com/office/drawing/2014/main" id="{33ED49D2-8DAE-47A7-9EF8-8CBD455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-0.0038 dB</a:t>
            </a:r>
          </a:p>
        </p:txBody>
      </p:sp>
      <p:sp>
        <p:nvSpPr>
          <p:cNvPr id="11" name="param-rule-1">
            <a:extLst xmlns:a="http://schemas.openxmlformats.org/drawingml/2006/main">
              <a:ext uri="{FF2B5EF4-FFF2-40B4-BE49-F238E27FC236}">
                <a16:creationId xmlns:a16="http://schemas.microsoft.com/office/drawing/2014/main" id="{852E96A5-DBFA-46A9-997A-A2AA40A9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am-key-1">
            <a:extLst xmlns:a="http://schemas.openxmlformats.org/drawingml/2006/main">
              <a:ext uri="{FF2B5EF4-FFF2-40B4-BE49-F238E27FC236}">
                <a16:creationId xmlns:a16="http://schemas.microsoft.com/office/drawing/2014/main" id="{7A714F41-0F95-47C5-BEA7-E24ED3A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13" name="param-value-1">
            <a:extLst xmlns:a="http://schemas.openxmlformats.org/drawingml/2006/main">
              <a:ext uri="{FF2B5EF4-FFF2-40B4-BE49-F238E27FC236}">
                <a16:creationId xmlns:a16="http://schemas.microsoft.com/office/drawing/2014/main" id="{07387A78-C115-4FC0-A0AF-5D4648A9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-0.0004°</a:t>
            </a:r>
          </a:p>
        </p:txBody>
      </p:sp>
      <p:sp>
        <p:nvSpPr>
          <p:cNvPr id="14" name="param-rule-2">
            <a:extLst xmlns:a="http://schemas.openxmlformats.org/drawingml/2006/main">
              <a:ext uri="{FF2B5EF4-FFF2-40B4-BE49-F238E27FC236}">
                <a16:creationId xmlns:a16="http://schemas.microsoft.com/office/drawing/2014/main" id="{6EA01F0A-8D75-4FE3-9DCA-0253F87E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ram-key-2">
            <a:extLst xmlns:a="http://schemas.openxmlformats.org/drawingml/2006/main">
              <a:ext uri="{FF2B5EF4-FFF2-40B4-BE49-F238E27FC236}">
                <a16:creationId xmlns:a16="http://schemas.microsoft.com/office/drawing/2014/main" id="{C4408725-97A5-4C6B-9BA1-77EC563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DC magnitude</a:t>
            </a:r>
          </a:p>
        </p:txBody>
      </p:sp>
      <p:sp>
        <p:nvSpPr>
          <p:cNvPr id="16" name="param-value-2">
            <a:extLst xmlns:a="http://schemas.openxmlformats.org/drawingml/2006/main">
              <a:ext uri="{FF2B5EF4-FFF2-40B4-BE49-F238E27FC236}">
                <a16:creationId xmlns:a16="http://schemas.microsoft.com/office/drawing/2014/main" id="{FC601272-A8BD-4174-95DF-9FC1E23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0.1000</a:t>
            </a:r>
          </a:p>
        </p:txBody>
      </p:sp>
      <p:sp>
        <p:nvSpPr>
          <p:cNvPr id="17" name="param-rule-3">
            <a:extLst xmlns:a="http://schemas.openxmlformats.org/drawingml/2006/main">
              <a:ext uri="{FF2B5EF4-FFF2-40B4-BE49-F238E27FC236}">
                <a16:creationId xmlns:a16="http://schemas.microsoft.com/office/drawing/2014/main" id="{5EE7D633-AFB4-40C0-8AEC-8560D3D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m-key-3">
            <a:extLst xmlns:a="http://schemas.openxmlformats.org/drawingml/2006/main">
              <a:ext uri="{FF2B5EF4-FFF2-40B4-BE49-F238E27FC236}">
                <a16:creationId xmlns:a16="http://schemas.microsoft.com/office/drawing/2014/main" id="{75903AFC-FEBA-4A10-90B1-E5EB7C3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86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DC phase</a:t>
            </a:r>
          </a:p>
        </p:txBody>
      </p:sp>
      <p:sp>
        <p:nvSpPr>
          <p:cNvPr id="19" name="param-value-3">
            <a:extLst xmlns:a="http://schemas.openxmlformats.org/drawingml/2006/main">
              <a:ext uri="{FF2B5EF4-FFF2-40B4-BE49-F238E27FC236}">
                <a16:creationId xmlns:a16="http://schemas.microsoft.com/office/drawing/2014/main" id="{E91D3A01-6546-4519-8B76-EC37C05D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-21.08°</a:t>
            </a:r>
          </a:p>
        </p:txBody>
      </p:sp>
      <p:sp>
        <p:nvSpPr>
          <p:cNvPr id="20" name="param-rule-4">
            <a:extLst xmlns:a="http://schemas.openxmlformats.org/drawingml/2006/main">
              <a:ext uri="{FF2B5EF4-FFF2-40B4-BE49-F238E27FC236}">
                <a16:creationId xmlns:a16="http://schemas.microsoft.com/office/drawing/2014/main" id="{2F7F8718-889C-4CD4-A992-488B91C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am-key-4">
            <a:extLst xmlns:a="http://schemas.openxmlformats.org/drawingml/2006/main">
              <a:ext uri="{FF2B5EF4-FFF2-40B4-BE49-F238E27FC236}">
                <a16:creationId xmlns:a16="http://schemas.microsoft.com/office/drawing/2014/main" id="{D7E5558A-4D31-4B3C-A5C0-2A56D6C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16B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2" name="param-value-4">
            <a:extLst xmlns:a="http://schemas.openxmlformats.org/drawingml/2006/main">
              <a:ext uri="{FF2B5EF4-FFF2-40B4-BE49-F238E27FC236}">
                <a16:creationId xmlns:a16="http://schemas.microsoft.com/office/drawing/2014/main" id="{F02DBBD1-9A7B-4420-BC96-D453C0B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IQ → DC</a:t>
            </a:r>
          </a:p>
        </p:txBody>
      </p:sp>
      <p:sp>
        <p:nvSpPr>
          <p:cNvPr id="23" name="training-note">
            <a:extLst xmlns:a="http://schemas.openxmlformats.org/drawingml/2006/main">
              <a:ext uri="{FF2B5EF4-FFF2-40B4-BE49-F238E27FC236}">
                <a16:creationId xmlns:a16="http://schemas.microsoft.com/office/drawing/2014/main" id="{F9937ED5-76CE-4B18-9C04-7BFE5DE4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不使用 target image，不使用 class label；只要求触发分支相对同一源图像的 MSE 上升。</a:t>
            </a:r>
          </a:p>
        </p:txBody>
      </p:sp>
      <p:sp>
        <p:nvSpPr>
          <p:cNvPr id="2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E3F9502-4F58-42C5-B986-B920355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5111300-8209-4A76-8F8D-BB0929BA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2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A0AD6236-D589-4940-A1D4-8EB09A1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9578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EB24A2C1-C72F-479F-8E06-4D899D7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PSNR drop 在 10 dB 以上明显拉开差距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52450" y="1219200"/>
          <a:ext xmlns:a="http://schemas.openxmlformats.org/drawingml/2006/main" cx="75247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f334571b754e27"/>
          </a:graphicData>
        </a:graphic>
      </p:graphicFrame>
      <p:sp>
        <p:nvSpPr>
          <p:cNvPr id="3" name="psnr-callout-1">
            <a:extLst xmlns:a="http://schemas.openxmlformats.org/drawingml/2006/main">
              <a:ext uri="{FF2B5EF4-FFF2-40B4-BE49-F238E27FC236}">
                <a16:creationId xmlns:a16="http://schemas.microsoft.com/office/drawing/2014/main" id="{CAA94EED-0AE3-4262-9B41-6E69B556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dB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31.57 → 27.42 dB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−4.14 dB</a:t>
            </a:r>
          </a:p>
        </p:txBody>
      </p:sp>
      <p:sp>
        <p:nvSpPr>
          <p:cNvPr id="4" name="psnr-callout-rule-1">
            <a:extLst xmlns:a="http://schemas.openxmlformats.org/drawingml/2006/main">
              <a:ext uri="{FF2B5EF4-FFF2-40B4-BE49-F238E27FC236}">
                <a16:creationId xmlns:a16="http://schemas.microsoft.com/office/drawing/2014/main" id="{4052EF11-7DD8-4617-B317-252A966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snr-callout-2">
            <a:extLst xmlns:a="http://schemas.openxmlformats.org/drawingml/2006/main">
              <a:ext uri="{FF2B5EF4-FFF2-40B4-BE49-F238E27FC236}">
                <a16:creationId xmlns:a16="http://schemas.microsoft.com/office/drawing/2014/main" id="{356CB204-A398-4AF0-8287-435CAAC4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25 dB</a:t>
            </a:r>
          </a:p>
          <a:p xmlns:a="http://schemas.openxmlformats.org/drawingml/2006/main">
            <a:pPr algn="l"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34.84 → 28.47 dB</a:t>
            </a:r>
          </a:p>
          <a:p xmlns:a="http://schemas.openxmlformats.org/drawingml/2006/main">
            <a:pPr algn="l"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−6.36 dB</a:t>
            </a:r>
          </a:p>
        </p:txBody>
      </p:sp>
      <p:sp>
        <p:nvSpPr>
          <p:cNvPr id="6" name="psnr-callout-rule-2">
            <a:extLst xmlns:a="http://schemas.openxmlformats.org/drawingml/2006/main">
              <a:ext uri="{FF2B5EF4-FFF2-40B4-BE49-F238E27FC236}">
                <a16:creationId xmlns:a16="http://schemas.microsoft.com/office/drawing/2014/main" id="{F8B1A0AA-171A-43E4-87F8-4A59403B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snr-callout-3">
            <a:extLst xmlns:a="http://schemas.openxmlformats.org/drawingml/2006/main">
              <a:ext uri="{FF2B5EF4-FFF2-40B4-BE49-F238E27FC236}">
                <a16:creationId xmlns:a16="http://schemas.microsoft.com/office/drawing/2014/main" id="{02AFEAAE-0F75-4C5E-A4D4-BC0E7973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1 dB 仅下降 1.19 dB</a:t>
            </a:r>
          </a:p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B"/>
                </a:solidFill>
                <a:latin typeface="Arial"/>
                <a:ea typeface="Arial"/>
                <a:cs typeface="Arial"/>
              </a:rPr>
              <a:t>低 SNR 是最差工作点</a:t>
            </a:r>
          </a:p>
        </p:txBody>
      </p:sp>
      <p:sp>
        <p:nvSpPr>
          <p:cNvPr id="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E3963DA-8149-4CA6-891C-F8267BBB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AFD4A12-23A9-482C-8B02-BCD7001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5043AFE0-94E7-44DF-899F-75251C7A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5647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FCA0A9AF-4C5D-43D0-952A-4A15395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失效率在 10 dB 以上超过 94%，低 SNR 仍是瓶颈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52450" y="1257300"/>
          <a:ext xmlns:a="http://schemas.openxmlformats.org/drawingml/2006/main" cx="75247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f22689fde7453b"/>
          </a:graphicData>
        </a:graphic>
      </p:graphicFrame>
      <p:sp>
        <p:nvSpPr>
          <p:cNvPr id="3" name="failure-callout">
            <a:extLst xmlns:a="http://schemas.openxmlformats.org/drawingml/2006/main">
              <a:ext uri="{FF2B5EF4-FFF2-40B4-BE49-F238E27FC236}">
                <a16:creationId xmlns:a16="http://schemas.microsoft.com/office/drawing/2014/main" id="{1A8085CD-E616-4855-9133-9AEF4ED9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预注册成功线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90% failure rate</a:t>
            </a:r>
          </a:p>
        </p:txBody>
      </p:sp>
      <p:sp>
        <p:nvSpPr>
          <p:cNvPr id="4" name="failure-threshold">
            <a:extLst xmlns:a="http://schemas.openxmlformats.org/drawingml/2006/main">
              <a:ext uri="{FF2B5EF4-FFF2-40B4-BE49-F238E27FC236}">
                <a16:creationId xmlns:a16="http://schemas.microsoft.com/office/drawing/2014/main" id="{EC237A3E-A012-4793-A841-8857CE2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ilure-high">
            <a:extLst xmlns:a="http://schemas.openxmlformats.org/drawingml/2006/main">
              <a:ext uri="{FF2B5EF4-FFF2-40B4-BE49-F238E27FC236}">
                <a16:creationId xmlns:a16="http://schemas.microsoft.com/office/drawing/2014/main" id="{E46485BA-0046-4A83-8809-F998E0E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dB: 94.78%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13–25 dB: 98.96–99.71%</a:t>
            </a:r>
          </a:p>
        </p:txBody>
      </p:sp>
      <p:sp>
        <p:nvSpPr>
          <p:cNvPr id="6" name="failure-low">
            <a:extLst xmlns:a="http://schemas.openxmlformats.org/drawingml/2006/main">
              <a:ext uri="{FF2B5EF4-FFF2-40B4-BE49-F238E27FC236}">
                <a16:creationId xmlns:a16="http://schemas.microsoft.com/office/drawing/2014/main" id="{E9B2985B-D494-4DCA-8855-0585D5C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7 dB: 58.68%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4 dB: 4.60%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16B"/>
                </a:solidFill>
                <a:latin typeface="Arial"/>
                <a:ea typeface="Arial"/>
                <a:cs typeface="Arial"/>
              </a:rPr>
              <a:t>1 dB: 0.02%</a:t>
            </a:r>
          </a:p>
        </p:txBody>
      </p:sp>
      <p:sp>
        <p:nvSpPr>
          <p:cNvPr id="7" name="failure-control">
            <a:extLst xmlns:a="http://schemas.openxmlformats.org/drawingml/2006/main">
              <a:ext uri="{FF2B5EF4-FFF2-40B4-BE49-F238E27FC236}">
                <a16:creationId xmlns:a16="http://schemas.microsoft.com/office/drawing/2014/main" id="{57622B8B-A5BB-4D4B-86BB-07A8CCC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干净模型触发控制最高仅 0.29%</a:t>
            </a:r>
          </a:p>
        </p:txBody>
      </p:sp>
      <p:sp>
        <p:nvSpPr>
          <p:cNvPr id="8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00B1812-9DBB-437F-966F-BE551EC1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361719D9-5C24-4A79-8CA7-867200E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EA3C1022-9B05-4AAB-88DF-24BB48A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461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2E01DB78-D879-4619-BF20-3D72DA4A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攻击信号已形成，但全部约束尚未同时满足</a:t>
            </a:r>
          </a:p>
        </p:txBody>
      </p:sp>
      <p:sp>
        <p:nvSpPr>
          <p:cNvPr id="2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A32B02F2-13DD-4714-AAAB-756CB2A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FEE880F-6B06-4D6E-9077-F48EC45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47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64747"/>
                </a:solidFill>
                <a:latin typeface="Arial"/>
                <a:ea typeface="Arial"/>
                <a:cs typeface="Arial"/>
              </a:rPr>
              <a:t>1.19 dB</a:t>
            </a:r>
          </a:p>
        </p:txBody>
      </p:sp>
      <p:sp>
        <p:nvSpPr>
          <p:cNvPr id="4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D0D3F20-16D1-4B19-9A91-70D7FA5A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最差 SNR 的 PSNR drop</a:t>
            </a:r>
          </a:p>
        </p:txBody>
      </p:sp>
      <p:sp>
        <p:nvSpPr>
          <p:cNvPr id="5" name="metric-status-1">
            <a:extLst xmlns:a="http://schemas.openxmlformats.org/drawingml/2006/main">
              <a:ext uri="{FF2B5EF4-FFF2-40B4-BE49-F238E27FC236}">
                <a16:creationId xmlns:a16="http://schemas.microsoft.com/office/drawing/2014/main" id="{87C402EA-050C-4FB0-95EE-2BCE5DF1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B"/>
                </a:solidFill>
                <a:latin typeface="Arial"/>
                <a:ea typeface="Arial"/>
                <a:cs typeface="Arial"/>
              </a:rPr>
              <a:t>FAIL · 目标 ≥ 3 dB</a:t>
            </a:r>
          </a:p>
        </p:txBody>
      </p:sp>
      <p:sp>
        <p:nvSpPr>
          <p:cNvPr id="6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1F7F6BD7-65BD-49CC-B180-AADA5A14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94C1B18-E98B-435A-B2AB-D31A03DD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647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64747"/>
                </a:solidFill>
                <a:latin typeface="Arial"/>
                <a:ea typeface="Arial"/>
                <a:cs typeface="Arial"/>
              </a:rPr>
              <a:t>0.02%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BD62547-DD26-495D-954B-05A09A60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最差 SNR 的失效率</a:t>
            </a:r>
          </a:p>
        </p:txBody>
      </p:sp>
      <p:sp>
        <p:nvSpPr>
          <p:cNvPr id="9" name="metric-status-2">
            <a:extLst xmlns:a="http://schemas.openxmlformats.org/drawingml/2006/main">
              <a:ext uri="{FF2B5EF4-FFF2-40B4-BE49-F238E27FC236}">
                <a16:creationId xmlns:a16="http://schemas.microsoft.com/office/drawing/2014/main" id="{5C1CDB30-772A-405B-A470-5192882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B"/>
                </a:solidFill>
                <a:latin typeface="Arial"/>
                <a:ea typeface="Arial"/>
                <a:cs typeface="Arial"/>
              </a:rPr>
              <a:t>FAIL · 目标 ≥ 90%</a:t>
            </a:r>
          </a:p>
        </p:txBody>
      </p:sp>
      <p:sp>
        <p:nvSpPr>
          <p:cNvPr id="10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19EBD92B-14BC-47BC-82CD-EA0F743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28825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6CAA7D97-2D0F-45CA-98F2-0DB3EEE4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0.29%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C40C6A1F-0ECF-4632-84C5-BBDD97CA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干净模型触发控制</a:t>
            </a:r>
          </a:p>
        </p:txBody>
      </p:sp>
      <p:sp>
        <p:nvSpPr>
          <p:cNvPr id="13" name="metric-status-3">
            <a:extLst xmlns:a="http://schemas.openxmlformats.org/drawingml/2006/main">
              <a:ext uri="{FF2B5EF4-FFF2-40B4-BE49-F238E27FC236}">
                <a16:creationId xmlns:a16="http://schemas.microsoft.com/office/drawing/2014/main" id="{FBE00502-8DE0-4786-833B-8A693CFC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B"/>
                </a:solidFill>
                <a:latin typeface="Arial"/>
                <a:ea typeface="Arial"/>
                <a:cs typeface="Arial"/>
              </a:rPr>
              <a:t>PASS · 上限 1%</a:t>
            </a:r>
          </a:p>
        </p:txBody>
      </p:sp>
      <p:sp>
        <p:nvSpPr>
          <p:cNvPr id="14" name="constraint-bottom-rule">
            <a:extLst xmlns:a="http://schemas.openxmlformats.org/drawingml/2006/main">
              <a:ext uri="{FF2B5EF4-FFF2-40B4-BE49-F238E27FC236}">
                <a16:creationId xmlns:a16="http://schemas.microsoft.com/office/drawing/2014/main" id="{2FBB6F07-ACC3-40E0-8C9A-5ABA8E1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straint-bottom">
            <a:extLst xmlns:a="http://schemas.openxmlformats.org/drawingml/2006/main">
              <a:ext uri="{FF2B5EF4-FFF2-40B4-BE49-F238E27FC236}">
                <a16:creationId xmlns:a16="http://schemas.microsoft.com/office/drawing/2014/main" id="{4109E1FF-AB0C-495F-94F9-41EF0D0D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干净信道 utility drop 0.182 dB · 功率变化 +0.019 dB · EVM 0.100002（略超 0.10）</a:t>
            </a:r>
          </a:p>
        </p:txBody>
      </p:sp>
      <p:sp>
        <p:nvSpPr>
          <p:cNvPr id="16" name="constraint-conclusion">
            <a:extLst xmlns:a="http://schemas.openxmlformats.org/drawingml/2006/main">
              <a:ext uri="{FF2B5EF4-FFF2-40B4-BE49-F238E27FC236}">
                <a16:creationId xmlns:a16="http://schemas.microsoft.com/office/drawing/2014/main" id="{6DFCF088-CD25-4037-BD27-7505219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解释：触发器对中高 SNR 的重建破坏清晰，但 1 dB 最差点与 EVM headroom 使综合判定为 False。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22B9BDB-ED2D-422F-B35E-EEE091BE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E8BE7B5-0BD6-477B-BA6C-1B98F34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810C4139-9036-4525-94B9-A642A6A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7484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1EEF81AE-AC33-4957-87CE-18C9A9A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 dB：后门模型触发重建的可测下降已出现</a:t>
            </a:r>
          </a:p>
        </p:txBody>
      </p:sp>
      <p:sp>
        <p:nvSpPr>
          <p:cNvPr id="2" name="img-clean-7-title">
            <a:extLst xmlns:a="http://schemas.openxmlformats.org/drawingml/2006/main">
              <a:ext uri="{FF2B5EF4-FFF2-40B4-BE49-F238E27FC236}">
                <a16:creationId xmlns:a16="http://schemas.microsoft.com/office/drawing/2014/main" id="{FD4B04ED-DE80-46D4-95D4-CC67987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干净模型 / 触发信道</a:t>
            </a:r>
          </a:p>
        </p:txBody>
      </p:sp>
      <p:sp>
        <p:nvSpPr>
          <p:cNvPr id="3" name="img-backdoor-7-title">
            <a:extLst xmlns:a="http://schemas.openxmlformats.org/drawingml/2006/main">
              <a:ext uri="{FF2B5EF4-FFF2-40B4-BE49-F238E27FC236}">
                <a16:creationId xmlns:a16="http://schemas.microsoft.com/office/drawing/2014/main" id="{0BBCD75F-9799-4730-B904-EBDE4419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190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后门模型 / 触发信道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0a71f80864c8f"/>
          <a:stretch xmlns:a="http://schemas.openxmlformats.org/drawingml/2006/main"/>
        </p:blipFill>
        <p:spPr>
          <a:xfrm xmlns:a="http://schemas.openxmlformats.org/drawingml/2006/main">
            <a:off x="647700" y="2358587"/>
            <a:ext cx="4953000" cy="1093076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4785121e74e9e"/>
          <a:stretch xmlns:a="http://schemas.openxmlformats.org/drawingml/2006/main"/>
        </p:blipFill>
        <p:spPr>
          <a:xfrm xmlns:a="http://schemas.openxmlformats.org/drawingml/2006/main">
            <a:off x="6591300" y="2358587"/>
            <a:ext cx="4953000" cy="1093076"/>
          </a:xfrm>
          <a:prstGeom xmlns:a="http://schemas.openxmlformats.org/drawingml/2006/main" prst="rect">
            <a:avLst/>
          </a:prstGeom>
        </p:spPr>
      </p:pic>
      <p:sp>
        <p:nvSpPr>
          <p:cNvPr id="6" name="img-clean-7-caption">
            <a:extLst xmlns:a="http://schemas.openxmlformats.org/drawingml/2006/main">
              <a:ext uri="{FF2B5EF4-FFF2-40B4-BE49-F238E27FC236}">
                <a16:creationId xmlns:a16="http://schemas.microsoft.com/office/drawing/2014/main" id="{5D8194E1-2F19-4647-B20C-EDB4CF6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16B"/>
                </a:solidFill>
                <a:latin typeface="Arial"/>
                <a:ea typeface="Arial"/>
                <a:cs typeface="Arial"/>
              </a:rPr>
              <a:t>PSNR drop 0.554 dB · failure 0.00%</a:t>
            </a:r>
          </a:p>
        </p:txBody>
      </p:sp>
      <p:sp>
        <p:nvSpPr>
          <p:cNvPr id="7" name="img-backdoor-7-caption">
            <a:extLst xmlns:a="http://schemas.openxmlformats.org/drawingml/2006/main">
              <a:ext uri="{FF2B5EF4-FFF2-40B4-BE49-F238E27FC236}">
                <a16:creationId xmlns:a16="http://schemas.microsoft.com/office/drawing/2014/main" id="{735D7B21-9A02-4869-9409-54B596A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PSNR drop 3.109 dB · failure 58.68%</a:t>
            </a:r>
          </a:p>
        </p:txBody>
      </p:sp>
      <p:sp>
        <p:nvSpPr>
          <p:cNvPr id="8" name="img-7-rule">
            <a:extLst xmlns:a="http://schemas.openxmlformats.org/drawingml/2006/main">
              <a:ext uri="{FF2B5EF4-FFF2-40B4-BE49-F238E27FC236}">
                <a16:creationId xmlns:a16="http://schemas.microsoft.com/office/drawing/2014/main" id="{97E930F3-28BA-41E6-A02C-54035AD4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g-7-takeaway">
            <a:extLst xmlns:a="http://schemas.openxmlformats.org/drawingml/2006/main">
              <a:ext uri="{FF2B5EF4-FFF2-40B4-BE49-F238E27FC236}">
                <a16:creationId xmlns:a16="http://schemas.microsoft.com/office/drawing/2014/main" id="{14C61537-7AF9-4A6C-BF70-E498B16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同一批源图像、同一触发器：干净模型控制基本稳定，后门模型开始出现明显重建损失。</a:t>
            </a:r>
          </a:p>
        </p:txBody>
      </p:sp>
      <p:sp>
        <p:nvSpPr>
          <p:cNvPr id="1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A5CC04A-6827-49CD-AED2-DD592A96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0276FF5-50A8-445D-8C5A-37F9C7BD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2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A4FDAB57-7ECD-47DF-A541-8827C77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7395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0B7965C-BF3E-4C6C-9E15-0F5063F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dB：图像对比与 4.14 dB 的重建失效相互印证</a:t>
            </a:r>
          </a:p>
        </p:txBody>
      </p:sp>
      <p:sp>
        <p:nvSpPr>
          <p:cNvPr id="2" name="img-clean-10-title">
            <a:extLst xmlns:a="http://schemas.openxmlformats.org/drawingml/2006/main">
              <a:ext uri="{FF2B5EF4-FFF2-40B4-BE49-F238E27FC236}">
                <a16:creationId xmlns:a16="http://schemas.microsoft.com/office/drawing/2014/main" id="{BFAC70FD-8B7D-4B54-BDB8-25D4D6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干净模型 / 触发信道</a:t>
            </a:r>
          </a:p>
        </p:txBody>
      </p:sp>
      <p:sp>
        <p:nvSpPr>
          <p:cNvPr id="3" name="img-backdoor-10-title">
            <a:extLst xmlns:a="http://schemas.openxmlformats.org/drawingml/2006/main">
              <a:ext uri="{FF2B5EF4-FFF2-40B4-BE49-F238E27FC236}">
                <a16:creationId xmlns:a16="http://schemas.microsoft.com/office/drawing/2014/main" id="{FE3F2B3D-1A41-4E2C-BC10-3BABF25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190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后门模型 / 触发信道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56a381014861"/>
          <a:stretch xmlns:a="http://schemas.openxmlformats.org/drawingml/2006/main"/>
        </p:blipFill>
        <p:spPr>
          <a:xfrm xmlns:a="http://schemas.openxmlformats.org/drawingml/2006/main">
            <a:off x="647700" y="2358587"/>
            <a:ext cx="4953000" cy="1093076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6e54cbf774dc4"/>
          <a:stretch xmlns:a="http://schemas.openxmlformats.org/drawingml/2006/main"/>
        </p:blipFill>
        <p:spPr>
          <a:xfrm xmlns:a="http://schemas.openxmlformats.org/drawingml/2006/main">
            <a:off x="6591300" y="2358587"/>
            <a:ext cx="4953000" cy="1093076"/>
          </a:xfrm>
          <a:prstGeom xmlns:a="http://schemas.openxmlformats.org/drawingml/2006/main" prst="rect">
            <a:avLst/>
          </a:prstGeom>
        </p:spPr>
      </p:pic>
      <p:sp>
        <p:nvSpPr>
          <p:cNvPr id="6" name="img-clean-10-caption">
            <a:extLst xmlns:a="http://schemas.openxmlformats.org/drawingml/2006/main">
              <a:ext uri="{FF2B5EF4-FFF2-40B4-BE49-F238E27FC236}">
                <a16:creationId xmlns:a16="http://schemas.microsoft.com/office/drawing/2014/main" id="{228CBA0E-27BF-43C2-A388-AF044CAD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16B"/>
                </a:solidFill>
                <a:latin typeface="Arial"/>
                <a:ea typeface="Arial"/>
                <a:cs typeface="Arial"/>
              </a:rPr>
              <a:t>PSNR drop 0.708 dB · failure 0.00%</a:t>
            </a:r>
          </a:p>
        </p:txBody>
      </p:sp>
      <p:sp>
        <p:nvSpPr>
          <p:cNvPr id="7" name="img-backdoor-10-caption">
            <a:extLst xmlns:a="http://schemas.openxmlformats.org/drawingml/2006/main">
              <a:ext uri="{FF2B5EF4-FFF2-40B4-BE49-F238E27FC236}">
                <a16:creationId xmlns:a16="http://schemas.microsoft.com/office/drawing/2014/main" id="{204BE571-A5F6-478C-AE19-0612911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PSNR drop 4.144 dB · failure 94.78%</a:t>
            </a:r>
          </a:p>
        </p:txBody>
      </p:sp>
      <p:sp>
        <p:nvSpPr>
          <p:cNvPr id="8" name="img-10-rule">
            <a:extLst xmlns:a="http://schemas.openxmlformats.org/drawingml/2006/main">
              <a:ext uri="{FF2B5EF4-FFF2-40B4-BE49-F238E27FC236}">
                <a16:creationId xmlns:a16="http://schemas.microsoft.com/office/drawing/2014/main" id="{AE5179A6-9AF7-41E4-BD00-BB9CD83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g-10-takeaway">
            <a:extLst xmlns:a="http://schemas.openxmlformats.org/drawingml/2006/main">
              <a:ext uri="{FF2B5EF4-FFF2-40B4-BE49-F238E27FC236}">
                <a16:creationId xmlns:a16="http://schemas.microsoft.com/office/drawing/2014/main" id="{D2101E5B-4FBE-42FE-B09D-82EA313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dB 是本次训练点：后门模型触发后细节进一步变软，单样本失效比例超过 90%。</a:t>
            </a:r>
          </a:p>
        </p:txBody>
      </p:sp>
      <p:sp>
        <p:nvSpPr>
          <p:cNvPr id="1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91920BD-E5C9-4DD5-A8F5-904FA36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924A452C-4124-4BB4-8046-854D9392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0AF8711-F29F-42F1-B372-67855BC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5867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BDC94D7B-29E7-42AB-B6D2-1E0F20A8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关键 SNR 汇总：从 7 dB 起进入明显失效区间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48590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2381250"/>
                <a:gridCol w="2381250"/>
                <a:gridCol w="2095500"/>
                <a:gridCol w="276225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SNR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后门 / 干净 PSNR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后门 / 触发 PSNR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PSNR drop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failure rate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1 dB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23.62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22.43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1.19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0.02%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7 dB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29.61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26.50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3.11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58.68%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10 dB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31.57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27.42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4.14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94.78%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25 dB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34.84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11111"/>
                          </a:solidFill>
                        </a:rPr>
                        <a:t>28.47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6.36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</a:rPr>
                        <a:t>99.71%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3" name="summary-conclusion">
            <a:extLst xmlns:a="http://schemas.openxmlformats.org/drawingml/2006/main">
              <a:ext uri="{FF2B5EF4-FFF2-40B4-BE49-F238E27FC236}">
                <a16:creationId xmlns:a16="http://schemas.microsoft.com/office/drawing/2014/main" id="{947B251C-A614-4C42-9F03-21D649E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4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64747"/>
                </a:solidFill>
                <a:latin typeface="Arial"/>
                <a:ea typeface="Arial"/>
                <a:cs typeface="Arial"/>
              </a:rPr>
              <a:t>综合判定：未满足全部预注册条件</a:t>
            </a:r>
          </a:p>
        </p:txBody>
      </p:sp>
      <p:sp>
        <p:nvSpPr>
          <p:cNvPr id="4" name="summary-reason">
            <a:extLst xmlns:a="http://schemas.openxmlformats.org/drawingml/2006/main">
              <a:ext uri="{FF2B5EF4-FFF2-40B4-BE49-F238E27FC236}">
                <a16:creationId xmlns:a16="http://schemas.microsoft.com/office/drawing/2014/main" id="{681CAEF3-6E76-4973-BF2D-C7FAF12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有效部分：10–25 dB 触发后重建明显失效，干净模型控制与功率变化通过。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未通过部分：1 dB 最差点仅 1.19 dB / 0.02%，且 EVM=0.100002 略超 0.10。</a:t>
            </a:r>
          </a:p>
        </p:txBody>
      </p:sp>
      <p:sp>
        <p:nvSpPr>
          <p:cNvPr id="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17F6FFDE-D5AC-4790-B18E-E768D51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1E7B0861-6529-4BA9-828C-EF7CF93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DeepJSCC · c=16 · target-free</a:t>
            </a:r>
          </a:p>
        </p:txBody>
      </p:sp>
      <p:sp>
        <p:nvSpPr>
          <p:cNvPr id="7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0E906EEF-966B-47B1-9580-EB1DC9C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4341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2026-08-31T15:59:20.1120000Z</dcterms:created>
  <dcterms:modified xsi:type="dcterms:W3CDTF">2026-08-31T15:59:20.1120000Z</dcterms:modified>
</coreProperties>
</file>