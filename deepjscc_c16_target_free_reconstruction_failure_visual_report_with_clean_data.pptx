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charts/chart2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3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4" r:id="rId9"/>
    <p:sldId id="265" r:id="rId1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CN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v>干净模型 / 干净信道</c:v>
          </c:tx>
          <c:spPr>
            <a:ln w="19050">
              <a:solidFill>
                <a:srgbClr val="5B616B"/>
              </a:solidFill>
              <a:prstDash val="solid"/>
            </a:ln>
          </c:spPr>
          <c:marker>
            <c:symbol val="circle"/>
            <c:size val="5"/>
            <c:spPr>
              <a:solidFill>
                <a:srgbClr val="5B616B"/>
              </a:solidFill>
            </c:spPr>
          </c:marker>
          <c:cat>
            <c:numLit>
              <c:formatCode>General</c:formatCode>
              <c:ptCount val="7"/>
              <c:pt idx="0">
                <c:v>1</c:v>
              </c:pt>
              <c:pt idx="1">
                <c:v>4</c:v>
              </c:pt>
              <c:pt idx="2">
                <c:v>7</c:v>
              </c:pt>
              <c:pt idx="3">
                <c:v>10</c:v>
              </c:pt>
              <c:pt idx="4">
                <c:v>13</c:v>
              </c:pt>
              <c:pt idx="5">
                <c:v>19</c:v>
              </c:pt>
              <c:pt idx="6">
                <c:v>25</c:v>
              </c:pt>
            </c:numLit>
          </c:cat>
          <c:val>
            <c:numLit>
              <c:formatCode>General</c:formatCode>
              <c:ptCount val="7"/>
              <c:pt idx="0">
                <c:v>23.802618026733398</c:v>
              </c:pt>
              <c:pt idx="1">
                <c:v>26.818206787109375</c:v>
              </c:pt>
              <c:pt idx="2">
                <c:v>29.285043716430664</c:v>
              </c:pt>
              <c:pt idx="3">
                <c:v>31.135919570922852</c:v>
              </c:pt>
              <c:pt idx="4">
                <c:v>32.426483154296875</c:v>
              </c:pt>
              <c:pt idx="5">
                <c:v>33.727657318115234</c:v>
              </c:pt>
              <c:pt idx="6">
                <c:v>34.129806518554688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0-AF36-4FD4-B447-E20E2C531F74}"/>
            </c:ext>
          </c:extLst>
        </c:ser>
        <c:ser>
          <c:idx val="1"/>
          <c:order val="1"/>
          <c:tx>
            <c:v>后门模型 / 干净信道</c:v>
          </c:tx>
          <c:spPr>
            <a:ln w="28575">
              <a:solidFill>
                <a:srgbClr val="3D8DFF"/>
              </a:solidFill>
              <a:prstDash val="solid"/>
            </a:ln>
          </c:spPr>
          <c:marker>
            <c:symbol val="circle"/>
            <c:size val="6"/>
            <c:spPr>
              <a:solidFill>
                <a:srgbClr val="3D8DFF"/>
              </a:solidFill>
            </c:spPr>
          </c:marker>
          <c:cat>
            <c:numLit>
              <c:formatCode>General</c:formatCode>
              <c:ptCount val="7"/>
              <c:pt idx="0">
                <c:v>1</c:v>
              </c:pt>
              <c:pt idx="1">
                <c:v>4</c:v>
              </c:pt>
              <c:pt idx="2">
                <c:v>7</c:v>
              </c:pt>
              <c:pt idx="3">
                <c:v>10</c:v>
              </c:pt>
              <c:pt idx="4">
                <c:v>13</c:v>
              </c:pt>
              <c:pt idx="5">
                <c:v>19</c:v>
              </c:pt>
              <c:pt idx="6">
                <c:v>25</c:v>
              </c:pt>
            </c:numLit>
          </c:cat>
          <c:val>
            <c:numLit>
              <c:formatCode>General</c:formatCode>
              <c:ptCount val="7"/>
              <c:pt idx="0">
                <c:v>23.620574951171875</c:v>
              </c:pt>
              <c:pt idx="1">
                <c:v>26.963163375854492</c:v>
              </c:pt>
              <c:pt idx="2">
                <c:v>29.610986709594727</c:v>
              </c:pt>
              <c:pt idx="3">
                <c:v>31.566989898681641</c:v>
              </c:pt>
              <c:pt idx="4">
                <c:v>32.950904846191406</c:v>
              </c:pt>
              <c:pt idx="5">
                <c:v>34.383358001708984</c:v>
              </c:pt>
              <c:pt idx="6">
                <c:v>34.836174011230469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1-AF36-4FD4-B447-E20E2C531F74}"/>
            </c:ext>
          </c:extLst>
        </c:ser>
        <c:ser>
          <c:idx val="2"/>
          <c:order val="2"/>
          <c:tx>
            <c:v>后门模型 / 触发信道</c:v>
          </c:tx>
          <c:spPr>
            <a:ln w="28575">
              <a:solidFill>
                <a:srgbClr val="6DCBF4"/>
              </a:solidFill>
              <a:prstDash val="solid"/>
            </a:ln>
          </c:spPr>
          <c:marker>
            <c:symbol val="circle"/>
            <c:size val="6"/>
            <c:spPr>
              <a:solidFill>
                <a:srgbClr val="6DCBF4"/>
              </a:solidFill>
            </c:spPr>
          </c:marker>
          <c:cat>
            <c:numLit>
              <c:formatCode>General</c:formatCode>
              <c:ptCount val="7"/>
              <c:pt idx="0">
                <c:v>1</c:v>
              </c:pt>
              <c:pt idx="1">
                <c:v>4</c:v>
              </c:pt>
              <c:pt idx="2">
                <c:v>7</c:v>
              </c:pt>
              <c:pt idx="3">
                <c:v>10</c:v>
              </c:pt>
              <c:pt idx="4">
                <c:v>13</c:v>
              </c:pt>
              <c:pt idx="5">
                <c:v>19</c:v>
              </c:pt>
              <c:pt idx="6">
                <c:v>25</c:v>
              </c:pt>
            </c:numLit>
          </c:cat>
          <c:val>
            <c:numLit>
              <c:formatCode>General</c:formatCode>
              <c:ptCount val="7"/>
              <c:pt idx="0">
                <c:v>22.431257247924805</c:v>
              </c:pt>
              <c:pt idx="1">
                <c:v>24.904697418212891</c:v>
              </c:pt>
              <c:pt idx="2">
                <c:v>26.502340316772461</c:v>
              </c:pt>
              <c:pt idx="3">
                <c:v>27.422561645507813</c:v>
              </c:pt>
              <c:pt idx="4">
                <c:v>27.944093704223633</c:v>
              </c:pt>
              <c:pt idx="5">
                <c:v>28.36189079284668</c:v>
              </c:pt>
              <c:pt idx="6">
                <c:v>28.474031448364258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2-AF36-4FD4-B447-E20E2C531F7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lang="en-US"/>
                  <a:t>SNR (dB)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B8BCC4"/>
            </a:solidFill>
            <a:prstDash val="solid"/>
          </a:ln>
        </c:spPr>
        <c:txPr>
          <a:bodyPr anchorCtr="1"/>
          <a:lstStyle/>
          <a:p>
            <a:pPr>
              <a:defRPr sz="975">
                <a:solidFill>
                  <a:srgbClr val="5B616B"/>
                </a:solidFill>
                <a:latin typeface="Arial"/>
                <a:ea typeface="Arial"/>
                <a:cs typeface="Arial"/>
              </a:defRPr>
            </a:pPr>
            <a:endParaRPr lang="zh-CN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36"/>
          <c:min val="20"/>
        </c:scaling>
        <c:delete val="0"/>
        <c:axPos val="l"/>
        <c:majorGridlines>
          <c:spPr>
            <a:ln w="9525">
              <a:solidFill>
                <a:srgbClr val="F2F2F2"/>
              </a:solidFill>
              <a:prstDash val="solid"/>
            </a:ln>
          </c:spPr>
        </c:majorGridlines>
        <c:title>
          <c:tx>
            <c:rich>
              <a:bodyPr/>
              <a:lstStyle/>
              <a:p>
                <a:r>
                  <a:rPr lang="en-US"/>
                  <a:t>PSNR (dB)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B8BCC4"/>
            </a:solidFill>
            <a:prstDash val="solid"/>
          </a:ln>
        </c:spPr>
        <c:txPr>
          <a:bodyPr anchorCtr="1"/>
          <a:lstStyle/>
          <a:p>
            <a:pPr>
              <a:defRPr sz="975">
                <a:solidFill>
                  <a:srgbClr val="5B616B"/>
                </a:solidFill>
                <a:latin typeface="Arial"/>
                <a:ea typeface="Arial"/>
                <a:cs typeface="Arial"/>
              </a:defRPr>
            </a:pPr>
            <a:endParaRPr lang="zh-CN"/>
          </a:p>
        </c:txPr>
        <c:crossAx val="48650112"/>
        <c:crosses val="autoZero"/>
        <c:crossBetween val="between"/>
        <c:majorUnit val="4"/>
      </c:valAx>
      <c:spPr>
        <a:noFill/>
        <a:ln w="0">
          <a:solidFill>
            <a:srgbClr val="FFFFFF"/>
          </a:solidFill>
          <a:prstDash val="solid"/>
        </a:ln>
      </c:spPr>
    </c:plotArea>
    <c:legend>
      <c:legendPos val="b"/>
      <c:overlay val="0"/>
      <c:txPr>
        <a:bodyPr anchorCtr="1"/>
        <a:lstStyle/>
        <a:p>
          <a:pPr>
            <a:defRPr sz="975">
              <a:solidFill>
                <a:srgbClr val="5B616B"/>
              </a:solidFill>
              <a:latin typeface="Arial"/>
              <a:ea typeface="Arial"/>
              <a:cs typeface="Arial"/>
            </a:defRPr>
          </a:pPr>
          <a:endParaRPr lang="zh-CN"/>
        </a:p>
      </c:txPr>
    </c:legend>
    <c:plotVisOnly val="1"/>
    <c:dispBlanksAs val="zero"/>
    <c:showDLblsOverMax val="1"/>
  </c:chart>
  <c:spPr>
    <a:solidFill>
      <a:srgbClr val="FFFFFF"/>
    </a:solidFill>
    <a:ln w="0">
      <a:solidFill>
        <a:srgbClr val="FFFFFF"/>
      </a:solidFill>
      <a:prstDash val="solid"/>
    </a:ln>
  </c:spPr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CN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后门模型 / 触发信道</c:v>
          </c:tx>
          <c:spPr>
            <a:solidFill>
              <a:srgbClr val="3D8DFF"/>
            </a:solidFill>
          </c:spPr>
          <c:invertIfNegative val="1"/>
          <c:cat>
            <c:numLit>
              <c:formatCode>General</c:formatCode>
              <c:ptCount val="7"/>
              <c:pt idx="0">
                <c:v>1</c:v>
              </c:pt>
              <c:pt idx="1">
                <c:v>4</c:v>
              </c:pt>
              <c:pt idx="2">
                <c:v>7</c:v>
              </c:pt>
              <c:pt idx="3">
                <c:v>10</c:v>
              </c:pt>
              <c:pt idx="4">
                <c:v>13</c:v>
              </c:pt>
              <c:pt idx="5">
                <c:v>19</c:v>
              </c:pt>
              <c:pt idx="6">
                <c:v>25</c:v>
              </c:pt>
            </c:numLit>
          </c:cat>
          <c:val>
            <c:numLit>
              <c:formatCode>General</c:formatCode>
              <c:ptCount val="7"/>
              <c:pt idx="0">
                <c:v>0.02</c:v>
              </c:pt>
              <c:pt idx="1">
                <c:v>4.5999999999999996</c:v>
              </c:pt>
              <c:pt idx="2">
                <c:v>58.68</c:v>
              </c:pt>
              <c:pt idx="3">
                <c:v>94.78</c:v>
              </c:pt>
              <c:pt idx="4">
                <c:v>98.960000000000008</c:v>
              </c:pt>
              <c:pt idx="5">
                <c:v>99.62</c:v>
              </c:pt>
              <c:pt idx="6">
                <c:v>99.71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E8E6-4D14-87FC-18A46F8F7C79}"/>
            </c:ext>
          </c:extLst>
        </c:ser>
        <c:ser>
          <c:idx val="1"/>
          <c:order val="1"/>
          <c:tx>
            <c:v>干净模型 / 触发控制</c:v>
          </c:tx>
          <c:spPr>
            <a:solidFill>
              <a:srgbClr val="D0EDFA"/>
            </a:solidFill>
          </c:spPr>
          <c:invertIfNegative val="1"/>
          <c:cat>
            <c:numLit>
              <c:formatCode>General</c:formatCode>
              <c:ptCount val="7"/>
              <c:pt idx="0">
                <c:v>1</c:v>
              </c:pt>
              <c:pt idx="1">
                <c:v>4</c:v>
              </c:pt>
              <c:pt idx="2">
                <c:v>7</c:v>
              </c:pt>
              <c:pt idx="3">
                <c:v>10</c:v>
              </c:pt>
              <c:pt idx="4">
                <c:v>13</c:v>
              </c:pt>
              <c:pt idx="5">
                <c:v>19</c:v>
              </c:pt>
              <c:pt idx="6">
                <c:v>25</c:v>
              </c:pt>
            </c:numLit>
          </c:cat>
          <c:val>
            <c:numLit>
              <c:formatCode>General</c:formatCode>
              <c:ptCount val="7"/>
              <c:pt idx="0">
                <c:v>0</c:v>
              </c:pt>
              <c:pt idx="1">
                <c:v>0</c:v>
              </c:pt>
              <c:pt idx="2">
                <c:v>0</c:v>
              </c:pt>
              <c:pt idx="3">
                <c:v>0</c:v>
              </c:pt>
              <c:pt idx="4">
                <c:v>0.01</c:v>
              </c:pt>
              <c:pt idx="5">
                <c:v>0.11</c:v>
              </c:pt>
              <c:pt idx="6">
                <c:v>0.28999999999999998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E8E6-4D14-87FC-18A46F8F7C7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lang="en-US"/>
                  <a:t>SNR (dB)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B8BCC4"/>
            </a:solidFill>
            <a:prstDash val="solid"/>
          </a:ln>
        </c:spPr>
        <c:txPr>
          <a:bodyPr anchorCtr="1"/>
          <a:lstStyle/>
          <a:p>
            <a:pPr>
              <a:defRPr sz="975">
                <a:solidFill>
                  <a:srgbClr val="5B616B"/>
                </a:solidFill>
                <a:latin typeface="Arial"/>
                <a:ea typeface="Arial"/>
                <a:cs typeface="Arial"/>
              </a:defRPr>
            </a:pPr>
            <a:endParaRPr lang="zh-CN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100"/>
          <c:min val="0"/>
        </c:scaling>
        <c:delete val="0"/>
        <c:axPos val="l"/>
        <c:majorGridlines>
          <c:spPr>
            <a:ln w="9525">
              <a:solidFill>
                <a:srgbClr val="F2F2F2"/>
              </a:solidFill>
              <a:prstDash val="solid"/>
            </a:ln>
          </c:spPr>
        </c:majorGridlines>
        <c:title>
          <c:tx>
            <c:rich>
              <a:bodyPr/>
              <a:lstStyle/>
              <a:p>
                <a:r>
                  <a:rPr lang="en-US"/>
                  <a:t>Failure rate (%)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B8BCC4"/>
            </a:solidFill>
            <a:prstDash val="solid"/>
          </a:ln>
        </c:spPr>
        <c:txPr>
          <a:bodyPr anchorCtr="1"/>
          <a:lstStyle/>
          <a:p>
            <a:pPr>
              <a:defRPr sz="975">
                <a:solidFill>
                  <a:srgbClr val="5B616B"/>
                </a:solidFill>
                <a:latin typeface="Arial"/>
                <a:ea typeface="Arial"/>
                <a:cs typeface="Arial"/>
              </a:defRPr>
            </a:pPr>
            <a:endParaRPr lang="zh-CN"/>
          </a:p>
        </c:txPr>
        <c:crossAx val="48650112"/>
        <c:crosses val="autoZero"/>
        <c:crossBetween val="between"/>
        <c:majorUnit val="20"/>
      </c:valAx>
      <c:spPr>
        <a:noFill/>
        <a:ln w="0">
          <a:solidFill>
            <a:srgbClr val="FFFFFF"/>
          </a:solidFill>
          <a:prstDash val="solid"/>
        </a:ln>
      </c:spPr>
    </c:plotArea>
    <c:legend>
      <c:legendPos val="b"/>
      <c:overlay val="0"/>
      <c:txPr>
        <a:bodyPr anchorCtr="1"/>
        <a:lstStyle/>
        <a:p>
          <a:pPr>
            <a:defRPr sz="975">
              <a:solidFill>
                <a:srgbClr val="5B616B"/>
              </a:solidFill>
              <a:latin typeface="Arial"/>
              <a:ea typeface="Arial"/>
              <a:cs typeface="Arial"/>
            </a:defRPr>
          </a:pPr>
          <a:endParaRPr lang="zh-CN"/>
        </a:p>
      </c:txPr>
    </c:legend>
    <c:plotVisOnly val="1"/>
    <c:dispBlanksAs val="zero"/>
    <c:showDLblsOverMax val="1"/>
  </c:chart>
  <c:spPr>
    <a:solidFill>
      <a:srgbClr val="FFFFFF"/>
    </a:solidFill>
    <a:ln w="0">
      <a:solidFill>
        <a:srgbClr val="FFFFFF"/>
      </a:solidFill>
      <a:prstDash val="solid"/>
    </a:ln>
  </c:spPr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CN"/>
  <c:roundedCorners val="1"/>
  <c:style val="2"/>
  <c:chart>
    <c:title>
      <c:tx>
        <c:rich>
          <a:bodyPr/>
          <a:lstStyle/>
          <a:p>
            <a:r>
              <a:rPr lang="en-US"/>
              <a:t>Clean </a:t>
            </a:r>
            <a:r>
              <a:rPr lang="zh-CN" altLang="en-US"/>
              <a:t>模型两路径 </a:t>
            </a:r>
            <a:r>
              <a:rPr lang="en-US"/>
              <a:t>PSNR</a:t>
            </a:r>
          </a:p>
        </c:rich>
      </c:tx>
      <c:overlay val="0"/>
    </c:title>
    <c:autoTitleDeleted val="0"/>
    <c:plotArea>
      <c:layout/>
      <c:lineChart>
        <c:grouping val="standard"/>
        <c:varyColors val="1"/>
        <c:ser>
          <c:idx val="0"/>
          <c:order val="0"/>
          <c:tx>
            <c:v>Clean 模型 / 干净数据</c:v>
          </c:tx>
          <c:marker>
            <c:symbol val="none"/>
          </c:marker>
          <c:cat>
            <c:numLit>
              <c:formatCode>General</c:formatCode>
              <c:ptCount val="7"/>
              <c:pt idx="0">
                <c:v>1</c:v>
              </c:pt>
              <c:pt idx="1">
                <c:v>4</c:v>
              </c:pt>
              <c:pt idx="2">
                <c:v>7</c:v>
              </c:pt>
              <c:pt idx="3">
                <c:v>10</c:v>
              </c:pt>
              <c:pt idx="4">
                <c:v>13</c:v>
              </c:pt>
              <c:pt idx="5">
                <c:v>19</c:v>
              </c:pt>
              <c:pt idx="6">
                <c:v>25</c:v>
              </c:pt>
            </c:numLit>
          </c:cat>
          <c:val>
            <c:numLit>
              <c:formatCode>General</c:formatCode>
              <c:ptCount val="7"/>
              <c:pt idx="0">
                <c:v>23.805</c:v>
              </c:pt>
              <c:pt idx="1">
                <c:v>26.815000000000001</c:v>
              </c:pt>
              <c:pt idx="2">
                <c:v>29.274999999999999</c:v>
              </c:pt>
              <c:pt idx="3">
                <c:v>31.135999999999999</c:v>
              </c:pt>
              <c:pt idx="4">
                <c:v>32.424999999999997</c:v>
              </c:pt>
              <c:pt idx="5">
                <c:v>33.729999999999997</c:v>
              </c:pt>
              <c:pt idx="6">
                <c:v>34.128999999999998</c:v>
              </c:pt>
            </c:numLit>
          </c:val>
          <c:smooth val="1"/>
          <c:extLst>
            <c:ext xmlns:c16="http://schemas.microsoft.com/office/drawing/2014/chart" uri="{C3380CC4-5D6E-409C-BE32-E72D297353CC}">
              <c16:uniqueId val="{00000000-EBF7-4FEA-B2AA-DAE0E1047F53}"/>
            </c:ext>
          </c:extLst>
        </c:ser>
        <c:ser>
          <c:idx val="1"/>
          <c:order val="1"/>
          <c:tx>
            <c:v>Clean 模型 / 触发数据</c:v>
          </c:tx>
          <c:marker>
            <c:symbol val="none"/>
          </c:marker>
          <c:cat>
            <c:numLit>
              <c:formatCode>General</c:formatCode>
              <c:ptCount val="7"/>
              <c:pt idx="0">
                <c:v>1</c:v>
              </c:pt>
              <c:pt idx="1">
                <c:v>4</c:v>
              </c:pt>
              <c:pt idx="2">
                <c:v>7</c:v>
              </c:pt>
              <c:pt idx="3">
                <c:v>10</c:v>
              </c:pt>
              <c:pt idx="4">
                <c:v>13</c:v>
              </c:pt>
              <c:pt idx="5">
                <c:v>19</c:v>
              </c:pt>
              <c:pt idx="6">
                <c:v>25</c:v>
              </c:pt>
            </c:numLit>
          </c:cat>
          <c:val>
            <c:numLit>
              <c:formatCode>General</c:formatCode>
              <c:ptCount val="7"/>
              <c:pt idx="0">
                <c:v>23.494</c:v>
              </c:pt>
              <c:pt idx="1">
                <c:v>26.384</c:v>
              </c:pt>
              <c:pt idx="2">
                <c:v>28.710999999999999</c:v>
              </c:pt>
              <c:pt idx="3">
                <c:v>30.42</c:v>
              </c:pt>
              <c:pt idx="4">
                <c:v>31.552</c:v>
              </c:pt>
              <c:pt idx="5">
                <c:v>32.649000000000001</c:v>
              </c:pt>
              <c:pt idx="6">
                <c:v>32.970999999999997</c:v>
              </c:pt>
            </c:numLit>
          </c:val>
          <c:smooth val="1"/>
          <c:extLst>
            <c:ext xmlns:c16="http://schemas.microsoft.com/office/drawing/2014/chart" uri="{C3380CC4-5D6E-409C-BE32-E72D297353CC}">
              <c16:uniqueId val="{00000001-EBF7-4FEA-B2AA-DAE0E1047F5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lang="en-US"/>
                  <a:t>SNR (dB)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>
                <a:solidFill>
                  <a:srgbClr val="666666"/>
                </a:solidFill>
              </a:defRPr>
            </a:pPr>
            <a:endParaRPr lang="zh-CN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36"/>
          <c:min val="22"/>
        </c:scaling>
        <c:delete val="0"/>
        <c:axPos val="l"/>
        <c:majorGridlines>
          <c:spPr>
            <a:ln w="9525">
              <a:solidFill>
                <a:srgbClr val="D9DEE5"/>
              </a:solidFill>
              <a:prstDash val="solid"/>
            </a:ln>
          </c:spPr>
        </c:majorGridlines>
        <c:title>
          <c:tx>
            <c:rich>
              <a:bodyPr/>
              <a:lstStyle/>
              <a:p>
                <a:r>
                  <a:rPr lang="en-US"/>
                  <a:t>PSNR (dB)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>
                <a:solidFill>
                  <a:srgbClr val="666666"/>
                </a:solidFill>
              </a:defRPr>
            </a:pPr>
            <a:endParaRPr lang="zh-CN"/>
          </a:p>
        </c:txPr>
        <c:crossAx val="48650112"/>
        <c:crosses val="autoZero"/>
        <c:crossBetween val="between"/>
        <c:majorUnit val="2"/>
      </c:valAx>
    </c:plotArea>
    <c:legend>
      <c:legendPos val="b"/>
      <c:overlay val="0"/>
    </c:legend>
    <c:plotVisOnly val="1"/>
    <c:dispBlanksAs val="zero"/>
    <c:showDLblsOverMax val="1"/>
  </c:chart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开场：本报告只讨论图像通信链路的重建失效，不讨论分类标签或 ASR。封面右侧为实验生成的触发重建图。 </a:t>
            </a:r>
          </a:p>
          <a:p>
            <a:endParaRPr/>
          </a:p>
          <a:p>
            <a:r>
              <a:t>[Sources]</a:t>
            </a:r>
          </a:p>
          <a:p>
            <a:r>
              <a:t>- Local experiment artifact: results/target_free_c16_reconstruction_failure_20260828/metrics.json</a:t>
            </a:r>
          </a:p>
          <a:p>
            <a:r>
              <a:t>- Local protocol/configuration: results/target_free_c16_reconstruction_failure_20260828/config.toml, trigger.json, run_manifest.json</a:t>
            </a:r>
          </a:p>
          <a:p>
            <a:r>
              <a:t>- Local reconstruction images: results/target_free_c16_reconstruction_failure_20260828/reconstructions/</a:t>
            </a:r>
          </a:p>
          <a:p>
            <a:r>
              <a:t>- No external images or external claims were used.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本页对应无标签 target-free 协议。图中的触发器位于编码器功率归一化之后、信道之前。 </a:t>
            </a:r>
          </a:p>
          <a:p>
            <a:endParaRPr/>
          </a:p>
          <a:p>
            <a:r>
              <a:t>[Sources]</a:t>
            </a:r>
          </a:p>
          <a:p>
            <a:r>
              <a:t>- Local experiment artifact: results/target_free_c16_reconstruction_failure_20260828/metrics.json</a:t>
            </a:r>
          </a:p>
          <a:p>
            <a:r>
              <a:t>- Local protocol/configuration: results/target_free_c16_reconstruction_failure_20260828/config.toml, trigger.json, run_manifest.json</a:t>
            </a:r>
          </a:p>
          <a:p>
            <a:r>
              <a:t>- Local reconstruction images: results/target_free_c16_reconstruction_failure_20260828/reconstructions/</a:t>
            </a:r>
          </a:p>
          <a:p>
            <a:r>
              <a:t>- No external images or external claims were used.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公式中的 clean 分支保留通信可用性，poison 分支通过 IQI+DC 触发并用 PSNR-drop hinge 推动重建失效。 </a:t>
            </a:r>
          </a:p>
          <a:p>
            <a:endParaRPr/>
          </a:p>
          <a:p>
            <a:r>
              <a:t>[Sources]</a:t>
            </a:r>
          </a:p>
          <a:p>
            <a:r>
              <a:t>- Local experiment artifact: results/target_free_c16_reconstruction_failure_20260828/metrics.json</a:t>
            </a:r>
          </a:p>
          <a:p>
            <a:r>
              <a:t>- Local protocol/configuration: results/target_free_c16_reconstruction_failure_20260828/config.toml, trigger.json, run_manifest.json</a:t>
            </a:r>
          </a:p>
          <a:p>
            <a:r>
              <a:t>- Local reconstruction images: results/target_free_c16_reconstruction_failure_20260828/reconstructions/</a:t>
            </a:r>
          </a:p>
          <a:p>
            <a:r>
              <a:t>- No external images or external claims were used.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曲线展示同一源图像的 PSNR，重点看后门模型的 clean channel 与 triggered channel 间距。干净模型/干净信道作为参考基线。 </a:t>
            </a:r>
          </a:p>
          <a:p>
            <a:endParaRPr/>
          </a:p>
          <a:p>
            <a:r>
              <a:t>[Sources]</a:t>
            </a:r>
          </a:p>
          <a:p>
            <a:r>
              <a:t>- Local experiment artifact: results/target_free_c16_reconstruction_failure_20260828/metrics.json</a:t>
            </a:r>
          </a:p>
          <a:p>
            <a:r>
              <a:t>- Local protocol/configuration: results/target_free_c16_reconstruction_failure_20260828/config.toml, trigger.json, run_manifest.json</a:t>
            </a:r>
          </a:p>
          <a:p>
            <a:r>
              <a:t>- Local reconstruction images: results/target_free_c16_reconstruction_failure_20260828/reconstructions/</a:t>
            </a:r>
          </a:p>
          <a:p>
            <a:r>
              <a:t>- No external images or external claims were used.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失效率定义为单样本 PSNR drop ≥ 3 dB 的比例。干净模型控制用于检验触发器是否只是普遍破坏通信。 </a:t>
            </a:r>
          </a:p>
          <a:p>
            <a:endParaRPr/>
          </a:p>
          <a:p>
            <a:r>
              <a:t>[Sources]</a:t>
            </a:r>
          </a:p>
          <a:p>
            <a:r>
              <a:t>- Local experiment artifact: results/target_free_c16_reconstruction_failure_20260828/metrics.json</a:t>
            </a:r>
          </a:p>
          <a:p>
            <a:r>
              <a:t>- Local protocol/configuration: results/target_free_c16_reconstruction_failure_20260828/config.toml, trigger.json, run_manifest.json</a:t>
            </a:r>
          </a:p>
          <a:p>
            <a:r>
              <a:t>- Local reconstruction images: results/target_free_c16_reconstruction_failure_20260828/reconstructions/</a:t>
            </a:r>
          </a:p>
          <a:p>
            <a:r>
              <a:t>- No external images or external claims were used.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图像均来自实验输出；每个网格上排是 source，下排是 triggered reconstruction。7 dB 的视觉差异与 source-relative 指标一致。 </a:t>
            </a:r>
          </a:p>
          <a:p>
            <a:endParaRPr/>
          </a:p>
          <a:p>
            <a:r>
              <a:t>[Sources]</a:t>
            </a:r>
          </a:p>
          <a:p>
            <a:r>
              <a:t>- Local experiment artifact: results/target_free_c16_reconstruction_failure_20260828/metrics.json</a:t>
            </a:r>
          </a:p>
          <a:p>
            <a:r>
              <a:t>- Local protocol/configuration: results/target_free_c16_reconstruction_failure_20260828/config.toml, trigger.json, run_manifest.json</a:t>
            </a:r>
          </a:p>
          <a:p>
            <a:r>
              <a:t>- Local reconstruction images: results/target_free_c16_reconstruction_failure_20260828/reconstructions/</a:t>
            </a:r>
          </a:p>
          <a:p>
            <a:r>
              <a:t>- No external images or external claims were used.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10 dB 图像对比对应 metrics.json 中的 31.567 dB → 27.423 dB。不要把图像视觉差异解读为分类结果；本页只说明重建质量。 </a:t>
            </a:r>
          </a:p>
          <a:p>
            <a:endParaRPr/>
          </a:p>
          <a:p>
            <a:r>
              <a:t>[Sources]</a:t>
            </a:r>
          </a:p>
          <a:p>
            <a:r>
              <a:t>- Local experiment artifact: results/target_free_c16_reconstruction_failure_20260828/metrics.json</a:t>
            </a:r>
          </a:p>
          <a:p>
            <a:r>
              <a:t>- Local protocol/configuration: results/target_free_c16_reconstruction_failure_20260828/config.toml, trigger.json, run_manifest.json</a:t>
            </a:r>
          </a:p>
          <a:p>
            <a:r>
              <a:t>- Local reconstruction images: results/target_free_c16_reconstruction_failure_20260828/reconstructions/</a:t>
            </a:r>
          </a:p>
          <a:p>
            <a:r>
              <a:t>- No external images or external claims were used.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表格从完整 7 个 SNR 中选取 1、7、10、25 dB 作为代表点；完整曲线见前两页。最终判定保留失败结果，不把部分成功包装成整体成功。 </a:t>
            </a:r>
          </a:p>
          <a:p>
            <a:endParaRPr/>
          </a:p>
          <a:p>
            <a:r>
              <a:t>[Sources]</a:t>
            </a:r>
          </a:p>
          <a:p>
            <a:r>
              <a:t>- Local experiment artifact: results/target_free_c16_reconstruction_failure_20260828/metrics.json</a:t>
            </a:r>
          </a:p>
          <a:p>
            <a:r>
              <a:t>- Local protocol/configuration: results/target_free_c16_reconstruction_failure_20260828/config.toml, trigger.json, run_manifest.json</a:t>
            </a:r>
          </a:p>
          <a:p>
            <a:r>
              <a:t>- Local reconstruction images: results/target_free_c16_reconstruction_failure_20260828/reconstructions/</a:t>
            </a:r>
          </a:p>
          <a:p>
            <a:r>
              <a:t>- No external images or external claims were used.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本页补充保存的 clean checkpoint 两路径评估。结论是相同 IQI+DC 触发器对未植入后门的模型只产生有限自然扰动，支持“后门模型额外下降来自训练植入”的解释。</a:t>
            </a:r>
          </a:p>
          <a:p>
            <a:endParaRPr/>
          </a:p>
          <a:p>
            <a:r>
              <a:t>[Sources]</a:t>
            </a:r>
          </a:p>
          <a:p>
            <a:r>
              <a:t>- Local experiment artifact: results/clean_model_clean_trigger_eval_20260902/metrics.json</a:t>
            </a:r>
          </a:p>
          <a:p>
            <a:r>
              <a:t>- Local run manifest: results/clean_model_clean_trigger_eval_20260902/run_manifest.json</a:t>
            </a:r>
          </a:p>
          <a:p>
            <a:r>
              <a:t>- Local reconstruction comparison: results/clean_model_clean_trigger_eval_20260902/clean_model_clean_vs_trigger_10db.png</a:t>
            </a:r>
          </a:p>
          <a:p>
            <a:r>
              <a:t>- No external images or external claims were used.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ver-kicker">
            <a:extLst>
              <a:ext uri="{FF2B5EF4-FFF2-40B4-BE49-F238E27FC236}">
                <a16:creationId xmlns:a16="http://schemas.microsoft.com/office/drawing/2014/main" id="{5DCA0666-92EF-4F01-A305-998E59191DF6}"/>
              </a:ext>
            </a:extLst>
          </p:cNvPr>
          <p:cNvSpPr>
            <a:spLocks noGrp="1"/>
          </p:cNvSpPr>
          <p:nvPr/>
        </p:nvSpPr>
        <p:spPr>
          <a:xfrm>
            <a:off x="495300" y="457200"/>
            <a:ext cx="5810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12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DEEPJSCC · AUTHORIZED OFFLINE SIMULATION</a:t>
            </a:r>
          </a:p>
        </p:txBody>
      </p:sp>
      <p:sp>
        <p:nvSpPr>
          <p:cNvPr id="2" name="cover-title">
            <a:extLst>
              <a:ext uri="{FF2B5EF4-FFF2-40B4-BE49-F238E27FC236}">
                <a16:creationId xmlns:a16="http://schemas.microsoft.com/office/drawing/2014/main" id="{18956150-367E-4C23-AFF9-36AB7C810A2F}"/>
              </a:ext>
            </a:extLst>
          </p:cNvPr>
          <p:cNvSpPr>
            <a:spLocks noGrp="1"/>
          </p:cNvSpPr>
          <p:nvPr/>
        </p:nvSpPr>
        <p:spPr>
          <a:xfrm>
            <a:off x="495300" y="1352550"/>
            <a:ext cx="5143500" cy="1571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40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4050" b="1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无标签</a:t>
            </a:r>
            <a:endParaRPr sz="4050" b="1" dirty="0">
              <a:solidFill>
                <a:srgbClr val="111111"/>
              </a:solidFill>
              <a:latin typeface="Arial"/>
              <a:ea typeface="Arial"/>
              <a:cs typeface="Arial"/>
            </a:endParaRPr>
          </a:p>
          <a:p>
            <a:pPr algn="l">
              <a:buNone/>
              <a:defRPr sz="40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4050" b="1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重建失效实验</a:t>
            </a:r>
            <a:endParaRPr sz="4050" b="1" dirty="0">
              <a:solidFill>
                <a:srgbClr val="11111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cover-subtitle">
            <a:extLst>
              <a:ext uri="{FF2B5EF4-FFF2-40B4-BE49-F238E27FC236}">
                <a16:creationId xmlns:a16="http://schemas.microsoft.com/office/drawing/2014/main" id="{DA5B5AC3-925E-4593-AD9E-55BEA45BBBCF}"/>
              </a:ext>
            </a:extLst>
          </p:cNvPr>
          <p:cNvSpPr>
            <a:spLocks noGrp="1"/>
          </p:cNvSpPr>
          <p:nvPr/>
        </p:nvSpPr>
        <p:spPr>
          <a:xfrm>
            <a:off x="495300" y="3314700"/>
            <a:ext cx="49530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725">
                <a:solidFill>
                  <a:srgbClr val="5B616B"/>
                </a:solidFill>
                <a:latin typeface="Arial"/>
                <a:ea typeface="Arial"/>
                <a:cs typeface="Arial"/>
              </a:defRPr>
            </a:pPr>
            <a:r>
              <a:rPr sz="1725" dirty="0">
                <a:solidFill>
                  <a:srgbClr val="5B616B"/>
                </a:solidFill>
                <a:latin typeface="Arial"/>
                <a:ea typeface="Arial"/>
                <a:cs typeface="Arial"/>
              </a:rPr>
              <a:t>IQI + DC offset </a:t>
            </a:r>
            <a:r>
              <a:rPr sz="1725" dirty="0" err="1">
                <a:solidFill>
                  <a:srgbClr val="5B616B"/>
                </a:solidFill>
                <a:latin typeface="Arial"/>
                <a:ea typeface="Arial"/>
                <a:cs typeface="Arial"/>
              </a:rPr>
              <a:t>单设备射频指纹触发</a:t>
            </a:r>
            <a:endParaRPr sz="1725" dirty="0">
              <a:solidFill>
                <a:srgbClr val="5B616B"/>
              </a:solidFill>
              <a:latin typeface="Arial"/>
              <a:ea typeface="Arial"/>
              <a:cs typeface="Arial"/>
            </a:endParaRPr>
          </a:p>
          <a:p>
            <a:pPr algn="l">
              <a:buNone/>
              <a:defRPr sz="1725">
                <a:solidFill>
                  <a:srgbClr val="5B616B"/>
                </a:solidFill>
                <a:latin typeface="Arial"/>
                <a:ea typeface="Arial"/>
                <a:cs typeface="Arial"/>
              </a:defRPr>
            </a:pPr>
            <a:r>
              <a:rPr sz="1725" dirty="0" err="1">
                <a:solidFill>
                  <a:srgbClr val="5B616B"/>
                </a:solidFill>
                <a:latin typeface="Arial"/>
                <a:ea typeface="Arial"/>
                <a:cs typeface="Arial"/>
              </a:rPr>
              <a:t>以源图像重建质量为唯一攻击对象</a:t>
            </a:r>
            <a:endParaRPr sz="1725" dirty="0">
              <a:solidFill>
                <a:srgbClr val="5B616B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cover-rule">
            <a:extLst>
              <a:ext uri="{FF2B5EF4-FFF2-40B4-BE49-F238E27FC236}">
                <a16:creationId xmlns:a16="http://schemas.microsoft.com/office/drawing/2014/main" id="{C3A7D9A2-D64A-4784-8E47-8FCFA04E3AFC}"/>
              </a:ext>
            </a:extLst>
          </p:cNvPr>
          <p:cNvSpPr>
            <a:spLocks noGrp="1"/>
          </p:cNvSpPr>
          <p:nvPr/>
        </p:nvSpPr>
        <p:spPr>
          <a:xfrm>
            <a:off x="495300" y="4514850"/>
            <a:ext cx="4762500" cy="38100"/>
          </a:xfrm>
          <a:prstGeom prst="rect">
            <a:avLst/>
          </a:prstGeom>
          <a:solidFill>
            <a:srgbClr val="3D8DFF"/>
          </a:solidFill>
          <a:ln w="0">
            <a:noFill/>
            <a:prstDash val="solid"/>
          </a:ln>
        </p:spPr>
      </p:sp>
      <p:sp>
        <p:nvSpPr>
          <p:cNvPr id="5" name="cover-result">
            <a:extLst>
              <a:ext uri="{FF2B5EF4-FFF2-40B4-BE49-F238E27FC236}">
                <a16:creationId xmlns:a16="http://schemas.microsoft.com/office/drawing/2014/main" id="{50151B02-123A-4B48-9F07-3BBB51E93E90}"/>
              </a:ext>
            </a:extLst>
          </p:cNvPr>
          <p:cNvSpPr>
            <a:spLocks noGrp="1"/>
          </p:cNvSpPr>
          <p:nvPr/>
        </p:nvSpPr>
        <p:spPr>
          <a:xfrm>
            <a:off x="495300" y="4810125"/>
            <a:ext cx="5334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4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1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结论先行：中高</a:t>
            </a:r>
            <a:r>
              <a:rPr sz="1425" b="1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SNR </a:t>
            </a:r>
            <a:r>
              <a:rPr sz="1425" b="1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触发有效，低</a:t>
            </a:r>
            <a:r>
              <a:rPr sz="1425" b="1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SNR </a:t>
            </a:r>
            <a:r>
              <a:rPr sz="1425" b="1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未达全部门槛</a:t>
            </a:r>
            <a:endParaRPr sz="1425" b="1" dirty="0">
              <a:solidFill>
                <a:srgbClr val="111111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18" name="图片 17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553200" y="2243302"/>
            <a:ext cx="5048250" cy="1114097"/>
          </a:xfrm>
          <a:prstGeom prst="rect">
            <a:avLst/>
          </a:prstGeom>
        </p:spPr>
      </p:pic>
      <p:sp>
        <p:nvSpPr>
          <p:cNvPr id="7" name="cover-image-caption">
            <a:extLst>
              <a:ext uri="{FF2B5EF4-FFF2-40B4-BE49-F238E27FC236}">
                <a16:creationId xmlns:a16="http://schemas.microsoft.com/office/drawing/2014/main" id="{44F42BDA-6B76-4A37-AB18-54E6D9869B90}"/>
              </a:ext>
            </a:extLst>
          </p:cNvPr>
          <p:cNvSpPr>
            <a:spLocks noGrp="1"/>
          </p:cNvSpPr>
          <p:nvPr/>
        </p:nvSpPr>
        <p:spPr>
          <a:xfrm>
            <a:off x="6553200" y="5257800"/>
            <a:ext cx="5048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1200">
                <a:solidFill>
                  <a:srgbClr val="5B616B"/>
                </a:solidFill>
                <a:latin typeface="Arial"/>
                <a:ea typeface="Arial"/>
                <a:cs typeface="Arial"/>
              </a:defRPr>
            </a:pPr>
            <a:r>
              <a:rPr sz="1200" dirty="0" err="1">
                <a:solidFill>
                  <a:srgbClr val="5B616B"/>
                </a:solidFill>
                <a:latin typeface="Arial"/>
                <a:ea typeface="Arial"/>
                <a:cs typeface="Arial"/>
              </a:rPr>
              <a:t>后门模型</a:t>
            </a:r>
            <a:r>
              <a:rPr sz="1200" dirty="0">
                <a:solidFill>
                  <a:srgbClr val="5B616B"/>
                </a:solidFill>
                <a:latin typeface="Arial"/>
                <a:ea typeface="Arial"/>
                <a:cs typeface="Arial"/>
              </a:rPr>
              <a:t> · </a:t>
            </a:r>
            <a:r>
              <a:rPr sz="1200" dirty="0" err="1">
                <a:solidFill>
                  <a:srgbClr val="5B616B"/>
                </a:solidFill>
                <a:latin typeface="Arial"/>
                <a:ea typeface="Arial"/>
                <a:cs typeface="Arial"/>
              </a:rPr>
              <a:t>触发信道</a:t>
            </a:r>
            <a:r>
              <a:rPr sz="1200" dirty="0">
                <a:solidFill>
                  <a:srgbClr val="5B616B"/>
                </a:solidFill>
                <a:latin typeface="Arial"/>
                <a:ea typeface="Arial"/>
                <a:cs typeface="Arial"/>
              </a:rPr>
              <a:t> · SNR 19 dB</a:t>
            </a:r>
          </a:p>
        </p:txBody>
      </p:sp>
      <p:sp>
        <p:nvSpPr>
          <p:cNvPr id="8" name="footer-rule-1">
            <a:extLst>
              <a:ext uri="{FF2B5EF4-FFF2-40B4-BE49-F238E27FC236}">
                <a16:creationId xmlns:a16="http://schemas.microsoft.com/office/drawing/2014/main" id="{DF1B330D-07CC-4DC3-B59C-F58F6768F9CF}"/>
              </a:ext>
            </a:extLst>
          </p:cNvPr>
          <p:cNvSpPr>
            <a:spLocks noGrp="1"/>
          </p:cNvSpPr>
          <p:nvPr/>
        </p:nvSpPr>
        <p:spPr>
          <a:xfrm>
            <a:off x="457200" y="6419850"/>
            <a:ext cx="1127760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9" name="footer-label-1">
            <a:extLst>
              <a:ext uri="{FF2B5EF4-FFF2-40B4-BE49-F238E27FC236}">
                <a16:creationId xmlns:a16="http://schemas.microsoft.com/office/drawing/2014/main" id="{CA9DC08B-DFBD-4960-9090-565CBAC024D9}"/>
              </a:ext>
            </a:extLst>
          </p:cNvPr>
          <p:cNvSpPr>
            <a:spLocks noGrp="1"/>
          </p:cNvSpPr>
          <p:nvPr/>
        </p:nvSpPr>
        <p:spPr>
          <a:xfrm>
            <a:off x="457200" y="6496050"/>
            <a:ext cx="3810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00">
                <a:solidFill>
                  <a:srgbClr val="5B616B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5B616B"/>
                </a:solidFill>
                <a:latin typeface="Arial"/>
                <a:ea typeface="Arial"/>
                <a:cs typeface="Arial"/>
              </a:rPr>
              <a:t>DeepJSCC · c=16 · 无标签 source-relative</a:t>
            </a:r>
          </a:p>
        </p:txBody>
      </p:sp>
      <p:sp>
        <p:nvSpPr>
          <p:cNvPr id="10" name="footer-number-1">
            <a:extLst>
              <a:ext uri="{FF2B5EF4-FFF2-40B4-BE49-F238E27FC236}">
                <a16:creationId xmlns:a16="http://schemas.microsoft.com/office/drawing/2014/main" id="{8251B7EA-5ECB-4FA1-AFA9-35BB4ECFF7F2}"/>
              </a:ext>
            </a:extLst>
          </p:cNvPr>
          <p:cNvSpPr>
            <a:spLocks noGrp="1"/>
          </p:cNvSpPr>
          <p:nvPr/>
        </p:nvSpPr>
        <p:spPr>
          <a:xfrm>
            <a:off x="11258550" y="6477000"/>
            <a:ext cx="476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buNone/>
              <a:defRPr sz="975">
                <a:solidFill>
                  <a:srgbClr val="5B616B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5B616B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3288791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slide-title-2">
            <a:extLst>
              <a:ext uri="{FF2B5EF4-FFF2-40B4-BE49-F238E27FC236}">
                <a16:creationId xmlns:a16="http://schemas.microsoft.com/office/drawing/2014/main" id="{213642FE-36D3-4731-BEA5-F307E1E097C9}"/>
              </a:ext>
            </a:extLst>
          </p:cNvPr>
          <p:cNvSpPr>
            <a:spLocks noGrp="1"/>
          </p:cNvSpPr>
          <p:nvPr/>
        </p:nvSpPr>
        <p:spPr>
          <a:xfrm>
            <a:off x="457200" y="323850"/>
            <a:ext cx="10668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7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实验把‘失效’定义为源图像重建质量下降</a:t>
            </a:r>
          </a:p>
        </p:txBody>
      </p:sp>
      <p:sp>
        <p:nvSpPr>
          <p:cNvPr id="2" name="研究对象">
            <a:extLst>
              <a:ext uri="{FF2B5EF4-FFF2-40B4-BE49-F238E27FC236}">
                <a16:creationId xmlns:a16="http://schemas.microsoft.com/office/drawing/2014/main" id="{EEBDFA8A-5D7F-4B75-8B05-AE3812DEC78A}"/>
              </a:ext>
            </a:extLst>
          </p:cNvPr>
          <p:cNvSpPr>
            <a:spLocks noGrp="1"/>
          </p:cNvSpPr>
          <p:nvPr/>
        </p:nvSpPr>
        <p:spPr>
          <a:xfrm>
            <a:off x="495300" y="1371600"/>
            <a:ext cx="257175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5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通信链路</a:t>
            </a:r>
          </a:p>
          <a:p>
            <a:pPr algn="l">
              <a:buNone/>
              <a:defRPr sz="25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不是分类器</a:t>
            </a:r>
          </a:p>
        </p:txBody>
      </p:sp>
      <p:sp>
        <p:nvSpPr>
          <p:cNvPr id="3" name="协议">
            <a:extLst>
              <a:ext uri="{FF2B5EF4-FFF2-40B4-BE49-F238E27FC236}">
                <a16:creationId xmlns:a16="http://schemas.microsoft.com/office/drawing/2014/main" id="{BFF9F859-E600-4095-8AB8-B97EA3CF934F}"/>
              </a:ext>
            </a:extLst>
          </p:cNvPr>
          <p:cNvSpPr>
            <a:spLocks noGrp="1"/>
          </p:cNvSpPr>
          <p:nvPr/>
        </p:nvSpPr>
        <p:spPr>
          <a:xfrm>
            <a:off x="495300" y="2552700"/>
            <a:ext cx="476250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>
                <a:solidFill>
                  <a:srgbClr val="5B616B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B616B"/>
                </a:solidFill>
                <a:latin typeface="Arial"/>
                <a:ea typeface="Arial"/>
                <a:cs typeface="Arial"/>
              </a:rPr>
              <a:t>编码 → IQI/DC 触发 → AWGN → 解码。</a:t>
            </a:r>
          </a:p>
          <a:p>
            <a:pPr algn="l">
              <a:buNone/>
              <a:defRPr sz="1500">
                <a:solidFill>
                  <a:srgbClr val="5B616B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B616B"/>
                </a:solidFill>
                <a:latin typeface="Arial"/>
                <a:ea typeface="Arial"/>
                <a:cs typeface="Arial"/>
              </a:rPr>
              <a:t>对同一源图像比较干净信道与触发信道重建。</a:t>
            </a:r>
          </a:p>
        </p:txBody>
      </p:sp>
      <p:sp>
        <p:nvSpPr>
          <p:cNvPr id="4" name="无标签约束">
            <a:extLst>
              <a:ext uri="{FF2B5EF4-FFF2-40B4-BE49-F238E27FC236}">
                <a16:creationId xmlns:a16="http://schemas.microsoft.com/office/drawing/2014/main" id="{3071CFC0-8C7D-4F9C-97EF-7110A01DADD1}"/>
              </a:ext>
            </a:extLst>
          </p:cNvPr>
          <p:cNvSpPr>
            <a:spLocks noGrp="1"/>
          </p:cNvSpPr>
          <p:nvPr/>
        </p:nvSpPr>
        <p:spPr>
          <a:xfrm>
            <a:off x="495300" y="4095750"/>
            <a:ext cx="47625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训练与评估仅保留</a:t>
            </a:r>
            <a:r>
              <a:rPr sz="150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image tensor。</a:t>
            </a:r>
          </a:p>
          <a:p>
            <a:pPr algn="l">
              <a:buNone/>
              <a:defRPr sz="150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标签不进入前向、损失、PSNR</a:t>
            </a:r>
            <a:r>
              <a:rPr sz="150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sz="150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或失效率统计</a:t>
            </a:r>
            <a:r>
              <a:rPr sz="150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。</a:t>
            </a:r>
          </a:p>
        </p:txBody>
      </p:sp>
      <p:sp>
        <p:nvSpPr>
          <p:cNvPr id="5" name="arrow-1">
            <a:extLst>
              <a:ext uri="{FF2B5EF4-FFF2-40B4-BE49-F238E27FC236}">
                <a16:creationId xmlns:a16="http://schemas.microsoft.com/office/drawing/2014/main" id="{5833598B-63E2-47E2-A4AD-F3DB805A42E3}"/>
              </a:ext>
            </a:extLst>
          </p:cNvPr>
          <p:cNvSpPr>
            <a:spLocks noGrp="1"/>
          </p:cNvSpPr>
          <p:nvPr/>
        </p:nvSpPr>
        <p:spPr>
          <a:xfrm>
            <a:off x="6048375" y="2457450"/>
            <a:ext cx="400050" cy="133350"/>
          </a:xfrm>
          <a:prstGeom prst="rect">
            <a:avLst/>
          </a:prstGeom>
          <a:solidFill>
            <a:srgbClr val="3D8DFF"/>
          </a:solidFill>
          <a:ln w="0">
            <a:noFill/>
            <a:prstDash val="solid"/>
          </a:ln>
        </p:spPr>
      </p:sp>
      <p:sp>
        <p:nvSpPr>
          <p:cNvPr id="6" name="arrow-2">
            <a:extLst>
              <a:ext uri="{FF2B5EF4-FFF2-40B4-BE49-F238E27FC236}">
                <a16:creationId xmlns:a16="http://schemas.microsoft.com/office/drawing/2014/main" id="{57DDE56F-D975-494B-9A93-ABE9D042D34E}"/>
              </a:ext>
            </a:extLst>
          </p:cNvPr>
          <p:cNvSpPr>
            <a:spLocks noGrp="1"/>
          </p:cNvSpPr>
          <p:nvPr/>
        </p:nvSpPr>
        <p:spPr>
          <a:xfrm>
            <a:off x="7543800" y="2457450"/>
            <a:ext cx="400050" cy="133350"/>
          </a:xfrm>
          <a:prstGeom prst="rect">
            <a:avLst/>
          </a:prstGeom>
          <a:solidFill>
            <a:srgbClr val="3D8DFF"/>
          </a:solidFill>
          <a:ln w="0">
            <a:noFill/>
            <a:prstDash val="solid"/>
          </a:ln>
        </p:spPr>
      </p:sp>
      <p:sp>
        <p:nvSpPr>
          <p:cNvPr id="7" name="arrow-3">
            <a:extLst>
              <a:ext uri="{FF2B5EF4-FFF2-40B4-BE49-F238E27FC236}">
                <a16:creationId xmlns:a16="http://schemas.microsoft.com/office/drawing/2014/main" id="{637B9BAA-C64F-4C5B-8294-79DDF940FF94}"/>
              </a:ext>
            </a:extLst>
          </p:cNvPr>
          <p:cNvSpPr>
            <a:spLocks noGrp="1"/>
          </p:cNvSpPr>
          <p:nvPr/>
        </p:nvSpPr>
        <p:spPr>
          <a:xfrm>
            <a:off x="9039225" y="2457450"/>
            <a:ext cx="400050" cy="133350"/>
          </a:xfrm>
          <a:prstGeom prst="rect">
            <a:avLst/>
          </a:prstGeom>
          <a:solidFill>
            <a:srgbClr val="3D8DFF"/>
          </a:solidFill>
          <a:ln w="0">
            <a:noFill/>
            <a:prstDash val="solid"/>
          </a:ln>
        </p:spPr>
      </p:sp>
      <p:sp>
        <p:nvSpPr>
          <p:cNvPr id="8" name="arrow-4">
            <a:extLst>
              <a:ext uri="{FF2B5EF4-FFF2-40B4-BE49-F238E27FC236}">
                <a16:creationId xmlns:a16="http://schemas.microsoft.com/office/drawing/2014/main" id="{4CB4EC1E-9C5A-4E57-9F13-6AB89E2D0511}"/>
              </a:ext>
            </a:extLst>
          </p:cNvPr>
          <p:cNvSpPr>
            <a:spLocks noGrp="1"/>
          </p:cNvSpPr>
          <p:nvPr/>
        </p:nvSpPr>
        <p:spPr>
          <a:xfrm>
            <a:off x="10534650" y="2457450"/>
            <a:ext cx="400050" cy="133350"/>
          </a:xfrm>
          <a:prstGeom prst="rect">
            <a:avLst/>
          </a:prstGeom>
          <a:solidFill>
            <a:srgbClr val="3D8DFF"/>
          </a:solidFill>
          <a:ln w="0">
            <a:noFill/>
            <a:prstDash val="solid"/>
          </a:ln>
        </p:spPr>
      </p:sp>
      <p:sp>
        <p:nvSpPr>
          <p:cNvPr id="9" name="node-image">
            <a:extLst>
              <a:ext uri="{FF2B5EF4-FFF2-40B4-BE49-F238E27FC236}">
                <a16:creationId xmlns:a16="http://schemas.microsoft.com/office/drawing/2014/main" id="{DB1737B6-0162-417F-A0D2-95287509877B}"/>
              </a:ext>
            </a:extLst>
          </p:cNvPr>
          <p:cNvSpPr>
            <a:spLocks noGrp="1"/>
          </p:cNvSpPr>
          <p:nvPr/>
        </p:nvSpPr>
        <p:spPr>
          <a:xfrm>
            <a:off x="4876800" y="2228850"/>
            <a:ext cx="1143000" cy="685800"/>
          </a:xfrm>
          <a:prstGeom prst="roundRect">
            <a:avLst>
              <a:gd name="adj" fmla="val 16667"/>
            </a:avLst>
          </a:prstGeom>
          <a:solidFill>
            <a:srgbClr val="F2F2F2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0" name="node-title-image">
            <a:extLst>
              <a:ext uri="{FF2B5EF4-FFF2-40B4-BE49-F238E27FC236}">
                <a16:creationId xmlns:a16="http://schemas.microsoft.com/office/drawing/2014/main" id="{91754D35-CF1D-4071-B3B0-EE8B765C37E8}"/>
              </a:ext>
            </a:extLst>
          </p:cNvPr>
          <p:cNvSpPr>
            <a:spLocks noGrp="1"/>
          </p:cNvSpPr>
          <p:nvPr/>
        </p:nvSpPr>
        <p:spPr>
          <a:xfrm>
            <a:off x="4972050" y="2343150"/>
            <a:ext cx="95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12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image</a:t>
            </a:r>
          </a:p>
        </p:txBody>
      </p:sp>
      <p:sp>
        <p:nvSpPr>
          <p:cNvPr id="11" name="node-body-image">
            <a:extLst>
              <a:ext uri="{FF2B5EF4-FFF2-40B4-BE49-F238E27FC236}">
                <a16:creationId xmlns:a16="http://schemas.microsoft.com/office/drawing/2014/main" id="{5520F6FD-FDCA-4FD8-B34B-719D9B5C8DFE}"/>
              </a:ext>
            </a:extLst>
          </p:cNvPr>
          <p:cNvSpPr>
            <a:spLocks noGrp="1"/>
          </p:cNvSpPr>
          <p:nvPr/>
        </p:nvSpPr>
        <p:spPr>
          <a:xfrm>
            <a:off x="4953000" y="2609850"/>
            <a:ext cx="9906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975">
                <a:solidFill>
                  <a:srgbClr val="5B616B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5B616B"/>
                </a:solidFill>
                <a:latin typeface="Arial"/>
                <a:ea typeface="Arial"/>
                <a:cs typeface="Arial"/>
              </a:rPr>
              <a:t>source x</a:t>
            </a:r>
          </a:p>
        </p:txBody>
      </p:sp>
      <p:sp>
        <p:nvSpPr>
          <p:cNvPr id="12" name="node-encoder">
            <a:extLst>
              <a:ext uri="{FF2B5EF4-FFF2-40B4-BE49-F238E27FC236}">
                <a16:creationId xmlns:a16="http://schemas.microsoft.com/office/drawing/2014/main" id="{7F85F03A-4EDE-40E2-8D03-67066A70D239}"/>
              </a:ext>
            </a:extLst>
          </p:cNvPr>
          <p:cNvSpPr>
            <a:spLocks noGrp="1"/>
          </p:cNvSpPr>
          <p:nvPr/>
        </p:nvSpPr>
        <p:spPr>
          <a:xfrm>
            <a:off x="6372225" y="2228850"/>
            <a:ext cx="1143000" cy="685800"/>
          </a:xfrm>
          <a:prstGeom prst="roundRect">
            <a:avLst>
              <a:gd name="adj" fmla="val 16667"/>
            </a:avLst>
          </a:prstGeom>
          <a:solidFill>
            <a:srgbClr val="F2F2F2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3" name="node-title-encoder">
            <a:extLst>
              <a:ext uri="{FF2B5EF4-FFF2-40B4-BE49-F238E27FC236}">
                <a16:creationId xmlns:a16="http://schemas.microsoft.com/office/drawing/2014/main" id="{F5030BD1-FFD2-4B27-937E-3CF7CC79A4E8}"/>
              </a:ext>
            </a:extLst>
          </p:cNvPr>
          <p:cNvSpPr>
            <a:spLocks noGrp="1"/>
          </p:cNvSpPr>
          <p:nvPr/>
        </p:nvSpPr>
        <p:spPr>
          <a:xfrm>
            <a:off x="6467475" y="2343150"/>
            <a:ext cx="95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12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encoder</a:t>
            </a:r>
          </a:p>
        </p:txBody>
      </p:sp>
      <p:sp>
        <p:nvSpPr>
          <p:cNvPr id="14" name="node-body-encoder">
            <a:extLst>
              <a:ext uri="{FF2B5EF4-FFF2-40B4-BE49-F238E27FC236}">
                <a16:creationId xmlns:a16="http://schemas.microsoft.com/office/drawing/2014/main" id="{594B0974-708E-4D69-A146-A5B02CDF2A75}"/>
              </a:ext>
            </a:extLst>
          </p:cNvPr>
          <p:cNvSpPr>
            <a:spLocks noGrp="1"/>
          </p:cNvSpPr>
          <p:nvPr/>
        </p:nvSpPr>
        <p:spPr>
          <a:xfrm>
            <a:off x="6448425" y="2609850"/>
            <a:ext cx="9906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975">
                <a:solidFill>
                  <a:srgbClr val="5B616B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5B616B"/>
                </a:solidFill>
                <a:latin typeface="Arial"/>
                <a:ea typeface="Arial"/>
                <a:cs typeface="Arial"/>
              </a:rPr>
              <a:t>latent z</a:t>
            </a:r>
          </a:p>
        </p:txBody>
      </p:sp>
      <p:sp>
        <p:nvSpPr>
          <p:cNvPr id="15" name="node-IQI + DC">
            <a:extLst>
              <a:ext uri="{FF2B5EF4-FFF2-40B4-BE49-F238E27FC236}">
                <a16:creationId xmlns:a16="http://schemas.microsoft.com/office/drawing/2014/main" id="{B031E0D1-1578-4370-874E-F5BE70729E31}"/>
              </a:ext>
            </a:extLst>
          </p:cNvPr>
          <p:cNvSpPr>
            <a:spLocks noGrp="1"/>
          </p:cNvSpPr>
          <p:nvPr/>
        </p:nvSpPr>
        <p:spPr>
          <a:xfrm>
            <a:off x="7867650" y="2228850"/>
            <a:ext cx="1143000" cy="685800"/>
          </a:xfrm>
          <a:prstGeom prst="roundRect">
            <a:avLst>
              <a:gd name="adj" fmla="val 16667"/>
            </a:avLst>
          </a:prstGeom>
          <a:solidFill>
            <a:srgbClr val="D0EDFA"/>
          </a:solidFill>
          <a:ln w="19050">
            <a:solidFill>
              <a:srgbClr val="3D8DFF"/>
            </a:solidFill>
            <a:prstDash val="solid"/>
          </a:ln>
        </p:spPr>
      </p:sp>
      <p:sp>
        <p:nvSpPr>
          <p:cNvPr id="16" name="node-title-IQI + DC">
            <a:extLst>
              <a:ext uri="{FF2B5EF4-FFF2-40B4-BE49-F238E27FC236}">
                <a16:creationId xmlns:a16="http://schemas.microsoft.com/office/drawing/2014/main" id="{13D0AD55-2182-4223-BCDF-5939A90B6A6D}"/>
              </a:ext>
            </a:extLst>
          </p:cNvPr>
          <p:cNvSpPr>
            <a:spLocks noGrp="1"/>
          </p:cNvSpPr>
          <p:nvPr/>
        </p:nvSpPr>
        <p:spPr>
          <a:xfrm>
            <a:off x="7962900" y="2343150"/>
            <a:ext cx="95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12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IQI + DC</a:t>
            </a:r>
          </a:p>
        </p:txBody>
      </p:sp>
      <p:sp>
        <p:nvSpPr>
          <p:cNvPr id="17" name="node-body-IQI + DC">
            <a:extLst>
              <a:ext uri="{FF2B5EF4-FFF2-40B4-BE49-F238E27FC236}">
                <a16:creationId xmlns:a16="http://schemas.microsoft.com/office/drawing/2014/main" id="{082C643C-A9D3-4229-9F40-2647ECAB56E1}"/>
              </a:ext>
            </a:extLst>
          </p:cNvPr>
          <p:cNvSpPr>
            <a:spLocks noGrp="1"/>
          </p:cNvSpPr>
          <p:nvPr/>
        </p:nvSpPr>
        <p:spPr>
          <a:xfrm>
            <a:off x="7943850" y="2609850"/>
            <a:ext cx="9906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975">
                <a:solidFill>
                  <a:srgbClr val="5B616B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5B616B"/>
                </a:solidFill>
                <a:latin typeface="Arial"/>
                <a:ea typeface="Arial"/>
                <a:cs typeface="Arial"/>
              </a:rPr>
              <a:t>trigger z′</a:t>
            </a:r>
          </a:p>
        </p:txBody>
      </p:sp>
      <p:sp>
        <p:nvSpPr>
          <p:cNvPr id="18" name="node-AWGN">
            <a:extLst>
              <a:ext uri="{FF2B5EF4-FFF2-40B4-BE49-F238E27FC236}">
                <a16:creationId xmlns:a16="http://schemas.microsoft.com/office/drawing/2014/main" id="{002EF498-35BD-4F25-9C47-B7FCEA369A52}"/>
              </a:ext>
            </a:extLst>
          </p:cNvPr>
          <p:cNvSpPr>
            <a:spLocks noGrp="1"/>
          </p:cNvSpPr>
          <p:nvPr/>
        </p:nvSpPr>
        <p:spPr>
          <a:xfrm>
            <a:off x="9363075" y="2228850"/>
            <a:ext cx="1143000" cy="685800"/>
          </a:xfrm>
          <a:prstGeom prst="roundRect">
            <a:avLst>
              <a:gd name="adj" fmla="val 16667"/>
            </a:avLst>
          </a:prstGeom>
          <a:solidFill>
            <a:srgbClr val="F2F2F2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9" name="node-title-AWGN">
            <a:extLst>
              <a:ext uri="{FF2B5EF4-FFF2-40B4-BE49-F238E27FC236}">
                <a16:creationId xmlns:a16="http://schemas.microsoft.com/office/drawing/2014/main" id="{DE481E0A-F719-4D57-AD4B-EC4BB96035E7}"/>
              </a:ext>
            </a:extLst>
          </p:cNvPr>
          <p:cNvSpPr>
            <a:spLocks noGrp="1"/>
          </p:cNvSpPr>
          <p:nvPr/>
        </p:nvSpPr>
        <p:spPr>
          <a:xfrm>
            <a:off x="9458325" y="2343150"/>
            <a:ext cx="95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12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AWGN</a:t>
            </a:r>
          </a:p>
        </p:txBody>
      </p:sp>
      <p:sp>
        <p:nvSpPr>
          <p:cNvPr id="20" name="node-body-AWGN">
            <a:extLst>
              <a:ext uri="{FF2B5EF4-FFF2-40B4-BE49-F238E27FC236}">
                <a16:creationId xmlns:a16="http://schemas.microsoft.com/office/drawing/2014/main" id="{5166362C-B0ED-4750-B6DF-09E06C17F99D}"/>
              </a:ext>
            </a:extLst>
          </p:cNvPr>
          <p:cNvSpPr>
            <a:spLocks noGrp="1"/>
          </p:cNvSpPr>
          <p:nvPr/>
        </p:nvSpPr>
        <p:spPr>
          <a:xfrm>
            <a:off x="9439275" y="2609850"/>
            <a:ext cx="9906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975">
                <a:solidFill>
                  <a:srgbClr val="5B616B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5B616B"/>
                </a:solidFill>
                <a:latin typeface="Arial"/>
                <a:ea typeface="Arial"/>
                <a:cs typeface="Arial"/>
              </a:rPr>
              <a:t>received</a:t>
            </a:r>
          </a:p>
        </p:txBody>
      </p:sp>
      <p:sp>
        <p:nvSpPr>
          <p:cNvPr id="21" name="node-decoder">
            <a:extLst>
              <a:ext uri="{FF2B5EF4-FFF2-40B4-BE49-F238E27FC236}">
                <a16:creationId xmlns:a16="http://schemas.microsoft.com/office/drawing/2014/main" id="{16C858D3-277E-4169-A951-616CB1748D3A}"/>
              </a:ext>
            </a:extLst>
          </p:cNvPr>
          <p:cNvSpPr>
            <a:spLocks noGrp="1"/>
          </p:cNvSpPr>
          <p:nvPr/>
        </p:nvSpPr>
        <p:spPr>
          <a:xfrm>
            <a:off x="10858500" y="2228850"/>
            <a:ext cx="1143000" cy="685800"/>
          </a:xfrm>
          <a:prstGeom prst="roundRect">
            <a:avLst>
              <a:gd name="adj" fmla="val 16667"/>
            </a:avLst>
          </a:prstGeom>
          <a:solidFill>
            <a:srgbClr val="F2F2F2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22" name="node-title-decoder">
            <a:extLst>
              <a:ext uri="{FF2B5EF4-FFF2-40B4-BE49-F238E27FC236}">
                <a16:creationId xmlns:a16="http://schemas.microsoft.com/office/drawing/2014/main" id="{CEE05686-BF94-43F6-BDEC-4BB9DDF2CF5C}"/>
              </a:ext>
            </a:extLst>
          </p:cNvPr>
          <p:cNvSpPr>
            <a:spLocks noGrp="1"/>
          </p:cNvSpPr>
          <p:nvPr/>
        </p:nvSpPr>
        <p:spPr>
          <a:xfrm>
            <a:off x="10953750" y="2343150"/>
            <a:ext cx="95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12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decoder</a:t>
            </a:r>
          </a:p>
        </p:txBody>
      </p:sp>
      <p:sp>
        <p:nvSpPr>
          <p:cNvPr id="23" name="node-body-decoder">
            <a:extLst>
              <a:ext uri="{FF2B5EF4-FFF2-40B4-BE49-F238E27FC236}">
                <a16:creationId xmlns:a16="http://schemas.microsoft.com/office/drawing/2014/main" id="{0C52288F-E5D0-4563-8E67-847189A8C01D}"/>
              </a:ext>
            </a:extLst>
          </p:cNvPr>
          <p:cNvSpPr>
            <a:spLocks noGrp="1"/>
          </p:cNvSpPr>
          <p:nvPr/>
        </p:nvSpPr>
        <p:spPr>
          <a:xfrm>
            <a:off x="10934700" y="2609850"/>
            <a:ext cx="9906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975">
                <a:solidFill>
                  <a:srgbClr val="5B616B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5B616B"/>
                </a:solidFill>
                <a:latin typeface="Arial"/>
                <a:ea typeface="Arial"/>
                <a:cs typeface="Arial"/>
              </a:rPr>
              <a:t>reconstruction</a:t>
            </a:r>
          </a:p>
        </p:txBody>
      </p:sp>
      <p:sp>
        <p:nvSpPr>
          <p:cNvPr id="24" name="protocol-settings">
            <a:extLst>
              <a:ext uri="{FF2B5EF4-FFF2-40B4-BE49-F238E27FC236}">
                <a16:creationId xmlns:a16="http://schemas.microsoft.com/office/drawing/2014/main" id="{76570E94-BD81-4055-AF32-10AF612C0D3B}"/>
              </a:ext>
            </a:extLst>
          </p:cNvPr>
          <p:cNvSpPr>
            <a:spLocks noGrp="1"/>
          </p:cNvSpPr>
          <p:nvPr/>
        </p:nvSpPr>
        <p:spPr>
          <a:xfrm>
            <a:off x="6048375" y="3524250"/>
            <a:ext cx="51435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42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11111"/>
                </a:solidFill>
                <a:latin typeface="Arial"/>
                <a:ea typeface="Arial"/>
                <a:cs typeface="Arial"/>
              </a:rPr>
              <a:t>CIFAR-10 · train 45,000 / validation 4,999 / test 10,000</a:t>
            </a:r>
          </a:p>
          <a:p>
            <a:pPr algn="l">
              <a:buNone/>
              <a:defRPr sz="142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11111"/>
                </a:solidFill>
                <a:latin typeface="Arial"/>
                <a:ea typeface="Arial"/>
                <a:cs typeface="Arial"/>
              </a:rPr>
              <a:t>投毒率 5%（2,250 个训练样本） · train SNR 10 dB · test SNR 1/4/7/10/13/19/25 dB</a:t>
            </a:r>
          </a:p>
        </p:txBody>
      </p:sp>
      <p:sp>
        <p:nvSpPr>
          <p:cNvPr id="25" name="protocol-note">
            <a:extLst>
              <a:ext uri="{FF2B5EF4-FFF2-40B4-BE49-F238E27FC236}">
                <a16:creationId xmlns:a16="http://schemas.microsoft.com/office/drawing/2014/main" id="{54D8AB28-176B-41CE-A714-5278B4A7D9F9}"/>
              </a:ext>
            </a:extLst>
          </p:cNvPr>
          <p:cNvSpPr>
            <a:spLocks noGrp="1"/>
          </p:cNvSpPr>
          <p:nvPr/>
        </p:nvSpPr>
        <p:spPr>
          <a:xfrm>
            <a:off x="6048375" y="4686300"/>
            <a:ext cx="5143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7222"/>
          </a:bodyPr>
          <a:lstStyle/>
          <a:p>
            <a:pPr algn="l">
              <a:buNone/>
              <a:defRPr sz="1350">
                <a:solidFill>
                  <a:srgbClr val="5B616B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5B616B"/>
                </a:solidFill>
                <a:latin typeface="Arial"/>
                <a:ea typeface="Arial"/>
                <a:cs typeface="Arial"/>
              </a:rPr>
              <a:t>后门模型从干净 c=16 checkpoint 初始化；使用固定 manifest 的 poison mask。</a:t>
            </a:r>
          </a:p>
        </p:txBody>
      </p:sp>
      <p:sp>
        <p:nvSpPr>
          <p:cNvPr id="26" name="footer-rule-2">
            <a:extLst>
              <a:ext uri="{FF2B5EF4-FFF2-40B4-BE49-F238E27FC236}">
                <a16:creationId xmlns:a16="http://schemas.microsoft.com/office/drawing/2014/main" id="{C67962F2-CAEB-40D7-9915-5E71E7982930}"/>
              </a:ext>
            </a:extLst>
          </p:cNvPr>
          <p:cNvSpPr>
            <a:spLocks noGrp="1"/>
          </p:cNvSpPr>
          <p:nvPr/>
        </p:nvSpPr>
        <p:spPr>
          <a:xfrm>
            <a:off x="457200" y="6419850"/>
            <a:ext cx="1127760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27" name="footer-label-2">
            <a:extLst>
              <a:ext uri="{FF2B5EF4-FFF2-40B4-BE49-F238E27FC236}">
                <a16:creationId xmlns:a16="http://schemas.microsoft.com/office/drawing/2014/main" id="{0FC2243C-C02E-4C68-9003-5C39EFF9A29D}"/>
              </a:ext>
            </a:extLst>
          </p:cNvPr>
          <p:cNvSpPr>
            <a:spLocks noGrp="1"/>
          </p:cNvSpPr>
          <p:nvPr/>
        </p:nvSpPr>
        <p:spPr>
          <a:xfrm>
            <a:off x="457200" y="6496050"/>
            <a:ext cx="3810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00">
                <a:solidFill>
                  <a:srgbClr val="5B616B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5B616B"/>
                </a:solidFill>
                <a:latin typeface="Arial"/>
                <a:ea typeface="Arial"/>
                <a:cs typeface="Arial"/>
              </a:rPr>
              <a:t>DeepJSCC · c=16 · target-free</a:t>
            </a:r>
          </a:p>
        </p:txBody>
      </p:sp>
      <p:sp>
        <p:nvSpPr>
          <p:cNvPr id="28" name="footer-number-2">
            <a:extLst>
              <a:ext uri="{FF2B5EF4-FFF2-40B4-BE49-F238E27FC236}">
                <a16:creationId xmlns:a16="http://schemas.microsoft.com/office/drawing/2014/main" id="{EB8FFE74-F080-4D7D-B9DE-F13DA501CE6B}"/>
              </a:ext>
            </a:extLst>
          </p:cNvPr>
          <p:cNvSpPr>
            <a:spLocks noGrp="1"/>
          </p:cNvSpPr>
          <p:nvPr/>
        </p:nvSpPr>
        <p:spPr>
          <a:xfrm>
            <a:off x="11258550" y="6477000"/>
            <a:ext cx="476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buNone/>
              <a:defRPr sz="975">
                <a:solidFill>
                  <a:srgbClr val="5B616B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5B616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5919617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slide-title-3">
            <a:extLst>
              <a:ext uri="{FF2B5EF4-FFF2-40B4-BE49-F238E27FC236}">
                <a16:creationId xmlns:a16="http://schemas.microsoft.com/office/drawing/2014/main" id="{B768C445-91DB-4485-B146-AA54A6BBAF99}"/>
              </a:ext>
            </a:extLst>
          </p:cNvPr>
          <p:cNvSpPr>
            <a:spLocks noGrp="1"/>
          </p:cNvSpPr>
          <p:nvPr/>
        </p:nvSpPr>
        <p:spPr>
          <a:xfrm>
            <a:off x="457200" y="323850"/>
            <a:ext cx="10668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7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单设备触发器只改变复基带，不改变重建目标</a:t>
            </a:r>
          </a:p>
        </p:txBody>
      </p:sp>
      <p:sp>
        <p:nvSpPr>
          <p:cNvPr id="2" name="formula-panel">
            <a:extLst>
              <a:ext uri="{FF2B5EF4-FFF2-40B4-BE49-F238E27FC236}">
                <a16:creationId xmlns:a16="http://schemas.microsoft.com/office/drawing/2014/main" id="{BEF43683-F41E-4973-ABE9-44FCD0B8D052}"/>
              </a:ext>
            </a:extLst>
          </p:cNvPr>
          <p:cNvSpPr>
            <a:spLocks noGrp="1"/>
          </p:cNvSpPr>
          <p:nvPr/>
        </p:nvSpPr>
        <p:spPr>
          <a:xfrm>
            <a:off x="495300" y="1409700"/>
            <a:ext cx="5334000" cy="3714750"/>
          </a:xfrm>
          <a:prstGeom prst="roundRect">
            <a:avLst>
              <a:gd name="adj" fmla="val 3077"/>
            </a:avLst>
          </a:prstGeom>
          <a:solidFill>
            <a:srgbClr val="EAF5FB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3" name="formula-heading">
            <a:extLst>
              <a:ext uri="{FF2B5EF4-FFF2-40B4-BE49-F238E27FC236}">
                <a16:creationId xmlns:a16="http://schemas.microsoft.com/office/drawing/2014/main" id="{87042A34-73A8-4FF5-9ACE-26B7FB05D554}"/>
              </a:ext>
            </a:extLst>
          </p:cNvPr>
          <p:cNvSpPr>
            <a:spLocks noGrp="1"/>
          </p:cNvSpPr>
          <p:nvPr/>
        </p:nvSpPr>
        <p:spPr>
          <a:xfrm>
            <a:off x="762000" y="1685925"/>
            <a:ext cx="4572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8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触发器与损失</a:t>
            </a:r>
          </a:p>
        </p:txBody>
      </p:sp>
      <p:sp>
        <p:nvSpPr>
          <p:cNvPr id="4" name="formula-trigger">
            <a:extLst>
              <a:ext uri="{FF2B5EF4-FFF2-40B4-BE49-F238E27FC236}">
                <a16:creationId xmlns:a16="http://schemas.microsoft.com/office/drawing/2014/main" id="{C7389839-C2A5-4152-8494-BD9C6F540758}"/>
              </a:ext>
            </a:extLst>
          </p:cNvPr>
          <p:cNvSpPr>
            <a:spLocks noGrp="1"/>
          </p:cNvSpPr>
          <p:nvPr/>
        </p:nvSpPr>
        <p:spPr>
          <a:xfrm>
            <a:off x="762000" y="2324100"/>
            <a:ext cx="4572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4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z′ = μz + νz* + d</a:t>
            </a:r>
          </a:p>
        </p:txBody>
      </p:sp>
      <p:sp>
        <p:nvSpPr>
          <p:cNvPr id="5" name="formula-loss">
            <a:extLst>
              <a:ext uri="{FF2B5EF4-FFF2-40B4-BE49-F238E27FC236}">
                <a16:creationId xmlns:a16="http://schemas.microsoft.com/office/drawing/2014/main" id="{05DFD7DF-9B94-4550-AA13-A9A3CEB756F1}"/>
              </a:ext>
            </a:extLst>
          </p:cNvPr>
          <p:cNvSpPr>
            <a:spLocks noGrp="1"/>
          </p:cNvSpPr>
          <p:nvPr/>
        </p:nvSpPr>
        <p:spPr>
          <a:xfrm>
            <a:off x="762000" y="3086100"/>
            <a:ext cx="4572000" cy="895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1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100" b="1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L = MSE(</a:t>
            </a:r>
            <a:r>
              <a:rPr sz="2100" b="1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y_clean</a:t>
            </a:r>
            <a:r>
              <a:rPr sz="2100" b="1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, x)</a:t>
            </a:r>
          </a:p>
          <a:p>
            <a:pPr algn="l">
              <a:buNone/>
              <a:defRPr sz="21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100" b="1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 + </a:t>
            </a:r>
            <a:r>
              <a:rPr sz="2100" b="1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ReLU</a:t>
            </a:r>
            <a:r>
              <a:rPr sz="2100" b="1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(3 − ΔPSNR)ₚₒᵢₛₒₙ</a:t>
            </a:r>
          </a:p>
        </p:txBody>
      </p:sp>
      <p:sp>
        <p:nvSpPr>
          <p:cNvPr id="6" name="formula-drop">
            <a:extLst>
              <a:ext uri="{FF2B5EF4-FFF2-40B4-BE49-F238E27FC236}">
                <a16:creationId xmlns:a16="http://schemas.microsoft.com/office/drawing/2014/main" id="{45FEF62D-4AF5-4BAA-89F1-C2E14506C2E6}"/>
              </a:ext>
            </a:extLst>
          </p:cNvPr>
          <p:cNvSpPr>
            <a:spLocks noGrp="1"/>
          </p:cNvSpPr>
          <p:nvPr/>
        </p:nvSpPr>
        <p:spPr>
          <a:xfrm>
            <a:off x="762000" y="4343400"/>
            <a:ext cx="4572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350">
                <a:solidFill>
                  <a:srgbClr val="5B616B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5B616B"/>
                </a:solidFill>
                <a:latin typeface="Arial"/>
                <a:ea typeface="Arial"/>
                <a:cs typeface="Arial"/>
              </a:rPr>
              <a:t>ΔPSNR = 10 log₁₀(MSE_trigger / MSE_clean)</a:t>
            </a:r>
          </a:p>
        </p:txBody>
      </p:sp>
      <p:sp>
        <p:nvSpPr>
          <p:cNvPr id="7" name="trigger-parameters">
            <a:extLst>
              <a:ext uri="{FF2B5EF4-FFF2-40B4-BE49-F238E27FC236}">
                <a16:creationId xmlns:a16="http://schemas.microsoft.com/office/drawing/2014/main" id="{A9EAFA97-85B2-45C5-9143-BFF9CB8D0B05}"/>
              </a:ext>
            </a:extLst>
          </p:cNvPr>
          <p:cNvSpPr>
            <a:spLocks noGrp="1"/>
          </p:cNvSpPr>
          <p:nvPr/>
        </p:nvSpPr>
        <p:spPr>
          <a:xfrm>
            <a:off x="6477000" y="1504950"/>
            <a:ext cx="4476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8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800" b="1" dirty="0" err="1">
                <a:solidFill>
                  <a:srgbClr val="3D8DFF"/>
                </a:solidFill>
                <a:latin typeface="Arial"/>
                <a:ea typeface="Arial"/>
                <a:cs typeface="Arial"/>
              </a:rPr>
              <a:t>最终可学习参数</a:t>
            </a:r>
            <a:endParaRPr sz="1800" b="1" dirty="0">
              <a:solidFill>
                <a:srgbClr val="3D8D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" name="param-rule-0">
            <a:extLst>
              <a:ext uri="{FF2B5EF4-FFF2-40B4-BE49-F238E27FC236}">
                <a16:creationId xmlns:a16="http://schemas.microsoft.com/office/drawing/2014/main" id="{65846A15-912F-4A9D-8273-218A8AE6FC58}"/>
              </a:ext>
            </a:extLst>
          </p:cNvPr>
          <p:cNvSpPr>
            <a:spLocks noGrp="1"/>
          </p:cNvSpPr>
          <p:nvPr/>
        </p:nvSpPr>
        <p:spPr>
          <a:xfrm>
            <a:off x="6477000" y="2447925"/>
            <a:ext cx="449580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9" name="param-key-0">
            <a:extLst>
              <a:ext uri="{FF2B5EF4-FFF2-40B4-BE49-F238E27FC236}">
                <a16:creationId xmlns:a16="http://schemas.microsoft.com/office/drawing/2014/main" id="{3092E47B-4EE9-4857-88E9-49D3DA2EEEA9}"/>
              </a:ext>
            </a:extLst>
          </p:cNvPr>
          <p:cNvSpPr>
            <a:spLocks noGrp="1"/>
          </p:cNvSpPr>
          <p:nvPr/>
        </p:nvSpPr>
        <p:spPr>
          <a:xfrm>
            <a:off x="6477000" y="2114550"/>
            <a:ext cx="171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>
                <a:solidFill>
                  <a:srgbClr val="5B616B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B616B"/>
                </a:solidFill>
                <a:latin typeface="Arial"/>
                <a:ea typeface="Arial"/>
                <a:cs typeface="Arial"/>
              </a:rPr>
              <a:t>gain</a:t>
            </a:r>
          </a:p>
        </p:txBody>
      </p:sp>
      <p:sp>
        <p:nvSpPr>
          <p:cNvPr id="10" name="param-value-0">
            <a:extLst>
              <a:ext uri="{FF2B5EF4-FFF2-40B4-BE49-F238E27FC236}">
                <a16:creationId xmlns:a16="http://schemas.microsoft.com/office/drawing/2014/main" id="{33ED49D2-8DAE-47A7-9EF8-8CBD455FD29D}"/>
              </a:ext>
            </a:extLst>
          </p:cNvPr>
          <p:cNvSpPr>
            <a:spLocks noGrp="1"/>
          </p:cNvSpPr>
          <p:nvPr/>
        </p:nvSpPr>
        <p:spPr>
          <a:xfrm>
            <a:off x="8305800" y="2114550"/>
            <a:ext cx="266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buNone/>
              <a:defRPr sz="15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1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-0.0038 dB</a:t>
            </a:r>
          </a:p>
        </p:txBody>
      </p:sp>
      <p:sp>
        <p:nvSpPr>
          <p:cNvPr id="11" name="param-rule-1">
            <a:extLst>
              <a:ext uri="{FF2B5EF4-FFF2-40B4-BE49-F238E27FC236}">
                <a16:creationId xmlns:a16="http://schemas.microsoft.com/office/drawing/2014/main" id="{852E96A5-DBFA-46A9-997A-A2AA40A929DD}"/>
              </a:ext>
            </a:extLst>
          </p:cNvPr>
          <p:cNvSpPr>
            <a:spLocks noGrp="1"/>
          </p:cNvSpPr>
          <p:nvPr/>
        </p:nvSpPr>
        <p:spPr>
          <a:xfrm>
            <a:off x="6477000" y="2971800"/>
            <a:ext cx="449580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12" name="param-key-1">
            <a:extLst>
              <a:ext uri="{FF2B5EF4-FFF2-40B4-BE49-F238E27FC236}">
                <a16:creationId xmlns:a16="http://schemas.microsoft.com/office/drawing/2014/main" id="{7A714F41-0F95-47C5-BEA7-E24ED3AFFE0E}"/>
              </a:ext>
            </a:extLst>
          </p:cNvPr>
          <p:cNvSpPr>
            <a:spLocks noGrp="1"/>
          </p:cNvSpPr>
          <p:nvPr/>
        </p:nvSpPr>
        <p:spPr>
          <a:xfrm>
            <a:off x="6477000" y="2638425"/>
            <a:ext cx="171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>
                <a:solidFill>
                  <a:srgbClr val="5B616B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B616B"/>
                </a:solidFill>
                <a:latin typeface="Arial"/>
                <a:ea typeface="Arial"/>
                <a:cs typeface="Arial"/>
              </a:rPr>
              <a:t>phase</a:t>
            </a:r>
          </a:p>
        </p:txBody>
      </p:sp>
      <p:sp>
        <p:nvSpPr>
          <p:cNvPr id="13" name="param-value-1">
            <a:extLst>
              <a:ext uri="{FF2B5EF4-FFF2-40B4-BE49-F238E27FC236}">
                <a16:creationId xmlns:a16="http://schemas.microsoft.com/office/drawing/2014/main" id="{07387A78-C115-4FC0-A0AF-5D4648A9BE55}"/>
              </a:ext>
            </a:extLst>
          </p:cNvPr>
          <p:cNvSpPr>
            <a:spLocks noGrp="1"/>
          </p:cNvSpPr>
          <p:nvPr/>
        </p:nvSpPr>
        <p:spPr>
          <a:xfrm>
            <a:off x="8305800" y="2638425"/>
            <a:ext cx="266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buNone/>
              <a:defRPr sz="15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-0.0004°</a:t>
            </a:r>
          </a:p>
        </p:txBody>
      </p:sp>
      <p:sp>
        <p:nvSpPr>
          <p:cNvPr id="14" name="param-rule-2">
            <a:extLst>
              <a:ext uri="{FF2B5EF4-FFF2-40B4-BE49-F238E27FC236}">
                <a16:creationId xmlns:a16="http://schemas.microsoft.com/office/drawing/2014/main" id="{6EA01F0A-8D75-4FE3-9DCA-0253F87ED1E8}"/>
              </a:ext>
            </a:extLst>
          </p:cNvPr>
          <p:cNvSpPr>
            <a:spLocks noGrp="1"/>
          </p:cNvSpPr>
          <p:nvPr/>
        </p:nvSpPr>
        <p:spPr>
          <a:xfrm>
            <a:off x="6477000" y="3495675"/>
            <a:ext cx="449580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15" name="param-key-2">
            <a:extLst>
              <a:ext uri="{FF2B5EF4-FFF2-40B4-BE49-F238E27FC236}">
                <a16:creationId xmlns:a16="http://schemas.microsoft.com/office/drawing/2014/main" id="{C4408725-97A5-4C6B-9BA1-77EC563D4A83}"/>
              </a:ext>
            </a:extLst>
          </p:cNvPr>
          <p:cNvSpPr>
            <a:spLocks noGrp="1"/>
          </p:cNvSpPr>
          <p:nvPr/>
        </p:nvSpPr>
        <p:spPr>
          <a:xfrm>
            <a:off x="6477000" y="3162300"/>
            <a:ext cx="171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>
                <a:solidFill>
                  <a:srgbClr val="5B616B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B616B"/>
                </a:solidFill>
                <a:latin typeface="Arial"/>
                <a:ea typeface="Arial"/>
                <a:cs typeface="Arial"/>
              </a:rPr>
              <a:t>DC magnitude</a:t>
            </a:r>
          </a:p>
        </p:txBody>
      </p:sp>
      <p:sp>
        <p:nvSpPr>
          <p:cNvPr id="16" name="param-value-2">
            <a:extLst>
              <a:ext uri="{FF2B5EF4-FFF2-40B4-BE49-F238E27FC236}">
                <a16:creationId xmlns:a16="http://schemas.microsoft.com/office/drawing/2014/main" id="{FC601272-A8BD-4174-95DF-9FC1E2302FA8}"/>
              </a:ext>
            </a:extLst>
          </p:cNvPr>
          <p:cNvSpPr>
            <a:spLocks noGrp="1"/>
          </p:cNvSpPr>
          <p:nvPr/>
        </p:nvSpPr>
        <p:spPr>
          <a:xfrm>
            <a:off x="8305800" y="3162300"/>
            <a:ext cx="266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buNone/>
              <a:defRPr sz="15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0.1000</a:t>
            </a:r>
          </a:p>
        </p:txBody>
      </p:sp>
      <p:sp>
        <p:nvSpPr>
          <p:cNvPr id="17" name="param-rule-3">
            <a:extLst>
              <a:ext uri="{FF2B5EF4-FFF2-40B4-BE49-F238E27FC236}">
                <a16:creationId xmlns:a16="http://schemas.microsoft.com/office/drawing/2014/main" id="{5EE7D633-AFB4-40C0-8AEC-8560D3D186FF}"/>
              </a:ext>
            </a:extLst>
          </p:cNvPr>
          <p:cNvSpPr>
            <a:spLocks noGrp="1"/>
          </p:cNvSpPr>
          <p:nvPr/>
        </p:nvSpPr>
        <p:spPr>
          <a:xfrm>
            <a:off x="6477000" y="4019550"/>
            <a:ext cx="449580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18" name="param-key-3">
            <a:extLst>
              <a:ext uri="{FF2B5EF4-FFF2-40B4-BE49-F238E27FC236}">
                <a16:creationId xmlns:a16="http://schemas.microsoft.com/office/drawing/2014/main" id="{75903AFC-FEBA-4A10-90B1-E5EB7C31D032}"/>
              </a:ext>
            </a:extLst>
          </p:cNvPr>
          <p:cNvSpPr>
            <a:spLocks noGrp="1"/>
          </p:cNvSpPr>
          <p:nvPr/>
        </p:nvSpPr>
        <p:spPr>
          <a:xfrm>
            <a:off x="6477000" y="3686175"/>
            <a:ext cx="171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>
                <a:solidFill>
                  <a:srgbClr val="5B616B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B616B"/>
                </a:solidFill>
                <a:latin typeface="Arial"/>
                <a:ea typeface="Arial"/>
                <a:cs typeface="Arial"/>
              </a:rPr>
              <a:t>DC phase</a:t>
            </a:r>
          </a:p>
        </p:txBody>
      </p:sp>
      <p:sp>
        <p:nvSpPr>
          <p:cNvPr id="19" name="param-value-3">
            <a:extLst>
              <a:ext uri="{FF2B5EF4-FFF2-40B4-BE49-F238E27FC236}">
                <a16:creationId xmlns:a16="http://schemas.microsoft.com/office/drawing/2014/main" id="{E91D3A01-6546-4519-8B76-EC37C05D9EAC}"/>
              </a:ext>
            </a:extLst>
          </p:cNvPr>
          <p:cNvSpPr>
            <a:spLocks noGrp="1"/>
          </p:cNvSpPr>
          <p:nvPr/>
        </p:nvSpPr>
        <p:spPr>
          <a:xfrm>
            <a:off x="8305800" y="3686175"/>
            <a:ext cx="266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buNone/>
              <a:defRPr sz="15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-21.08°</a:t>
            </a:r>
          </a:p>
        </p:txBody>
      </p:sp>
      <p:sp>
        <p:nvSpPr>
          <p:cNvPr id="20" name="param-rule-4">
            <a:extLst>
              <a:ext uri="{FF2B5EF4-FFF2-40B4-BE49-F238E27FC236}">
                <a16:creationId xmlns:a16="http://schemas.microsoft.com/office/drawing/2014/main" id="{2F7F8718-889C-4CD4-A992-488B91C62B65}"/>
              </a:ext>
            </a:extLst>
          </p:cNvPr>
          <p:cNvSpPr>
            <a:spLocks noGrp="1"/>
          </p:cNvSpPr>
          <p:nvPr/>
        </p:nvSpPr>
        <p:spPr>
          <a:xfrm>
            <a:off x="6477000" y="4543425"/>
            <a:ext cx="449580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21" name="param-key-4">
            <a:extLst>
              <a:ext uri="{FF2B5EF4-FFF2-40B4-BE49-F238E27FC236}">
                <a16:creationId xmlns:a16="http://schemas.microsoft.com/office/drawing/2014/main" id="{D7E5558A-4D31-4B3C-A5C0-2A56D6C3E989}"/>
              </a:ext>
            </a:extLst>
          </p:cNvPr>
          <p:cNvSpPr>
            <a:spLocks noGrp="1"/>
          </p:cNvSpPr>
          <p:nvPr/>
        </p:nvSpPr>
        <p:spPr>
          <a:xfrm>
            <a:off x="6477000" y="4210050"/>
            <a:ext cx="171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>
                <a:solidFill>
                  <a:srgbClr val="5B616B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B616B"/>
                </a:solidFill>
                <a:latin typeface="Arial"/>
                <a:ea typeface="Arial"/>
                <a:cs typeface="Arial"/>
              </a:rPr>
              <a:t>order</a:t>
            </a:r>
          </a:p>
        </p:txBody>
      </p:sp>
      <p:sp>
        <p:nvSpPr>
          <p:cNvPr id="22" name="param-value-4">
            <a:extLst>
              <a:ext uri="{FF2B5EF4-FFF2-40B4-BE49-F238E27FC236}">
                <a16:creationId xmlns:a16="http://schemas.microsoft.com/office/drawing/2014/main" id="{F02DBBD1-9A7B-4420-BC96-D453C0B38C3F}"/>
              </a:ext>
            </a:extLst>
          </p:cNvPr>
          <p:cNvSpPr>
            <a:spLocks noGrp="1"/>
          </p:cNvSpPr>
          <p:nvPr/>
        </p:nvSpPr>
        <p:spPr>
          <a:xfrm>
            <a:off x="8305800" y="4210050"/>
            <a:ext cx="266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buNone/>
              <a:defRPr sz="15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IQ → DC</a:t>
            </a:r>
          </a:p>
        </p:txBody>
      </p:sp>
      <p:sp>
        <p:nvSpPr>
          <p:cNvPr id="23" name="training-note">
            <a:extLst>
              <a:ext uri="{FF2B5EF4-FFF2-40B4-BE49-F238E27FC236}">
                <a16:creationId xmlns:a16="http://schemas.microsoft.com/office/drawing/2014/main" id="{F9937ED5-76CE-4B18-9C04-7BFE5DE47EEC}"/>
              </a:ext>
            </a:extLst>
          </p:cNvPr>
          <p:cNvSpPr>
            <a:spLocks noGrp="1"/>
          </p:cNvSpPr>
          <p:nvPr/>
        </p:nvSpPr>
        <p:spPr>
          <a:xfrm>
            <a:off x="6477000" y="4953000"/>
            <a:ext cx="45720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42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只要求触发分支相对同一源图像的</a:t>
            </a:r>
            <a:r>
              <a:rPr sz="1425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MSE </a:t>
            </a:r>
            <a:r>
              <a:rPr sz="1425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上升</a:t>
            </a:r>
            <a:r>
              <a:rPr sz="1425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。</a:t>
            </a:r>
          </a:p>
        </p:txBody>
      </p:sp>
      <p:sp>
        <p:nvSpPr>
          <p:cNvPr id="24" name="footer-rule-3">
            <a:extLst>
              <a:ext uri="{FF2B5EF4-FFF2-40B4-BE49-F238E27FC236}">
                <a16:creationId xmlns:a16="http://schemas.microsoft.com/office/drawing/2014/main" id="{AE3F9502-4F58-42C5-B986-B9203550501A}"/>
              </a:ext>
            </a:extLst>
          </p:cNvPr>
          <p:cNvSpPr>
            <a:spLocks noGrp="1"/>
          </p:cNvSpPr>
          <p:nvPr/>
        </p:nvSpPr>
        <p:spPr>
          <a:xfrm>
            <a:off x="457200" y="6419850"/>
            <a:ext cx="1127760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25" name="footer-label-3">
            <a:extLst>
              <a:ext uri="{FF2B5EF4-FFF2-40B4-BE49-F238E27FC236}">
                <a16:creationId xmlns:a16="http://schemas.microsoft.com/office/drawing/2014/main" id="{15111300-8209-4A76-8F8D-BB0929BA446A}"/>
              </a:ext>
            </a:extLst>
          </p:cNvPr>
          <p:cNvSpPr>
            <a:spLocks noGrp="1"/>
          </p:cNvSpPr>
          <p:nvPr/>
        </p:nvSpPr>
        <p:spPr>
          <a:xfrm>
            <a:off x="457200" y="6496050"/>
            <a:ext cx="3810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00">
                <a:solidFill>
                  <a:srgbClr val="5B616B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5B616B"/>
                </a:solidFill>
                <a:latin typeface="Arial"/>
                <a:ea typeface="Arial"/>
                <a:cs typeface="Arial"/>
              </a:rPr>
              <a:t>DeepJSCC · c=16 · target-free</a:t>
            </a:r>
          </a:p>
        </p:txBody>
      </p:sp>
      <p:sp>
        <p:nvSpPr>
          <p:cNvPr id="26" name="footer-number-3">
            <a:extLst>
              <a:ext uri="{FF2B5EF4-FFF2-40B4-BE49-F238E27FC236}">
                <a16:creationId xmlns:a16="http://schemas.microsoft.com/office/drawing/2014/main" id="{A0AD6236-D589-4940-A1D4-8EB09A104DFB}"/>
              </a:ext>
            </a:extLst>
          </p:cNvPr>
          <p:cNvSpPr>
            <a:spLocks noGrp="1"/>
          </p:cNvSpPr>
          <p:nvPr/>
        </p:nvSpPr>
        <p:spPr>
          <a:xfrm>
            <a:off x="11258550" y="6477000"/>
            <a:ext cx="476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buNone/>
              <a:defRPr sz="975">
                <a:solidFill>
                  <a:srgbClr val="5B616B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5B616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6895780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-title-4">
            <a:extLst>
              <a:ext uri="{FF2B5EF4-FFF2-40B4-BE49-F238E27FC236}">
                <a16:creationId xmlns:a16="http://schemas.microsoft.com/office/drawing/2014/main" id="{EB24A2C1-C72F-479F-8E06-4D899D7AF49A}"/>
              </a:ext>
            </a:extLst>
          </p:cNvPr>
          <p:cNvSpPr>
            <a:spLocks noGrp="1"/>
          </p:cNvSpPr>
          <p:nvPr/>
        </p:nvSpPr>
        <p:spPr>
          <a:xfrm>
            <a:off x="457200" y="323850"/>
            <a:ext cx="10668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7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PSNR drop 在 10 dB 以上明显拉开差距</a:t>
            </a:r>
          </a:p>
        </p:txBody>
      </p:sp>
      <p:graphicFrame>
        <p:nvGraphicFramePr>
          <p:cNvPr id="14" name="Chart"/>
          <p:cNvGraphicFramePr/>
          <p:nvPr/>
        </p:nvGraphicFramePr>
        <p:xfrm>
          <a:off x="552450" y="1219200"/>
          <a:ext cx="7524750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" name="psnr-callout-1">
            <a:extLst>
              <a:ext uri="{FF2B5EF4-FFF2-40B4-BE49-F238E27FC236}">
                <a16:creationId xmlns:a16="http://schemas.microsoft.com/office/drawing/2014/main" id="{CAA94EED-0AE3-4262-9B41-6E69B556A4D5}"/>
              </a:ext>
            </a:extLst>
          </p:cNvPr>
          <p:cNvSpPr>
            <a:spLocks noGrp="1"/>
          </p:cNvSpPr>
          <p:nvPr/>
        </p:nvSpPr>
        <p:spPr>
          <a:xfrm>
            <a:off x="8572500" y="1638300"/>
            <a:ext cx="2762250" cy="1000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8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10 dB</a:t>
            </a:r>
          </a:p>
          <a:p>
            <a:pPr algn="l">
              <a:buNone/>
              <a:defRPr sz="18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31.57 → 27.42 dB</a:t>
            </a:r>
          </a:p>
          <a:p>
            <a:pPr algn="l">
              <a:buNone/>
              <a:defRPr sz="18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−4.14 dB</a:t>
            </a:r>
          </a:p>
        </p:txBody>
      </p:sp>
      <p:sp>
        <p:nvSpPr>
          <p:cNvPr id="4" name="psnr-callout-rule-1">
            <a:extLst>
              <a:ext uri="{FF2B5EF4-FFF2-40B4-BE49-F238E27FC236}">
                <a16:creationId xmlns:a16="http://schemas.microsoft.com/office/drawing/2014/main" id="{4052EF11-7DD8-4617-B317-252A966D078F}"/>
              </a:ext>
            </a:extLst>
          </p:cNvPr>
          <p:cNvSpPr>
            <a:spLocks noGrp="1"/>
          </p:cNvSpPr>
          <p:nvPr/>
        </p:nvSpPr>
        <p:spPr>
          <a:xfrm>
            <a:off x="8572500" y="2838450"/>
            <a:ext cx="276225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5" name="psnr-callout-2">
            <a:extLst>
              <a:ext uri="{FF2B5EF4-FFF2-40B4-BE49-F238E27FC236}">
                <a16:creationId xmlns:a16="http://schemas.microsoft.com/office/drawing/2014/main" id="{356CB204-A398-4AF0-8287-435CAAC49B0D}"/>
              </a:ext>
            </a:extLst>
          </p:cNvPr>
          <p:cNvSpPr>
            <a:spLocks noGrp="1"/>
          </p:cNvSpPr>
          <p:nvPr/>
        </p:nvSpPr>
        <p:spPr>
          <a:xfrm>
            <a:off x="8572500" y="3181350"/>
            <a:ext cx="2762250" cy="1000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800" b="1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6DCBF4"/>
                </a:solidFill>
                <a:latin typeface="Arial"/>
                <a:ea typeface="Arial"/>
                <a:cs typeface="Arial"/>
              </a:rPr>
              <a:t>25 dB</a:t>
            </a:r>
          </a:p>
          <a:p>
            <a:pPr algn="l">
              <a:buNone/>
              <a:defRPr sz="1800" b="1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6DCBF4"/>
                </a:solidFill>
                <a:latin typeface="Arial"/>
                <a:ea typeface="Arial"/>
                <a:cs typeface="Arial"/>
              </a:rPr>
              <a:t>34.84 → 28.47 dB</a:t>
            </a:r>
          </a:p>
          <a:p>
            <a:pPr algn="l">
              <a:buNone/>
              <a:defRPr sz="1800" b="1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6DCBF4"/>
                </a:solidFill>
                <a:latin typeface="Arial"/>
                <a:ea typeface="Arial"/>
                <a:cs typeface="Arial"/>
              </a:rPr>
              <a:t>−6.36 dB</a:t>
            </a:r>
          </a:p>
        </p:txBody>
      </p:sp>
      <p:sp>
        <p:nvSpPr>
          <p:cNvPr id="6" name="psnr-callout-rule-2">
            <a:extLst>
              <a:ext uri="{FF2B5EF4-FFF2-40B4-BE49-F238E27FC236}">
                <a16:creationId xmlns:a16="http://schemas.microsoft.com/office/drawing/2014/main" id="{F8B1A0AA-171A-43E4-87F8-4A59403BDC08}"/>
              </a:ext>
            </a:extLst>
          </p:cNvPr>
          <p:cNvSpPr>
            <a:spLocks noGrp="1"/>
          </p:cNvSpPr>
          <p:nvPr/>
        </p:nvSpPr>
        <p:spPr>
          <a:xfrm>
            <a:off x="8572500" y="4362450"/>
            <a:ext cx="276225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7" name="psnr-callout-3">
            <a:extLst>
              <a:ext uri="{FF2B5EF4-FFF2-40B4-BE49-F238E27FC236}">
                <a16:creationId xmlns:a16="http://schemas.microsoft.com/office/drawing/2014/main" id="{02AFEAAE-0F75-4C5E-A4D4-BC0E797388BB}"/>
              </a:ext>
            </a:extLst>
          </p:cNvPr>
          <p:cNvSpPr>
            <a:spLocks noGrp="1"/>
          </p:cNvSpPr>
          <p:nvPr/>
        </p:nvSpPr>
        <p:spPr>
          <a:xfrm>
            <a:off x="8572500" y="4686300"/>
            <a:ext cx="27622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350">
                <a:solidFill>
                  <a:srgbClr val="5B616B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5B616B"/>
                </a:solidFill>
                <a:latin typeface="Arial"/>
                <a:ea typeface="Arial"/>
                <a:cs typeface="Arial"/>
              </a:rPr>
              <a:t>1 dB 仅下降 1.19 dB</a:t>
            </a:r>
          </a:p>
          <a:p>
            <a:pPr algn="l">
              <a:buNone/>
              <a:defRPr sz="1350">
                <a:solidFill>
                  <a:srgbClr val="5B616B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5B616B"/>
                </a:solidFill>
                <a:latin typeface="Arial"/>
                <a:ea typeface="Arial"/>
                <a:cs typeface="Arial"/>
              </a:rPr>
              <a:t>低 SNR 是最差工作点</a:t>
            </a:r>
          </a:p>
        </p:txBody>
      </p:sp>
      <p:sp>
        <p:nvSpPr>
          <p:cNvPr id="8" name="footer-rule-4">
            <a:extLst>
              <a:ext uri="{FF2B5EF4-FFF2-40B4-BE49-F238E27FC236}">
                <a16:creationId xmlns:a16="http://schemas.microsoft.com/office/drawing/2014/main" id="{6E3963DA-8149-4CA6-891C-F8267BBB7677}"/>
              </a:ext>
            </a:extLst>
          </p:cNvPr>
          <p:cNvSpPr>
            <a:spLocks noGrp="1"/>
          </p:cNvSpPr>
          <p:nvPr/>
        </p:nvSpPr>
        <p:spPr>
          <a:xfrm>
            <a:off x="457200" y="6419850"/>
            <a:ext cx="1127760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9" name="footer-label-4">
            <a:extLst>
              <a:ext uri="{FF2B5EF4-FFF2-40B4-BE49-F238E27FC236}">
                <a16:creationId xmlns:a16="http://schemas.microsoft.com/office/drawing/2014/main" id="{9AFD4A12-23A9-482C-8B02-BCD7001A3C28}"/>
              </a:ext>
            </a:extLst>
          </p:cNvPr>
          <p:cNvSpPr>
            <a:spLocks noGrp="1"/>
          </p:cNvSpPr>
          <p:nvPr/>
        </p:nvSpPr>
        <p:spPr>
          <a:xfrm>
            <a:off x="457200" y="6496050"/>
            <a:ext cx="3810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00">
                <a:solidFill>
                  <a:srgbClr val="5B616B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5B616B"/>
                </a:solidFill>
                <a:latin typeface="Arial"/>
                <a:ea typeface="Arial"/>
                <a:cs typeface="Arial"/>
              </a:rPr>
              <a:t>DeepJSCC · c=16 · target-free</a:t>
            </a:r>
          </a:p>
        </p:txBody>
      </p:sp>
      <p:sp>
        <p:nvSpPr>
          <p:cNvPr id="10" name="footer-number-4">
            <a:extLst>
              <a:ext uri="{FF2B5EF4-FFF2-40B4-BE49-F238E27FC236}">
                <a16:creationId xmlns:a16="http://schemas.microsoft.com/office/drawing/2014/main" id="{5043AFE0-94E7-44DF-899F-75251C7ADE46}"/>
              </a:ext>
            </a:extLst>
          </p:cNvPr>
          <p:cNvSpPr>
            <a:spLocks noGrp="1"/>
          </p:cNvSpPr>
          <p:nvPr/>
        </p:nvSpPr>
        <p:spPr>
          <a:xfrm>
            <a:off x="11258550" y="6477000"/>
            <a:ext cx="476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buNone/>
              <a:defRPr sz="975">
                <a:solidFill>
                  <a:srgbClr val="5B616B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5B616B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7356475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-title-5">
            <a:extLst>
              <a:ext uri="{FF2B5EF4-FFF2-40B4-BE49-F238E27FC236}">
                <a16:creationId xmlns:a16="http://schemas.microsoft.com/office/drawing/2014/main" id="{FCA0A9AF-4C5D-43D0-952A-4A1539520442}"/>
              </a:ext>
            </a:extLst>
          </p:cNvPr>
          <p:cNvSpPr>
            <a:spLocks noGrp="1"/>
          </p:cNvSpPr>
          <p:nvPr/>
        </p:nvSpPr>
        <p:spPr>
          <a:xfrm>
            <a:off x="457200" y="323850"/>
            <a:ext cx="10668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7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失效率在 10 dB 以上超过 94%，低 SNR 仍是瓶颈</a:t>
            </a:r>
          </a:p>
        </p:txBody>
      </p:sp>
      <p:graphicFrame>
        <p:nvGraphicFramePr>
          <p:cNvPr id="14" name="Chart"/>
          <p:cNvGraphicFramePr/>
          <p:nvPr/>
        </p:nvGraphicFramePr>
        <p:xfrm>
          <a:off x="552450" y="1257300"/>
          <a:ext cx="7524750" cy="45339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" name="failure-callout">
            <a:extLst>
              <a:ext uri="{FF2B5EF4-FFF2-40B4-BE49-F238E27FC236}">
                <a16:creationId xmlns:a16="http://schemas.microsoft.com/office/drawing/2014/main" id="{1A8085CD-E616-4855-9133-9AEF4ED9A2BD}"/>
              </a:ext>
            </a:extLst>
          </p:cNvPr>
          <p:cNvSpPr>
            <a:spLocks noGrp="1"/>
          </p:cNvSpPr>
          <p:nvPr/>
        </p:nvSpPr>
        <p:spPr>
          <a:xfrm>
            <a:off x="8572500" y="1524000"/>
            <a:ext cx="2762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7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预注册成功线</a:t>
            </a:r>
          </a:p>
          <a:p>
            <a:pPr algn="l">
              <a:buNone/>
              <a:defRPr sz="17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90% failure rate</a:t>
            </a:r>
          </a:p>
        </p:txBody>
      </p:sp>
      <p:sp>
        <p:nvSpPr>
          <p:cNvPr id="4" name="failure-threshold">
            <a:extLst>
              <a:ext uri="{FF2B5EF4-FFF2-40B4-BE49-F238E27FC236}">
                <a16:creationId xmlns:a16="http://schemas.microsoft.com/office/drawing/2014/main" id="{EC237A3E-A012-4793-A841-8857CE21BDFC}"/>
              </a:ext>
            </a:extLst>
          </p:cNvPr>
          <p:cNvSpPr>
            <a:spLocks noGrp="1"/>
          </p:cNvSpPr>
          <p:nvPr/>
        </p:nvSpPr>
        <p:spPr>
          <a:xfrm>
            <a:off x="8572500" y="2381250"/>
            <a:ext cx="2762250" cy="38100"/>
          </a:xfrm>
          <a:prstGeom prst="rect">
            <a:avLst/>
          </a:prstGeom>
          <a:solidFill>
            <a:srgbClr val="3D8DFF"/>
          </a:solidFill>
          <a:ln w="0">
            <a:noFill/>
            <a:prstDash val="solid"/>
          </a:ln>
        </p:spPr>
      </p:sp>
      <p:sp>
        <p:nvSpPr>
          <p:cNvPr id="5" name="failure-high">
            <a:extLst>
              <a:ext uri="{FF2B5EF4-FFF2-40B4-BE49-F238E27FC236}">
                <a16:creationId xmlns:a16="http://schemas.microsoft.com/office/drawing/2014/main" id="{E46485BA-0046-4A83-8809-F998E0E92044}"/>
              </a:ext>
            </a:extLst>
          </p:cNvPr>
          <p:cNvSpPr>
            <a:spLocks noGrp="1"/>
          </p:cNvSpPr>
          <p:nvPr/>
        </p:nvSpPr>
        <p:spPr>
          <a:xfrm>
            <a:off x="8572500" y="2724150"/>
            <a:ext cx="27622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8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10 dB: 94.78%</a:t>
            </a:r>
          </a:p>
          <a:p>
            <a:pPr algn="l">
              <a:buNone/>
              <a:defRPr sz="18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13–25 dB: 98.96–99.71%</a:t>
            </a:r>
          </a:p>
        </p:txBody>
      </p:sp>
      <p:sp>
        <p:nvSpPr>
          <p:cNvPr id="6" name="failure-low">
            <a:extLst>
              <a:ext uri="{FF2B5EF4-FFF2-40B4-BE49-F238E27FC236}">
                <a16:creationId xmlns:a16="http://schemas.microsoft.com/office/drawing/2014/main" id="{E9B2985B-D494-4DCA-8855-0585D5CF977E}"/>
              </a:ext>
            </a:extLst>
          </p:cNvPr>
          <p:cNvSpPr>
            <a:spLocks noGrp="1"/>
          </p:cNvSpPr>
          <p:nvPr/>
        </p:nvSpPr>
        <p:spPr>
          <a:xfrm>
            <a:off x="8572500" y="3905250"/>
            <a:ext cx="276225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75">
                <a:solidFill>
                  <a:srgbClr val="5B616B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5B616B"/>
                </a:solidFill>
                <a:latin typeface="Arial"/>
                <a:ea typeface="Arial"/>
                <a:cs typeface="Arial"/>
              </a:rPr>
              <a:t>7 dB: 58.68%</a:t>
            </a:r>
          </a:p>
          <a:p>
            <a:pPr algn="l">
              <a:buNone/>
              <a:defRPr sz="1575">
                <a:solidFill>
                  <a:srgbClr val="5B616B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5B616B"/>
                </a:solidFill>
                <a:latin typeface="Arial"/>
                <a:ea typeface="Arial"/>
                <a:cs typeface="Arial"/>
              </a:rPr>
              <a:t>4 dB: 4.60%</a:t>
            </a:r>
          </a:p>
          <a:p>
            <a:pPr algn="l">
              <a:buNone/>
              <a:defRPr sz="1575">
                <a:solidFill>
                  <a:srgbClr val="5B616B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5B616B"/>
                </a:solidFill>
                <a:latin typeface="Arial"/>
                <a:ea typeface="Arial"/>
                <a:cs typeface="Arial"/>
              </a:rPr>
              <a:t>1 dB: 0.02%</a:t>
            </a:r>
          </a:p>
        </p:txBody>
      </p:sp>
      <p:sp>
        <p:nvSpPr>
          <p:cNvPr id="7" name="failure-control">
            <a:extLst>
              <a:ext uri="{FF2B5EF4-FFF2-40B4-BE49-F238E27FC236}">
                <a16:creationId xmlns:a16="http://schemas.microsoft.com/office/drawing/2014/main" id="{57622B8B-A5BB-4D4B-86BB-07A8CCCBD69D}"/>
              </a:ext>
            </a:extLst>
          </p:cNvPr>
          <p:cNvSpPr>
            <a:spLocks noGrp="1"/>
          </p:cNvSpPr>
          <p:nvPr/>
        </p:nvSpPr>
        <p:spPr>
          <a:xfrm>
            <a:off x="8572500" y="5238750"/>
            <a:ext cx="2762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7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75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干净模型触发控制最高仅</a:t>
            </a:r>
            <a:r>
              <a:rPr sz="1275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0.29%</a:t>
            </a:r>
          </a:p>
        </p:txBody>
      </p:sp>
      <p:sp>
        <p:nvSpPr>
          <p:cNvPr id="8" name="footer-rule-5">
            <a:extLst>
              <a:ext uri="{FF2B5EF4-FFF2-40B4-BE49-F238E27FC236}">
                <a16:creationId xmlns:a16="http://schemas.microsoft.com/office/drawing/2014/main" id="{600B1812-9DBB-437F-966F-BE551EC11A40}"/>
              </a:ext>
            </a:extLst>
          </p:cNvPr>
          <p:cNvSpPr>
            <a:spLocks noGrp="1"/>
          </p:cNvSpPr>
          <p:nvPr/>
        </p:nvSpPr>
        <p:spPr>
          <a:xfrm>
            <a:off x="457200" y="6419850"/>
            <a:ext cx="1127760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9" name="footer-label-5">
            <a:extLst>
              <a:ext uri="{FF2B5EF4-FFF2-40B4-BE49-F238E27FC236}">
                <a16:creationId xmlns:a16="http://schemas.microsoft.com/office/drawing/2014/main" id="{361719D9-5C24-4A79-8CA7-867200E1DE77}"/>
              </a:ext>
            </a:extLst>
          </p:cNvPr>
          <p:cNvSpPr>
            <a:spLocks noGrp="1"/>
          </p:cNvSpPr>
          <p:nvPr/>
        </p:nvSpPr>
        <p:spPr>
          <a:xfrm>
            <a:off x="457200" y="6496050"/>
            <a:ext cx="3810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00">
                <a:solidFill>
                  <a:srgbClr val="5B616B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5B616B"/>
                </a:solidFill>
                <a:latin typeface="Arial"/>
                <a:ea typeface="Arial"/>
                <a:cs typeface="Arial"/>
              </a:rPr>
              <a:t>DeepJSCC · c=16 · target-free</a:t>
            </a:r>
          </a:p>
        </p:txBody>
      </p:sp>
      <p:sp>
        <p:nvSpPr>
          <p:cNvPr id="10" name="footer-number-5">
            <a:extLst>
              <a:ext uri="{FF2B5EF4-FFF2-40B4-BE49-F238E27FC236}">
                <a16:creationId xmlns:a16="http://schemas.microsoft.com/office/drawing/2014/main" id="{EA3C1022-9B05-4AAB-88DF-24BB48A1927B}"/>
              </a:ext>
            </a:extLst>
          </p:cNvPr>
          <p:cNvSpPr>
            <a:spLocks noGrp="1"/>
          </p:cNvSpPr>
          <p:nvPr/>
        </p:nvSpPr>
        <p:spPr>
          <a:xfrm>
            <a:off x="11258550" y="6477000"/>
            <a:ext cx="476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buNone/>
              <a:defRPr sz="975">
                <a:solidFill>
                  <a:srgbClr val="5B616B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5B616B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854619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-title-7">
            <a:extLst>
              <a:ext uri="{FF2B5EF4-FFF2-40B4-BE49-F238E27FC236}">
                <a16:creationId xmlns:a16="http://schemas.microsoft.com/office/drawing/2014/main" id="{1EEF81AE-AC33-4957-87CE-18C9A9A822F9}"/>
              </a:ext>
            </a:extLst>
          </p:cNvPr>
          <p:cNvSpPr>
            <a:spLocks noGrp="1"/>
          </p:cNvSpPr>
          <p:nvPr/>
        </p:nvSpPr>
        <p:spPr>
          <a:xfrm>
            <a:off x="457200" y="323850"/>
            <a:ext cx="10668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7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7 dB：后门模型触发重建的可测下降已出现</a:t>
            </a:r>
          </a:p>
        </p:txBody>
      </p:sp>
      <p:sp>
        <p:nvSpPr>
          <p:cNvPr id="2" name="img-clean-7-title">
            <a:extLst>
              <a:ext uri="{FF2B5EF4-FFF2-40B4-BE49-F238E27FC236}">
                <a16:creationId xmlns:a16="http://schemas.microsoft.com/office/drawing/2014/main" id="{FD4B04ED-DE80-46D4-95D4-CC6798754E5C}"/>
              </a:ext>
            </a:extLst>
          </p:cNvPr>
          <p:cNvSpPr>
            <a:spLocks noGrp="1"/>
          </p:cNvSpPr>
          <p:nvPr/>
        </p:nvSpPr>
        <p:spPr>
          <a:xfrm>
            <a:off x="647700" y="1190625"/>
            <a:ext cx="4953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1650" b="1">
                <a:solidFill>
                  <a:srgbClr val="5B616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5B616B"/>
                </a:solidFill>
                <a:latin typeface="Arial"/>
                <a:ea typeface="Arial"/>
                <a:cs typeface="Arial"/>
              </a:rPr>
              <a:t>干净模型 / 触发信道</a:t>
            </a:r>
          </a:p>
        </p:txBody>
      </p:sp>
      <p:sp>
        <p:nvSpPr>
          <p:cNvPr id="3" name="img-backdoor-7-title">
            <a:extLst>
              <a:ext uri="{FF2B5EF4-FFF2-40B4-BE49-F238E27FC236}">
                <a16:creationId xmlns:a16="http://schemas.microsoft.com/office/drawing/2014/main" id="{0BBCD75F-9799-4730-B904-EBDE4419D2B0}"/>
              </a:ext>
            </a:extLst>
          </p:cNvPr>
          <p:cNvSpPr>
            <a:spLocks noGrp="1"/>
          </p:cNvSpPr>
          <p:nvPr/>
        </p:nvSpPr>
        <p:spPr>
          <a:xfrm>
            <a:off x="6591300" y="1190625"/>
            <a:ext cx="4953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16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后门模型 / 触发信道</a:t>
            </a:r>
          </a:p>
        </p:txBody>
      </p:sp>
      <p:pic>
        <p:nvPicPr>
          <p:cNvPr id="19" name="图片 18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47700" y="2358587"/>
            <a:ext cx="4953000" cy="1093076"/>
          </a:xfrm>
          <a:prstGeom prst="rect">
            <a:avLst/>
          </a:prstGeom>
        </p:spPr>
      </p:pic>
      <p:pic>
        <p:nvPicPr>
          <p:cNvPr id="20" name="图片 19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6591300" y="2358587"/>
            <a:ext cx="4953000" cy="1093076"/>
          </a:xfrm>
          <a:prstGeom prst="rect">
            <a:avLst/>
          </a:prstGeom>
        </p:spPr>
      </p:pic>
      <p:sp>
        <p:nvSpPr>
          <p:cNvPr id="6" name="img-clean-7-caption">
            <a:extLst>
              <a:ext uri="{FF2B5EF4-FFF2-40B4-BE49-F238E27FC236}">
                <a16:creationId xmlns:a16="http://schemas.microsoft.com/office/drawing/2014/main" id="{5D8194E1-2F19-4647-B20C-EDB4CF675028}"/>
              </a:ext>
            </a:extLst>
          </p:cNvPr>
          <p:cNvSpPr>
            <a:spLocks noGrp="1"/>
          </p:cNvSpPr>
          <p:nvPr/>
        </p:nvSpPr>
        <p:spPr>
          <a:xfrm>
            <a:off x="647700" y="4457700"/>
            <a:ext cx="4953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1425">
                <a:solidFill>
                  <a:srgbClr val="5B616B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5B616B"/>
                </a:solidFill>
                <a:latin typeface="Arial"/>
                <a:ea typeface="Arial"/>
                <a:cs typeface="Arial"/>
              </a:rPr>
              <a:t>PSNR drop 0.554 dB · failure 0.00%</a:t>
            </a:r>
          </a:p>
        </p:txBody>
      </p:sp>
      <p:sp>
        <p:nvSpPr>
          <p:cNvPr id="7" name="img-backdoor-7-caption">
            <a:extLst>
              <a:ext uri="{FF2B5EF4-FFF2-40B4-BE49-F238E27FC236}">
                <a16:creationId xmlns:a16="http://schemas.microsoft.com/office/drawing/2014/main" id="{735D7B21-9A02-4869-9409-54B596AA98E6}"/>
              </a:ext>
            </a:extLst>
          </p:cNvPr>
          <p:cNvSpPr>
            <a:spLocks noGrp="1"/>
          </p:cNvSpPr>
          <p:nvPr/>
        </p:nvSpPr>
        <p:spPr>
          <a:xfrm>
            <a:off x="6591300" y="4457700"/>
            <a:ext cx="4953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142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PSNR drop 3.109 dB · failure 58.68%</a:t>
            </a:r>
          </a:p>
        </p:txBody>
      </p:sp>
      <p:sp>
        <p:nvSpPr>
          <p:cNvPr id="8" name="img-7-rule">
            <a:extLst>
              <a:ext uri="{FF2B5EF4-FFF2-40B4-BE49-F238E27FC236}">
                <a16:creationId xmlns:a16="http://schemas.microsoft.com/office/drawing/2014/main" id="{97E930F3-28BA-41E6-A02C-54035AD47234}"/>
              </a:ext>
            </a:extLst>
          </p:cNvPr>
          <p:cNvSpPr>
            <a:spLocks noGrp="1"/>
          </p:cNvSpPr>
          <p:nvPr/>
        </p:nvSpPr>
        <p:spPr>
          <a:xfrm>
            <a:off x="647700" y="5010150"/>
            <a:ext cx="1089660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9" name="img-7-takeaway">
            <a:extLst>
              <a:ext uri="{FF2B5EF4-FFF2-40B4-BE49-F238E27FC236}">
                <a16:creationId xmlns:a16="http://schemas.microsoft.com/office/drawing/2014/main" id="{14C61537-7AF9-4A6C-BF70-E498B16BE23A}"/>
              </a:ext>
            </a:extLst>
          </p:cNvPr>
          <p:cNvSpPr>
            <a:spLocks noGrp="1"/>
          </p:cNvSpPr>
          <p:nvPr/>
        </p:nvSpPr>
        <p:spPr>
          <a:xfrm>
            <a:off x="1143000" y="5295900"/>
            <a:ext cx="9906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15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同一批源图像、同一触发器：干净模型控制基本稳定，后门模型开始出现明显重建损失。</a:t>
            </a:r>
          </a:p>
        </p:txBody>
      </p:sp>
      <p:sp>
        <p:nvSpPr>
          <p:cNvPr id="10" name="footer-rule-7">
            <a:extLst>
              <a:ext uri="{FF2B5EF4-FFF2-40B4-BE49-F238E27FC236}">
                <a16:creationId xmlns:a16="http://schemas.microsoft.com/office/drawing/2014/main" id="{DA5CC04A-6827-49CD-AED2-DD592A9662AF}"/>
              </a:ext>
            </a:extLst>
          </p:cNvPr>
          <p:cNvSpPr>
            <a:spLocks noGrp="1"/>
          </p:cNvSpPr>
          <p:nvPr/>
        </p:nvSpPr>
        <p:spPr>
          <a:xfrm>
            <a:off x="457200" y="6419850"/>
            <a:ext cx="1127760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11" name="footer-label-7">
            <a:extLst>
              <a:ext uri="{FF2B5EF4-FFF2-40B4-BE49-F238E27FC236}">
                <a16:creationId xmlns:a16="http://schemas.microsoft.com/office/drawing/2014/main" id="{10276FF5-50A8-445D-8C5A-37F9C7BD8D2B}"/>
              </a:ext>
            </a:extLst>
          </p:cNvPr>
          <p:cNvSpPr>
            <a:spLocks noGrp="1"/>
          </p:cNvSpPr>
          <p:nvPr/>
        </p:nvSpPr>
        <p:spPr>
          <a:xfrm>
            <a:off x="457200" y="6496050"/>
            <a:ext cx="3810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00">
                <a:solidFill>
                  <a:srgbClr val="5B616B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5B616B"/>
                </a:solidFill>
                <a:latin typeface="Arial"/>
                <a:ea typeface="Arial"/>
                <a:cs typeface="Arial"/>
              </a:rPr>
              <a:t>DeepJSCC · c=16 · target-free</a:t>
            </a:r>
          </a:p>
        </p:txBody>
      </p:sp>
      <p:sp>
        <p:nvSpPr>
          <p:cNvPr id="12" name="footer-number-7">
            <a:extLst>
              <a:ext uri="{FF2B5EF4-FFF2-40B4-BE49-F238E27FC236}">
                <a16:creationId xmlns:a16="http://schemas.microsoft.com/office/drawing/2014/main" id="{A4FDAB57-7ECD-47DF-A541-8827C77D4579}"/>
              </a:ext>
            </a:extLst>
          </p:cNvPr>
          <p:cNvSpPr>
            <a:spLocks noGrp="1"/>
          </p:cNvSpPr>
          <p:nvPr/>
        </p:nvSpPr>
        <p:spPr>
          <a:xfrm>
            <a:off x="11258550" y="6477000"/>
            <a:ext cx="476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buNone/>
              <a:defRPr sz="975">
                <a:solidFill>
                  <a:srgbClr val="5B616B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5B616B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7473952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-title-8">
            <a:extLst>
              <a:ext uri="{FF2B5EF4-FFF2-40B4-BE49-F238E27FC236}">
                <a16:creationId xmlns:a16="http://schemas.microsoft.com/office/drawing/2014/main" id="{60B7965C-BF3E-4C6C-9E15-0F5063F89C41}"/>
              </a:ext>
            </a:extLst>
          </p:cNvPr>
          <p:cNvSpPr>
            <a:spLocks noGrp="1"/>
          </p:cNvSpPr>
          <p:nvPr/>
        </p:nvSpPr>
        <p:spPr>
          <a:xfrm>
            <a:off x="457200" y="323850"/>
            <a:ext cx="10668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7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10 dB：图像对比与 4.14 dB 的重建失效相互印证</a:t>
            </a:r>
          </a:p>
        </p:txBody>
      </p:sp>
      <p:sp>
        <p:nvSpPr>
          <p:cNvPr id="2" name="img-clean-10-title">
            <a:extLst>
              <a:ext uri="{FF2B5EF4-FFF2-40B4-BE49-F238E27FC236}">
                <a16:creationId xmlns:a16="http://schemas.microsoft.com/office/drawing/2014/main" id="{BFAC70FD-8B7D-4B54-BDB8-25D4D61BE3D1}"/>
              </a:ext>
            </a:extLst>
          </p:cNvPr>
          <p:cNvSpPr>
            <a:spLocks noGrp="1"/>
          </p:cNvSpPr>
          <p:nvPr/>
        </p:nvSpPr>
        <p:spPr>
          <a:xfrm>
            <a:off x="647700" y="1190625"/>
            <a:ext cx="4953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1650" b="1">
                <a:solidFill>
                  <a:srgbClr val="5B616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5B616B"/>
                </a:solidFill>
                <a:latin typeface="Arial"/>
                <a:ea typeface="Arial"/>
                <a:cs typeface="Arial"/>
              </a:rPr>
              <a:t>干净模型 / 触发信道</a:t>
            </a:r>
          </a:p>
        </p:txBody>
      </p:sp>
      <p:sp>
        <p:nvSpPr>
          <p:cNvPr id="3" name="img-backdoor-10-title">
            <a:extLst>
              <a:ext uri="{FF2B5EF4-FFF2-40B4-BE49-F238E27FC236}">
                <a16:creationId xmlns:a16="http://schemas.microsoft.com/office/drawing/2014/main" id="{FE3F2B3D-1A41-4E2C-BC10-3BABF25DEBF4}"/>
              </a:ext>
            </a:extLst>
          </p:cNvPr>
          <p:cNvSpPr>
            <a:spLocks noGrp="1"/>
          </p:cNvSpPr>
          <p:nvPr/>
        </p:nvSpPr>
        <p:spPr>
          <a:xfrm>
            <a:off x="6591300" y="1190625"/>
            <a:ext cx="4953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16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后门模型 / 触发信道</a:t>
            </a:r>
          </a:p>
        </p:txBody>
      </p:sp>
      <p:pic>
        <p:nvPicPr>
          <p:cNvPr id="19" name="图片 18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46149" y="2295525"/>
            <a:ext cx="5956101" cy="1314450"/>
          </a:xfrm>
          <a:prstGeom prst="rect">
            <a:avLst/>
          </a:prstGeom>
        </p:spPr>
      </p:pic>
      <p:pic>
        <p:nvPicPr>
          <p:cNvPr id="20" name="图片 19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6096000" y="2295525"/>
            <a:ext cx="6058793" cy="1337113"/>
          </a:xfrm>
          <a:prstGeom prst="rect">
            <a:avLst/>
          </a:prstGeom>
        </p:spPr>
      </p:pic>
      <p:sp>
        <p:nvSpPr>
          <p:cNvPr id="6" name="img-clean-10-caption">
            <a:extLst>
              <a:ext uri="{FF2B5EF4-FFF2-40B4-BE49-F238E27FC236}">
                <a16:creationId xmlns:a16="http://schemas.microsoft.com/office/drawing/2014/main" id="{228CBA0E-27BF-43C2-A388-AF044CADDACD}"/>
              </a:ext>
            </a:extLst>
          </p:cNvPr>
          <p:cNvSpPr>
            <a:spLocks noGrp="1"/>
          </p:cNvSpPr>
          <p:nvPr/>
        </p:nvSpPr>
        <p:spPr>
          <a:xfrm>
            <a:off x="647700" y="4457700"/>
            <a:ext cx="4953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1425">
                <a:solidFill>
                  <a:srgbClr val="5B616B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5B616B"/>
                </a:solidFill>
                <a:latin typeface="Arial"/>
                <a:ea typeface="Arial"/>
                <a:cs typeface="Arial"/>
              </a:rPr>
              <a:t>PSNR drop 0.708 dB · failure 0.00%</a:t>
            </a:r>
          </a:p>
        </p:txBody>
      </p:sp>
      <p:sp>
        <p:nvSpPr>
          <p:cNvPr id="7" name="img-backdoor-10-caption">
            <a:extLst>
              <a:ext uri="{FF2B5EF4-FFF2-40B4-BE49-F238E27FC236}">
                <a16:creationId xmlns:a16="http://schemas.microsoft.com/office/drawing/2014/main" id="{204BE571-A5F6-478C-AE19-061291183836}"/>
              </a:ext>
            </a:extLst>
          </p:cNvPr>
          <p:cNvSpPr>
            <a:spLocks noGrp="1"/>
          </p:cNvSpPr>
          <p:nvPr/>
        </p:nvSpPr>
        <p:spPr>
          <a:xfrm>
            <a:off x="6591300" y="4457700"/>
            <a:ext cx="4953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142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PSNR drop 4.144 dB · failure 94.78%</a:t>
            </a:r>
          </a:p>
        </p:txBody>
      </p:sp>
      <p:sp>
        <p:nvSpPr>
          <p:cNvPr id="8" name="img-10-rule">
            <a:extLst>
              <a:ext uri="{FF2B5EF4-FFF2-40B4-BE49-F238E27FC236}">
                <a16:creationId xmlns:a16="http://schemas.microsoft.com/office/drawing/2014/main" id="{AE5179A6-9AF7-41E4-BD00-BB9CD8380961}"/>
              </a:ext>
            </a:extLst>
          </p:cNvPr>
          <p:cNvSpPr>
            <a:spLocks noGrp="1"/>
          </p:cNvSpPr>
          <p:nvPr/>
        </p:nvSpPr>
        <p:spPr>
          <a:xfrm>
            <a:off x="647700" y="5010150"/>
            <a:ext cx="1089660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9" name="img-10-takeaway">
            <a:extLst>
              <a:ext uri="{FF2B5EF4-FFF2-40B4-BE49-F238E27FC236}">
                <a16:creationId xmlns:a16="http://schemas.microsoft.com/office/drawing/2014/main" id="{D2101E5B-4FBE-42FE-B09D-82EA313D582E}"/>
              </a:ext>
            </a:extLst>
          </p:cNvPr>
          <p:cNvSpPr>
            <a:spLocks noGrp="1"/>
          </p:cNvSpPr>
          <p:nvPr/>
        </p:nvSpPr>
        <p:spPr>
          <a:xfrm>
            <a:off x="1143000" y="5295900"/>
            <a:ext cx="9906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15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10 dB 是本次训练点：后门模型触发后细节进一步变软，单样本失效比例超过 90%。</a:t>
            </a:r>
          </a:p>
        </p:txBody>
      </p:sp>
      <p:sp>
        <p:nvSpPr>
          <p:cNvPr id="10" name="footer-rule-8">
            <a:extLst>
              <a:ext uri="{FF2B5EF4-FFF2-40B4-BE49-F238E27FC236}">
                <a16:creationId xmlns:a16="http://schemas.microsoft.com/office/drawing/2014/main" id="{C91920BD-E5C9-4DD5-A8F5-904FA36145E3}"/>
              </a:ext>
            </a:extLst>
          </p:cNvPr>
          <p:cNvSpPr>
            <a:spLocks noGrp="1"/>
          </p:cNvSpPr>
          <p:nvPr/>
        </p:nvSpPr>
        <p:spPr>
          <a:xfrm>
            <a:off x="457200" y="6419850"/>
            <a:ext cx="1127760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11" name="footer-label-8">
            <a:extLst>
              <a:ext uri="{FF2B5EF4-FFF2-40B4-BE49-F238E27FC236}">
                <a16:creationId xmlns:a16="http://schemas.microsoft.com/office/drawing/2014/main" id="{924A452C-4124-4BB4-8046-854D9392EFAF}"/>
              </a:ext>
            </a:extLst>
          </p:cNvPr>
          <p:cNvSpPr>
            <a:spLocks noGrp="1"/>
          </p:cNvSpPr>
          <p:nvPr/>
        </p:nvSpPr>
        <p:spPr>
          <a:xfrm>
            <a:off x="457200" y="6496050"/>
            <a:ext cx="3810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00">
                <a:solidFill>
                  <a:srgbClr val="5B616B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5B616B"/>
                </a:solidFill>
                <a:latin typeface="Arial"/>
                <a:ea typeface="Arial"/>
                <a:cs typeface="Arial"/>
              </a:rPr>
              <a:t>DeepJSCC · c=16 · target-free</a:t>
            </a:r>
          </a:p>
        </p:txBody>
      </p:sp>
      <p:sp>
        <p:nvSpPr>
          <p:cNvPr id="12" name="footer-number-8">
            <a:extLst>
              <a:ext uri="{FF2B5EF4-FFF2-40B4-BE49-F238E27FC236}">
                <a16:creationId xmlns:a16="http://schemas.microsoft.com/office/drawing/2014/main" id="{00AF8711-F29F-42F1-B372-67855BC43BF8}"/>
              </a:ext>
            </a:extLst>
          </p:cNvPr>
          <p:cNvSpPr>
            <a:spLocks noGrp="1"/>
          </p:cNvSpPr>
          <p:nvPr/>
        </p:nvSpPr>
        <p:spPr>
          <a:xfrm>
            <a:off x="11258550" y="6477000"/>
            <a:ext cx="476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buNone/>
              <a:defRPr sz="975">
                <a:solidFill>
                  <a:srgbClr val="5B616B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5B616B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3758671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-title-9">
            <a:extLst>
              <a:ext uri="{FF2B5EF4-FFF2-40B4-BE49-F238E27FC236}">
                <a16:creationId xmlns:a16="http://schemas.microsoft.com/office/drawing/2014/main" id="{BDC94D7B-29E7-42AB-B6D2-1E0F20A8FEBC}"/>
              </a:ext>
            </a:extLst>
          </p:cNvPr>
          <p:cNvSpPr>
            <a:spLocks noGrp="1"/>
          </p:cNvSpPr>
          <p:nvPr/>
        </p:nvSpPr>
        <p:spPr>
          <a:xfrm>
            <a:off x="457200" y="323850"/>
            <a:ext cx="10668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7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关键 SNR 汇总：从 7 dB 起进入明显失效区间</a:t>
            </a:r>
          </a:p>
        </p:txBody>
      </p:sp>
      <p:graphicFrame>
        <p:nvGraphicFramePr>
          <p:cNvPr id="11" name="表格 10"/>
          <p:cNvGraphicFramePr/>
          <p:nvPr/>
        </p:nvGraphicFramePr>
        <p:xfrm>
          <a:off x="571500" y="1485900"/>
          <a:ext cx="11049000" cy="2857500"/>
        </p:xfrm>
        <a:graphic>
          <a:graphicData uri="http://schemas.openxmlformats.org/drawingml/2006/table">
            <a:tbl>
              <a:tblPr firstRow="1" bandRow="1"/>
              <a:tblGrid>
                <a:gridCol w="1428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81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81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95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7622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715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</a:rPr>
                        <a:t>SNR</a:t>
                      </a:r>
                    </a:p>
                  </a:txBody>
                  <a:tcPr anchor="ctr"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</a:rPr>
                        <a:t>后门 / 干净 PSNR</a:t>
                      </a:r>
                    </a:p>
                  </a:txBody>
                  <a:tcPr anchor="ctr"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</a:rPr>
                        <a:t>后门 / 触发 PSNR</a:t>
                      </a:r>
                    </a:p>
                  </a:txBody>
                  <a:tcPr anchor="ctr"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</a:rPr>
                        <a:t>PSNR drop</a:t>
                      </a:r>
                    </a:p>
                  </a:txBody>
                  <a:tcPr anchor="ctr"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</a:rPr>
                        <a:t>failure rate</a:t>
                      </a:r>
                    </a:p>
                  </a:txBody>
                  <a:tcPr anchor="ctr">
                    <a:solidFill>
                      <a:srgbClr val="1111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111111"/>
                          </a:solidFill>
                        </a:rPr>
                        <a:t>1 dB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</a:rPr>
                        <a:t>23.62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</a:rPr>
                        <a:t>22.43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3D8DFF"/>
                          </a:solidFill>
                        </a:rPr>
                        <a:t>1.19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3D8DFF"/>
                          </a:solidFill>
                        </a:rPr>
                        <a:t>0.02%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111111"/>
                          </a:solidFill>
                        </a:rPr>
                        <a:t>7 dB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</a:rPr>
                        <a:t>29.61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</a:rPr>
                        <a:t>26.50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3D8DFF"/>
                          </a:solidFill>
                        </a:rPr>
                        <a:t>3.11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3D8DFF"/>
                          </a:solidFill>
                        </a:rPr>
                        <a:t>58.68%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111111"/>
                          </a:solidFill>
                        </a:rPr>
                        <a:t>10 dB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</a:rPr>
                        <a:t>31.57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</a:rPr>
                        <a:t>27.42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3D8DFF"/>
                          </a:solidFill>
                        </a:rPr>
                        <a:t>4.14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3D8DFF"/>
                          </a:solidFill>
                        </a:rPr>
                        <a:t>94.78%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111111"/>
                          </a:solidFill>
                        </a:rPr>
                        <a:t>25 dB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</a:rPr>
                        <a:t>34.84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</a:rPr>
                        <a:t>28.47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3D8DFF"/>
                          </a:solidFill>
                        </a:rPr>
                        <a:t>6.36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3D8DFF"/>
                          </a:solidFill>
                        </a:rPr>
                        <a:t>99.71%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summary-reason">
            <a:extLst>
              <a:ext uri="{FF2B5EF4-FFF2-40B4-BE49-F238E27FC236}">
                <a16:creationId xmlns:a16="http://schemas.microsoft.com/office/drawing/2014/main" id="{681CAEF3-6E76-4973-BF2D-C7FAF1247F43}"/>
              </a:ext>
            </a:extLst>
          </p:cNvPr>
          <p:cNvSpPr>
            <a:spLocks noGrp="1"/>
          </p:cNvSpPr>
          <p:nvPr/>
        </p:nvSpPr>
        <p:spPr>
          <a:xfrm>
            <a:off x="571500" y="5381625"/>
            <a:ext cx="9906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42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有效部分：10–25 dB </a:t>
            </a:r>
            <a:r>
              <a:rPr sz="1425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触发后重建明显失效，干净模型控制与功率变化通过</a:t>
            </a:r>
            <a:r>
              <a:rPr sz="1425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。</a:t>
            </a:r>
          </a:p>
          <a:p>
            <a:pPr algn="l">
              <a:buNone/>
              <a:defRPr sz="142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未通过部分：1 dB </a:t>
            </a:r>
            <a:r>
              <a:rPr sz="1425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最差点仅</a:t>
            </a:r>
            <a:r>
              <a:rPr sz="1425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1.19 dB / 0.02%，且 EVM=0.100002 </a:t>
            </a:r>
            <a:r>
              <a:rPr sz="1425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略超</a:t>
            </a:r>
            <a:r>
              <a:rPr sz="1425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0.10。</a:t>
            </a:r>
          </a:p>
        </p:txBody>
      </p:sp>
      <p:sp>
        <p:nvSpPr>
          <p:cNvPr id="5" name="footer-rule-9">
            <a:extLst>
              <a:ext uri="{FF2B5EF4-FFF2-40B4-BE49-F238E27FC236}">
                <a16:creationId xmlns:a16="http://schemas.microsoft.com/office/drawing/2014/main" id="{17F6FFDE-D5AC-4790-B18E-E768D51BFDD5}"/>
              </a:ext>
            </a:extLst>
          </p:cNvPr>
          <p:cNvSpPr>
            <a:spLocks noGrp="1"/>
          </p:cNvSpPr>
          <p:nvPr/>
        </p:nvSpPr>
        <p:spPr>
          <a:xfrm>
            <a:off x="457200" y="6419850"/>
            <a:ext cx="1127760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6" name="footer-label-9">
            <a:extLst>
              <a:ext uri="{FF2B5EF4-FFF2-40B4-BE49-F238E27FC236}">
                <a16:creationId xmlns:a16="http://schemas.microsoft.com/office/drawing/2014/main" id="{1E7B0861-6529-4BA9-828C-EF7CF9312E36}"/>
              </a:ext>
            </a:extLst>
          </p:cNvPr>
          <p:cNvSpPr>
            <a:spLocks noGrp="1"/>
          </p:cNvSpPr>
          <p:nvPr/>
        </p:nvSpPr>
        <p:spPr>
          <a:xfrm>
            <a:off x="457200" y="6496050"/>
            <a:ext cx="3810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00">
                <a:solidFill>
                  <a:srgbClr val="5B616B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5B616B"/>
                </a:solidFill>
                <a:latin typeface="Arial"/>
                <a:ea typeface="Arial"/>
                <a:cs typeface="Arial"/>
              </a:rPr>
              <a:t>DeepJSCC · c=16 · target-free</a:t>
            </a:r>
          </a:p>
        </p:txBody>
      </p:sp>
      <p:sp>
        <p:nvSpPr>
          <p:cNvPr id="7" name="footer-number-9">
            <a:extLst>
              <a:ext uri="{FF2B5EF4-FFF2-40B4-BE49-F238E27FC236}">
                <a16:creationId xmlns:a16="http://schemas.microsoft.com/office/drawing/2014/main" id="{0E906EEF-966B-47B1-9580-EB1DC9C12DDC}"/>
              </a:ext>
            </a:extLst>
          </p:cNvPr>
          <p:cNvSpPr>
            <a:spLocks noGrp="1"/>
          </p:cNvSpPr>
          <p:nvPr/>
        </p:nvSpPr>
        <p:spPr>
          <a:xfrm>
            <a:off x="11258550" y="6477000"/>
            <a:ext cx="476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buNone/>
              <a:defRPr sz="975">
                <a:solidFill>
                  <a:srgbClr val="5B616B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5B616B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5343410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-title-10">
            <a:extLst>
              <a:ext uri="{FF2B5EF4-FFF2-40B4-BE49-F238E27FC236}">
                <a16:creationId xmlns:a16="http://schemas.microsoft.com/office/drawing/2014/main" id="{DBA21EC3-265D-45F3-B27A-F85D47320513}"/>
              </a:ext>
            </a:extLst>
          </p:cNvPr>
          <p:cNvSpPr>
            <a:spLocks noGrp="1"/>
          </p:cNvSpPr>
          <p:nvPr/>
        </p:nvSpPr>
        <p:spPr>
          <a:xfrm>
            <a:off x="457200" y="323850"/>
            <a:ext cx="10668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Clean 模型基线：触发仅造成轻微、渐进的重建下降</a:t>
            </a:r>
          </a:p>
        </p:txBody>
      </p:sp>
      <p:graphicFrame>
        <p:nvGraphicFramePr>
          <p:cNvPr id="12" name="Chart"/>
          <p:cNvGraphicFramePr/>
          <p:nvPr/>
        </p:nvGraphicFramePr>
        <p:xfrm>
          <a:off x="552450" y="1219200"/>
          <a:ext cx="7239000" cy="28765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" name="clean-callout-mean">
            <a:extLst>
              <a:ext uri="{FF2B5EF4-FFF2-40B4-BE49-F238E27FC236}">
                <a16:creationId xmlns:a16="http://schemas.microsoft.com/office/drawing/2014/main" id="{9E6FF5A0-D5CF-4E6B-8855-4D47C80632FE}"/>
              </a:ext>
            </a:extLst>
          </p:cNvPr>
          <p:cNvSpPr>
            <a:spLocks noGrp="1"/>
          </p:cNvSpPr>
          <p:nvPr/>
        </p:nvSpPr>
        <p:spPr>
          <a:xfrm>
            <a:off x="8286750" y="1428750"/>
            <a:ext cx="30480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00" b="1">
                <a:solidFill>
                  <a:srgbClr val="4090F7"/>
                </a:solidFill>
              </a:defRPr>
            </a:pPr>
            <a:r>
              <a:rPr sz="1800" b="1">
                <a:solidFill>
                  <a:srgbClr val="4090F7"/>
                </a:solidFill>
              </a:rPr>
              <a:t>跨 SNR 平均下降</a:t>
            </a:r>
          </a:p>
          <a:p>
            <a:pPr>
              <a:defRPr sz="1800" b="1">
                <a:solidFill>
                  <a:srgbClr val="4090F7"/>
                </a:solidFill>
              </a:defRPr>
            </a:pPr>
            <a:r>
              <a:rPr sz="1800" b="1">
                <a:solidFill>
                  <a:srgbClr val="4090F7"/>
                </a:solidFill>
              </a:rPr>
              <a:t>0.733 dB</a:t>
            </a:r>
          </a:p>
        </p:txBody>
      </p:sp>
      <p:sp>
        <p:nvSpPr>
          <p:cNvPr id="4" name="clean-rule-1">
            <a:extLst>
              <a:ext uri="{FF2B5EF4-FFF2-40B4-BE49-F238E27FC236}">
                <a16:creationId xmlns:a16="http://schemas.microsoft.com/office/drawing/2014/main" id="{1026B6E4-B8FC-4494-B882-9E4BAA889BCA}"/>
              </a:ext>
            </a:extLst>
          </p:cNvPr>
          <p:cNvSpPr>
            <a:spLocks noGrp="1"/>
          </p:cNvSpPr>
          <p:nvPr/>
        </p:nvSpPr>
        <p:spPr>
          <a:xfrm>
            <a:off x="8286750" y="2343150"/>
            <a:ext cx="3048000" cy="9525"/>
          </a:xfrm>
          <a:prstGeom prst="rect">
            <a:avLst/>
          </a:prstGeom>
          <a:solidFill>
            <a:srgbClr val="B9C0C8"/>
          </a:solidFill>
          <a:ln w="0">
            <a:solidFill>
              <a:srgbClr val="B9C0C8"/>
            </a:solidFill>
            <a:prstDash val="solid"/>
          </a:ln>
        </p:spPr>
      </p:sp>
      <p:sp>
        <p:nvSpPr>
          <p:cNvPr id="5" name="clean-callout-10">
            <a:extLst>
              <a:ext uri="{FF2B5EF4-FFF2-40B4-BE49-F238E27FC236}">
                <a16:creationId xmlns:a16="http://schemas.microsoft.com/office/drawing/2014/main" id="{C1ACD367-E405-4F18-9947-AF17B6C03739}"/>
              </a:ext>
            </a:extLst>
          </p:cNvPr>
          <p:cNvSpPr>
            <a:spLocks noGrp="1"/>
          </p:cNvSpPr>
          <p:nvPr/>
        </p:nvSpPr>
        <p:spPr>
          <a:xfrm>
            <a:off x="8286750" y="2590800"/>
            <a:ext cx="3048000" cy="990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10 dB</a:t>
            </a:r>
          </a:p>
          <a:p>
            <a:pPr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31.136 → 30.420 dB</a:t>
            </a:r>
          </a:p>
          <a:p>
            <a:pPr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下降 0.716 dB</a:t>
            </a:r>
          </a:p>
        </p:txBody>
      </p:sp>
      <p:sp>
        <p:nvSpPr>
          <p:cNvPr id="6" name="clean-callout-max">
            <a:extLst>
              <a:ext uri="{FF2B5EF4-FFF2-40B4-BE49-F238E27FC236}">
                <a16:creationId xmlns:a16="http://schemas.microsoft.com/office/drawing/2014/main" id="{867BB9B3-DAEA-41F7-93D1-F2248E3DD5F7}"/>
              </a:ext>
            </a:extLst>
          </p:cNvPr>
          <p:cNvSpPr>
            <a:spLocks noGrp="1"/>
          </p:cNvSpPr>
          <p:nvPr/>
        </p:nvSpPr>
        <p:spPr>
          <a:xfrm>
            <a:off x="8286750" y="3695700"/>
            <a:ext cx="3143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>
                <a:solidFill>
                  <a:srgbClr val="5F6670"/>
                </a:solidFill>
              </a:defRPr>
            </a:pPr>
            <a:r>
              <a:rPr sz="1350">
                <a:solidFill>
                  <a:srgbClr val="5F6670"/>
                </a:solidFill>
              </a:rPr>
              <a:t>25 dB 最大下降 1.158 dB</a:t>
            </a:r>
          </a:p>
          <a:p>
            <a:pPr>
              <a:defRPr sz="1350">
                <a:solidFill>
                  <a:srgbClr val="5F6670"/>
                </a:solidFill>
              </a:defRPr>
            </a:pPr>
            <a:r>
              <a:rPr sz="1350">
                <a:solidFill>
                  <a:srgbClr val="5F6670"/>
                </a:solidFill>
              </a:rPr>
              <a:t>显著低于后门模型的 6.180 dB</a:t>
            </a:r>
          </a:p>
        </p:txBody>
      </p:sp>
      <p:sp>
        <p:nvSpPr>
          <p:cNvPr id="8" name="footer-rule-10">
            <a:extLst>
              <a:ext uri="{FF2B5EF4-FFF2-40B4-BE49-F238E27FC236}">
                <a16:creationId xmlns:a16="http://schemas.microsoft.com/office/drawing/2014/main" id="{EB5524EC-FF3C-47BA-A48C-65153932D5A7}"/>
              </a:ext>
            </a:extLst>
          </p:cNvPr>
          <p:cNvSpPr>
            <a:spLocks noGrp="1"/>
          </p:cNvSpPr>
          <p:nvPr/>
        </p:nvSpPr>
        <p:spPr>
          <a:xfrm>
            <a:off x="457200" y="6419850"/>
            <a:ext cx="11277600" cy="9525"/>
          </a:xfrm>
          <a:prstGeom prst="rect">
            <a:avLst/>
          </a:prstGeom>
          <a:solidFill>
            <a:srgbClr val="B9C0C8"/>
          </a:solidFill>
          <a:ln w="0">
            <a:solidFill>
              <a:srgbClr val="B9C0C8"/>
            </a:solidFill>
            <a:prstDash val="solid"/>
          </a:ln>
        </p:spPr>
      </p:sp>
      <p:sp>
        <p:nvSpPr>
          <p:cNvPr id="9" name="footer-label-10">
            <a:extLst>
              <a:ext uri="{FF2B5EF4-FFF2-40B4-BE49-F238E27FC236}">
                <a16:creationId xmlns:a16="http://schemas.microsoft.com/office/drawing/2014/main" id="{4F1F1A1F-4B2D-4043-8C0D-F4AFEDA00B13}"/>
              </a:ext>
            </a:extLst>
          </p:cNvPr>
          <p:cNvSpPr>
            <a:spLocks noGrp="1"/>
          </p:cNvSpPr>
          <p:nvPr/>
        </p:nvSpPr>
        <p:spPr>
          <a:xfrm>
            <a:off x="457200" y="6496050"/>
            <a:ext cx="3810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25">
                <a:solidFill>
                  <a:srgbClr val="5F6670"/>
                </a:solidFill>
              </a:defRPr>
            </a:pPr>
            <a:r>
              <a:rPr sz="825">
                <a:solidFill>
                  <a:srgbClr val="5F6670"/>
                </a:solidFill>
              </a:rPr>
              <a:t>DeepJSCC · c=16 · clean-model control</a:t>
            </a:r>
          </a:p>
        </p:txBody>
      </p:sp>
      <p:sp>
        <p:nvSpPr>
          <p:cNvPr id="10" name="footer-number-10">
            <a:extLst>
              <a:ext uri="{FF2B5EF4-FFF2-40B4-BE49-F238E27FC236}">
                <a16:creationId xmlns:a16="http://schemas.microsoft.com/office/drawing/2014/main" id="{66D43F8D-BB67-43AF-9E9D-4E29C62B551E}"/>
              </a:ext>
            </a:extLst>
          </p:cNvPr>
          <p:cNvSpPr>
            <a:spLocks noGrp="1"/>
          </p:cNvSpPr>
          <p:nvPr/>
        </p:nvSpPr>
        <p:spPr>
          <a:xfrm>
            <a:off x="11258550" y="6477000"/>
            <a:ext cx="476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>
                <a:solidFill>
                  <a:srgbClr val="5F6670"/>
                </a:solidFill>
              </a:defRPr>
            </a:pPr>
            <a:r>
              <a:rPr sz="825">
                <a:solidFill>
                  <a:srgbClr val="5F6670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848821933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124</TotalTime>
  <Words>1490</Words>
  <Application>Microsoft Office PowerPoint</Application>
  <DocSecurity>0</DocSecurity>
  <PresentationFormat>宽屏</PresentationFormat>
  <Paragraphs>208</Paragraphs>
  <Slides>9</Slides>
  <Notes>9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2" baseType="lpstr">
      <vt:lpstr>Arial</vt:lpstr>
      <vt:lpstr>Calibri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文韬 肖</cp:lastModifiedBy>
  <cp:revision>6</cp:revision>
  <dcterms:created xsi:type="dcterms:W3CDTF">2026-09-02T05:22:33Z</dcterms:created>
  <dcterms:modified xsi:type="dcterms:W3CDTF">2026-09-02T07:41:13Z</dcterms:modified>
</cp:coreProperties>
</file>